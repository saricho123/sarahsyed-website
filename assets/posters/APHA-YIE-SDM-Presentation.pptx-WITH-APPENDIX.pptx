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Lst>
  <p:sldSz cy="6858000" cx="12192000"/>
  <p:notesSz cx="6858000" cy="9144000"/>
  <p:embeddedFontLst>
    <p:embeddedFont>
      <p:font typeface="Roboto"/>
      <p:regular r:id="rId30"/>
      <p:bold r:id="rId31"/>
      <p:italic r:id="rId32"/>
      <p:boldItalic r:id="rId33"/>
    </p:embeddedFont>
    <p:embeddedFont>
      <p:font typeface="Arial Narrow"/>
      <p:regular r:id="rId34"/>
      <p:bold r:id="rId35"/>
      <p:italic r:id="rId36"/>
      <p:boldItalic r:id="rId37"/>
    </p:embeddedFont>
    <p:embeddedFont>
      <p:font typeface="Arial Black"/>
      <p:regular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9" roundtripDataSignature="AMtx7mjigZEIp2DKsog3O/qRZYGnk8VLF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Roboto-bold.fntdata"/><Relationship Id="rId30" Type="http://schemas.openxmlformats.org/officeDocument/2006/relationships/font" Target="fonts/Roboto-regular.fntdata"/><Relationship Id="rId11" Type="http://schemas.openxmlformats.org/officeDocument/2006/relationships/slide" Target="slides/slide7.xml"/><Relationship Id="rId33" Type="http://schemas.openxmlformats.org/officeDocument/2006/relationships/font" Target="fonts/Roboto-boldItalic.fntdata"/><Relationship Id="rId10" Type="http://schemas.openxmlformats.org/officeDocument/2006/relationships/slide" Target="slides/slide6.xml"/><Relationship Id="rId32" Type="http://schemas.openxmlformats.org/officeDocument/2006/relationships/font" Target="fonts/Roboto-italic.fntdata"/><Relationship Id="rId13" Type="http://schemas.openxmlformats.org/officeDocument/2006/relationships/slide" Target="slides/slide9.xml"/><Relationship Id="rId35" Type="http://schemas.openxmlformats.org/officeDocument/2006/relationships/font" Target="fonts/ArialNarrow-bold.fntdata"/><Relationship Id="rId12" Type="http://schemas.openxmlformats.org/officeDocument/2006/relationships/slide" Target="slides/slide8.xml"/><Relationship Id="rId34" Type="http://schemas.openxmlformats.org/officeDocument/2006/relationships/font" Target="fonts/ArialNarrow-regular.fntdata"/><Relationship Id="rId15" Type="http://schemas.openxmlformats.org/officeDocument/2006/relationships/slide" Target="slides/slide11.xml"/><Relationship Id="rId37" Type="http://schemas.openxmlformats.org/officeDocument/2006/relationships/font" Target="fonts/ArialNarrow-boldItalic.fntdata"/><Relationship Id="rId14" Type="http://schemas.openxmlformats.org/officeDocument/2006/relationships/slide" Target="slides/slide10.xml"/><Relationship Id="rId36" Type="http://schemas.openxmlformats.org/officeDocument/2006/relationships/font" Target="fonts/ArialNarrow-italic.fntdata"/><Relationship Id="rId17" Type="http://schemas.openxmlformats.org/officeDocument/2006/relationships/slide" Target="slides/slide13.xml"/><Relationship Id="rId39" Type="http://customschemas.google.com/relationships/presentationmetadata" Target="metadata"/><Relationship Id="rId16" Type="http://schemas.openxmlformats.org/officeDocument/2006/relationships/slide" Target="slides/slide12.xml"/><Relationship Id="rId38" Type="http://schemas.openxmlformats.org/officeDocument/2006/relationships/font" Target="fonts/ArialBlack-regular.fntdata"/><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 name="Google Shape;64;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Good Afternoon, My name is Sarah Syed and I am here today to present work that I have been performing with researchers at Boston University’s School of Public Health and Boston Medical Center on shared decision making among youth of color, their guardians, and clinicians during psychiatric emergency services visits.</a:t>
            </a:r>
            <a:endParaRPr/>
          </a:p>
        </p:txBody>
      </p:sp>
      <p:sp>
        <p:nvSpPr>
          <p:cNvPr id="65" name="Google Shape;65;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16de9dd47b8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Before we begin, I just want to briefly thank the National Institutes for Mental Health for supporting this research. Also many thanks for NIDA (National Institute of Drug Abuse) who supported Christina Freibott’s work on this project. </a:t>
            </a:r>
            <a:endParaRPr/>
          </a:p>
        </p:txBody>
      </p:sp>
      <p:sp>
        <p:nvSpPr>
          <p:cNvPr id="76" name="Google Shape;76;g16de9dd47b8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16de9dd47b8_0_1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355600" lvl="0" marL="457200" rtl="0" algn="l">
              <a:lnSpc>
                <a:spcPct val="100000"/>
              </a:lnSpc>
              <a:spcBef>
                <a:spcPts val="500"/>
              </a:spcBef>
              <a:spcAft>
                <a:spcPts val="0"/>
              </a:spcAft>
              <a:buClr>
                <a:schemeClr val="dk1"/>
              </a:buClr>
              <a:buSzPts val="2000"/>
              <a:buChar char="●"/>
            </a:pPr>
            <a:r>
              <a:rPr lang="en-US" sz="2000">
                <a:solidFill>
                  <a:srgbClr val="141518"/>
                </a:solidFill>
                <a:highlight>
                  <a:schemeClr val="lt1"/>
                </a:highlight>
                <a:latin typeface="Calibri"/>
                <a:ea typeface="Calibri"/>
                <a:cs typeface="Calibri"/>
                <a:sym typeface="Calibri"/>
              </a:rPr>
              <a:t>PES is not intended to provide treatment</a:t>
            </a:r>
            <a:endParaRPr sz="2000">
              <a:solidFill>
                <a:srgbClr val="141518"/>
              </a:solidFill>
              <a:highlight>
                <a:schemeClr val="lt1"/>
              </a:highlight>
              <a:latin typeface="Calibri"/>
              <a:ea typeface="Calibri"/>
              <a:cs typeface="Calibri"/>
              <a:sym typeface="Calibri"/>
            </a:endParaRPr>
          </a:p>
          <a:p>
            <a:pPr indent="-355600" lvl="0" marL="457200" rtl="0" algn="l">
              <a:lnSpc>
                <a:spcPct val="150000"/>
              </a:lnSpc>
              <a:spcBef>
                <a:spcPts val="0"/>
              </a:spcBef>
              <a:spcAft>
                <a:spcPts val="0"/>
              </a:spcAft>
              <a:buClr>
                <a:srgbClr val="141518"/>
              </a:buClr>
              <a:buSzPts val="2000"/>
              <a:buFont typeface="Calibri"/>
              <a:buChar char="●"/>
            </a:pPr>
            <a:r>
              <a:rPr b="1" lang="en-US" sz="2000">
                <a:solidFill>
                  <a:srgbClr val="9854CB"/>
                </a:solidFill>
                <a:latin typeface="Calibri"/>
                <a:ea typeface="Calibri"/>
                <a:cs typeface="Calibri"/>
                <a:sym typeface="Calibri"/>
              </a:rPr>
              <a:t>The goal of each PES visit is to stabilize the patient and then discharge them to appropriate and timely care.</a:t>
            </a:r>
            <a:endParaRPr sz="2000">
              <a:solidFill>
                <a:srgbClr val="141518"/>
              </a:solidFill>
              <a:highlight>
                <a:schemeClr val="lt1"/>
              </a:highlight>
              <a:latin typeface="Calibri"/>
              <a:ea typeface="Calibri"/>
              <a:cs typeface="Calibri"/>
              <a:sym typeface="Calibri"/>
            </a:endParaRPr>
          </a:p>
          <a:p>
            <a:pPr indent="-355600" lvl="0" marL="457200" rtl="0" algn="l">
              <a:lnSpc>
                <a:spcPct val="100000"/>
              </a:lnSpc>
              <a:spcBef>
                <a:spcPts val="0"/>
              </a:spcBef>
              <a:spcAft>
                <a:spcPts val="0"/>
              </a:spcAft>
              <a:buClr>
                <a:schemeClr val="dk1"/>
              </a:buClr>
              <a:buSzPts val="2000"/>
              <a:buChar char="●"/>
            </a:pPr>
            <a:r>
              <a:rPr lang="en-US" sz="2000">
                <a:solidFill>
                  <a:srgbClr val="141518"/>
                </a:solidFill>
                <a:highlight>
                  <a:schemeClr val="lt1"/>
                </a:highlight>
                <a:latin typeface="Calibri"/>
                <a:ea typeface="Calibri"/>
                <a:cs typeface="Calibri"/>
                <a:sym typeface="Calibri"/>
              </a:rPr>
              <a:t>PES discharges patients into inpatient care, 24-hour programs, day programs, and outpatient care depending on patient acuity at the time of discharge and availability of mental health services</a:t>
            </a:r>
            <a:endParaRPr sz="2000">
              <a:solidFill>
                <a:srgbClr val="141518"/>
              </a:solidFill>
              <a:highlight>
                <a:schemeClr val="lt1"/>
              </a:highlight>
              <a:latin typeface="Calibri"/>
              <a:ea typeface="Calibri"/>
              <a:cs typeface="Calibri"/>
              <a:sym typeface="Calibri"/>
            </a:endParaRPr>
          </a:p>
          <a:p>
            <a:pPr indent="-355600" lvl="0" marL="457200" rtl="0" algn="l">
              <a:lnSpc>
                <a:spcPct val="100000"/>
              </a:lnSpc>
              <a:spcBef>
                <a:spcPts val="0"/>
              </a:spcBef>
              <a:spcAft>
                <a:spcPts val="0"/>
              </a:spcAft>
              <a:buClr>
                <a:srgbClr val="141518"/>
              </a:buClr>
              <a:buSzPts val="2000"/>
              <a:buFont typeface="Calibri"/>
              <a:buChar char="●"/>
            </a:pPr>
            <a:r>
              <a:rPr lang="en-US" sz="2000">
                <a:solidFill>
                  <a:srgbClr val="141518"/>
                </a:solidFill>
                <a:highlight>
                  <a:schemeClr val="lt1"/>
                </a:highlight>
                <a:latin typeface="Calibri"/>
                <a:ea typeface="Calibri"/>
                <a:cs typeface="Calibri"/>
                <a:sym typeface="Calibri"/>
              </a:rPr>
              <a:t>As well, most PES systems actively seek to place patients in appropriate care</a:t>
            </a:r>
            <a:endParaRPr sz="2000">
              <a:solidFill>
                <a:srgbClr val="141518"/>
              </a:solidFill>
              <a:highlight>
                <a:schemeClr val="lt1"/>
              </a:highlight>
              <a:latin typeface="Calibri"/>
              <a:ea typeface="Calibri"/>
              <a:cs typeface="Calibri"/>
              <a:sym typeface="Calibri"/>
            </a:endParaRPr>
          </a:p>
          <a:p>
            <a:pPr indent="-355600" lvl="0" marL="457200" rtl="0" algn="l">
              <a:lnSpc>
                <a:spcPct val="100000"/>
              </a:lnSpc>
              <a:spcBef>
                <a:spcPts val="0"/>
              </a:spcBef>
              <a:spcAft>
                <a:spcPts val="0"/>
              </a:spcAft>
              <a:buClr>
                <a:srgbClr val="141518"/>
              </a:buClr>
              <a:buSzPts val="2000"/>
              <a:buFont typeface="Calibri"/>
              <a:buChar char="●"/>
            </a:pPr>
            <a:r>
              <a:rPr lang="en-US" sz="2000">
                <a:solidFill>
                  <a:srgbClr val="141518"/>
                </a:solidFill>
                <a:highlight>
                  <a:schemeClr val="lt1"/>
                </a:highlight>
                <a:latin typeface="Calibri"/>
                <a:ea typeface="Calibri"/>
                <a:cs typeface="Calibri"/>
                <a:sym typeface="Calibri"/>
              </a:rPr>
              <a:t> this might include helping families navigate the fractured landscape of mental helath services.</a:t>
            </a:r>
            <a:endParaRPr sz="2000">
              <a:solidFill>
                <a:srgbClr val="141518"/>
              </a:solidFill>
              <a:highlight>
                <a:schemeClr val="lt1"/>
              </a:highlight>
              <a:latin typeface="Calibri"/>
              <a:ea typeface="Calibri"/>
              <a:cs typeface="Calibri"/>
              <a:sym typeface="Calibri"/>
            </a:endParaRPr>
          </a:p>
          <a:p>
            <a:pPr indent="-355600" lvl="0" marL="457200" rtl="0" algn="l">
              <a:lnSpc>
                <a:spcPct val="100000"/>
              </a:lnSpc>
              <a:spcBef>
                <a:spcPts val="0"/>
              </a:spcBef>
              <a:spcAft>
                <a:spcPts val="0"/>
              </a:spcAft>
              <a:buClr>
                <a:srgbClr val="141518"/>
              </a:buClr>
              <a:buSzPts val="2000"/>
              <a:buFont typeface="Calibri"/>
              <a:buChar char="●"/>
            </a:pPr>
            <a:r>
              <a:rPr lang="en-US" sz="2000">
                <a:solidFill>
                  <a:srgbClr val="141518"/>
                </a:solidFill>
                <a:highlight>
                  <a:schemeClr val="lt1"/>
                </a:highlight>
                <a:latin typeface="Calibri"/>
                <a:ea typeface="Calibri"/>
                <a:cs typeface="Calibri"/>
                <a:sym typeface="Calibri"/>
              </a:rPr>
              <a:t>It is also the only way that many publicly insured youth who need intensive mental health care can access inpatient care</a:t>
            </a:r>
            <a:endParaRPr/>
          </a:p>
          <a:p>
            <a:pPr indent="0" lvl="0" marL="0" rtl="0" algn="l">
              <a:lnSpc>
                <a:spcPct val="100000"/>
              </a:lnSpc>
              <a:spcBef>
                <a:spcPts val="0"/>
              </a:spcBef>
              <a:spcAft>
                <a:spcPts val="0"/>
              </a:spcAft>
              <a:buSzPts val="1400"/>
              <a:buNone/>
            </a:pPr>
            <a:r>
              <a:t/>
            </a:r>
            <a:endParaRPr/>
          </a:p>
        </p:txBody>
      </p:sp>
      <p:sp>
        <p:nvSpPr>
          <p:cNvPr id="82" name="Google Shape;82;g16de9dd47b8_0_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16de9dd47b8_0_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 name="Google Shape;89;g16de9dd47b8_0_5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304800" lvl="0" marL="457200" rtl="0" algn="l">
              <a:lnSpc>
                <a:spcPct val="200000"/>
              </a:lnSpc>
              <a:spcBef>
                <a:spcPts val="1200"/>
              </a:spcBef>
              <a:spcAft>
                <a:spcPts val="0"/>
              </a:spcAft>
              <a:buClr>
                <a:schemeClr val="dk1"/>
              </a:buClr>
              <a:buSzPts val="1200"/>
              <a:buChar char="-"/>
            </a:pPr>
            <a:r>
              <a:rPr lang="en-US"/>
              <a:t>Despite the establishment of PES to triage and navigate individuals in emergency care, the system has seen an intensely overwhelmed</a:t>
            </a:r>
            <a:endParaRPr/>
          </a:p>
          <a:p>
            <a:pPr indent="-304800" lvl="0" marL="457200" rtl="0" algn="l">
              <a:lnSpc>
                <a:spcPct val="200000"/>
              </a:lnSpc>
              <a:spcBef>
                <a:spcPts val="0"/>
              </a:spcBef>
              <a:spcAft>
                <a:spcPts val="0"/>
              </a:spcAft>
              <a:buClr>
                <a:schemeClr val="dk1"/>
              </a:buClr>
              <a:buSzPts val="1200"/>
              <a:buChar char="-"/>
            </a:pPr>
            <a:r>
              <a:rPr lang="en-US"/>
              <a:t>Before the pandemic, PES rates were on the rise among youth of color, so non-white, non-European Americans) </a:t>
            </a:r>
            <a:endParaRPr/>
          </a:p>
          <a:p>
            <a:pPr indent="-304800" lvl="0" marL="457200" rtl="0" algn="l">
              <a:lnSpc>
                <a:spcPct val="200000"/>
              </a:lnSpc>
              <a:spcBef>
                <a:spcPts val="0"/>
              </a:spcBef>
              <a:spcAft>
                <a:spcPts val="0"/>
              </a:spcAft>
              <a:buClr>
                <a:schemeClr val="dk1"/>
              </a:buClr>
              <a:buSzPts val="1200"/>
              <a:buChar char="-"/>
            </a:pPr>
            <a:r>
              <a:rPr lang="en-US"/>
              <a:t>During the early Affordable Care Act (ACA) period, African American and Hispanic youth visits to PES rose while White youth visits remained constant</a:t>
            </a:r>
            <a:endParaRPr/>
          </a:p>
          <a:p>
            <a:pPr indent="-304800" lvl="0" marL="457200" rtl="0" algn="l">
              <a:lnSpc>
                <a:spcPct val="200000"/>
              </a:lnSpc>
              <a:spcBef>
                <a:spcPts val="0"/>
              </a:spcBef>
              <a:spcAft>
                <a:spcPts val="0"/>
              </a:spcAft>
              <a:buClr>
                <a:schemeClr val="dk1"/>
              </a:buClr>
              <a:buSzPts val="1200"/>
              <a:buChar char="-"/>
            </a:pPr>
            <a:r>
              <a:rPr lang="en-US"/>
              <a:t>Work over the same period found that suicide rates were rising for youth, driven by a rise in Black youth suicide</a:t>
            </a:r>
            <a:endParaRPr/>
          </a:p>
          <a:p>
            <a:pPr indent="-304800" lvl="0" marL="457200" rtl="0" algn="l">
              <a:lnSpc>
                <a:spcPct val="200000"/>
              </a:lnSpc>
              <a:spcBef>
                <a:spcPts val="0"/>
              </a:spcBef>
              <a:spcAft>
                <a:spcPts val="0"/>
              </a:spcAft>
              <a:buClr>
                <a:schemeClr val="dk1"/>
              </a:buClr>
              <a:buSzPts val="1200"/>
              <a:buChar char="-"/>
            </a:pPr>
            <a:r>
              <a:rPr lang="en-US"/>
              <a:t>Repeat visits were most common among Youth of color. </a:t>
            </a:r>
            <a:endParaRPr/>
          </a:p>
          <a:p>
            <a:pPr indent="-304800" lvl="0" marL="457200" rtl="0" algn="l">
              <a:lnSpc>
                <a:spcPct val="200000"/>
              </a:lnSpc>
              <a:spcBef>
                <a:spcPts val="0"/>
              </a:spcBef>
              <a:spcAft>
                <a:spcPts val="0"/>
              </a:spcAft>
              <a:buClr>
                <a:schemeClr val="dk1"/>
              </a:buClr>
              <a:buSzPts val="1200"/>
              <a:buChar char="-"/>
            </a:pPr>
            <a:r>
              <a:rPr lang="en-US"/>
              <a:t>The effects of the pandemic on PES use by youth are still being investigated. </a:t>
            </a:r>
            <a:endParaRPr sz="2000"/>
          </a:p>
          <a:p>
            <a:pPr indent="-355600" lvl="0" marL="457200" rtl="0" algn="l">
              <a:lnSpc>
                <a:spcPct val="100000"/>
              </a:lnSpc>
              <a:spcBef>
                <a:spcPts val="0"/>
              </a:spcBef>
              <a:spcAft>
                <a:spcPts val="0"/>
              </a:spcAft>
              <a:buSzPts val="2000"/>
              <a:buChar char="-"/>
            </a:pPr>
            <a:r>
              <a:rPr lang="en-US" sz="2000"/>
              <a:t>A lot of work was done in 2008-2010 to expand mental health service coverage through insurnace reforms</a:t>
            </a:r>
            <a:endParaRPr sz="2000"/>
          </a:p>
          <a:p>
            <a:pPr indent="-355600" lvl="0" marL="457200" rtl="0" algn="l">
              <a:lnSpc>
                <a:spcPct val="100000"/>
              </a:lnSpc>
              <a:spcBef>
                <a:spcPts val="0"/>
              </a:spcBef>
              <a:spcAft>
                <a:spcPts val="0"/>
              </a:spcAft>
              <a:buSzPts val="2000"/>
              <a:buChar char="-"/>
            </a:pPr>
            <a:r>
              <a:rPr lang="en-US" sz="2000"/>
              <a:t>The biggest reform was the ACA and Medicaid expansion (2014), which significantly decreased the number of people who couldn’t access mental health care thorugh a doctor’s office</a:t>
            </a:r>
            <a:endParaRPr sz="2000"/>
          </a:p>
          <a:p>
            <a:pPr indent="-355600" lvl="0" marL="457200" rtl="0" algn="l">
              <a:lnSpc>
                <a:spcPct val="100000"/>
              </a:lnSpc>
              <a:spcBef>
                <a:spcPts val="0"/>
              </a:spcBef>
              <a:spcAft>
                <a:spcPts val="0"/>
              </a:spcAft>
              <a:buSzPts val="2000"/>
              <a:buChar char="-"/>
            </a:pPr>
            <a:r>
              <a:rPr lang="en-US" sz="2000"/>
              <a:t>Emergency services use has always been available, even before these reforms</a:t>
            </a:r>
            <a:endParaRPr sz="2000"/>
          </a:p>
          <a:p>
            <a:pPr indent="-355600" lvl="0" marL="457200" rtl="0" algn="l">
              <a:lnSpc>
                <a:spcPct val="100000"/>
              </a:lnSpc>
              <a:spcBef>
                <a:spcPts val="0"/>
              </a:spcBef>
              <a:spcAft>
                <a:spcPts val="0"/>
              </a:spcAft>
              <a:buSzPts val="2000"/>
              <a:buChar char="-"/>
            </a:pPr>
            <a:r>
              <a:rPr lang="en-US" sz="2000"/>
              <a:t>Work during early Affordable Care Act (ACA) period found African American and Hispanic youth visits to PES rising while White youth visits did not change</a:t>
            </a:r>
            <a:endParaRPr sz="2000"/>
          </a:p>
          <a:p>
            <a:pPr indent="-355600" lvl="0" marL="457200" rtl="0" algn="l">
              <a:lnSpc>
                <a:spcPct val="100000"/>
              </a:lnSpc>
              <a:spcBef>
                <a:spcPts val="0"/>
              </a:spcBef>
              <a:spcAft>
                <a:spcPts val="0"/>
              </a:spcAft>
              <a:buSzPts val="2000"/>
              <a:buChar char="-"/>
            </a:pPr>
            <a:r>
              <a:rPr lang="en-US" sz="2000"/>
              <a:t>Work over the same period found that suicide rates were rising for youth, driven by rise in Black youth suidide</a:t>
            </a:r>
            <a:endParaRPr sz="2000"/>
          </a:p>
          <a:p>
            <a:pPr indent="-355600" lvl="0" marL="457200" rtl="0" algn="l">
              <a:lnSpc>
                <a:spcPct val="100000"/>
              </a:lnSpc>
              <a:spcBef>
                <a:spcPts val="0"/>
              </a:spcBef>
              <a:spcAft>
                <a:spcPts val="0"/>
              </a:spcAft>
              <a:buSzPts val="2000"/>
              <a:buChar char="-"/>
            </a:pPr>
            <a:r>
              <a:rPr lang="en-US" sz="2000"/>
              <a:t>Multiple visits to PES also became more common during this period and appear</a:t>
            </a:r>
            <a:endParaRPr sz="2000"/>
          </a:p>
          <a:p>
            <a:pPr indent="-355600" lvl="0" marL="457200" rtl="0" algn="l">
              <a:lnSpc>
                <a:spcPct val="100000"/>
              </a:lnSpc>
              <a:spcBef>
                <a:spcPts val="0"/>
              </a:spcBef>
              <a:spcAft>
                <a:spcPts val="0"/>
              </a:spcAft>
              <a:buSzPts val="2000"/>
              <a:buChar char="-"/>
            </a:pPr>
            <a:r>
              <a:rPr lang="en-US" sz="2000"/>
              <a:t>Repeat visits were most common among Youth of color, suggesting problems with accessing appropriate and timely care. </a:t>
            </a:r>
            <a:endParaRPr sz="2000"/>
          </a:p>
          <a:p>
            <a:pPr indent="-355600" lvl="0" marL="457200" rtl="0" algn="l">
              <a:lnSpc>
                <a:spcPct val="100000"/>
              </a:lnSpc>
              <a:spcBef>
                <a:spcPts val="0"/>
              </a:spcBef>
              <a:spcAft>
                <a:spcPts val="0"/>
              </a:spcAft>
              <a:buSzPts val="2000"/>
              <a:buChar char="-"/>
            </a:pPr>
            <a:r>
              <a:rPr lang="en-US" sz="2000"/>
              <a:t>Now: The effects of the pandemic on PES use by youth are still being investigated. </a:t>
            </a:r>
            <a:endParaRPr sz="2000"/>
          </a:p>
          <a:p>
            <a:pPr indent="-355600" lvl="0" marL="457200" rtl="0" algn="l">
              <a:lnSpc>
                <a:spcPct val="100000"/>
              </a:lnSpc>
              <a:spcBef>
                <a:spcPts val="0"/>
              </a:spcBef>
              <a:spcAft>
                <a:spcPts val="0"/>
              </a:spcAft>
              <a:buSzPts val="2000"/>
              <a:buChar char="-"/>
            </a:pPr>
            <a:r>
              <a:rPr lang="en-US" sz="2000"/>
              <a:t>But most of us think that the pandemic likely the demand for mental health care among people of col</a:t>
            </a:r>
            <a:endParaRPr sz="2000"/>
          </a:p>
          <a:p>
            <a:pPr indent="-355600" lvl="0" marL="457200" rtl="0" algn="l">
              <a:lnSpc>
                <a:spcPct val="100000"/>
              </a:lnSpc>
              <a:spcBef>
                <a:spcPts val="0"/>
              </a:spcBef>
              <a:spcAft>
                <a:spcPts val="0"/>
              </a:spcAft>
              <a:buSzPts val="2000"/>
              <a:buChar char="-"/>
            </a:pPr>
            <a:r>
              <a:rPr lang="en-US" sz="2000"/>
              <a:t> </a:t>
            </a:r>
            <a:endParaRPr sz="2000"/>
          </a:p>
          <a:p>
            <a:pPr indent="0" lvl="0" marL="0" rtl="0" algn="l">
              <a:lnSpc>
                <a:spcPct val="100000"/>
              </a:lnSpc>
              <a:spcBef>
                <a:spcPts val="1200"/>
              </a:spcBef>
              <a:spcAft>
                <a:spcPts val="0"/>
              </a:spcAft>
              <a:buSzPts val="1400"/>
              <a:buNone/>
            </a:pPr>
            <a:r>
              <a:t/>
            </a:r>
            <a:endParaRPr sz="2000"/>
          </a:p>
          <a:p>
            <a:pPr indent="0" lvl="0" marL="0" rtl="0" algn="l">
              <a:lnSpc>
                <a:spcPct val="100000"/>
              </a:lnSpc>
              <a:spcBef>
                <a:spcPts val="1200"/>
              </a:spcBef>
              <a:spcAft>
                <a:spcPts val="1200"/>
              </a:spcAft>
              <a:buSzPts val="1400"/>
              <a:buNone/>
            </a:pPr>
            <a:r>
              <a:t/>
            </a:r>
            <a:endParaRPr sz="2000"/>
          </a:p>
        </p:txBody>
      </p:sp>
      <p:sp>
        <p:nvSpPr>
          <p:cNvPr id="90" name="Google Shape;90;g16de9dd47b8_0_5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17521ace8ca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 name="Google Shape;98;g17521ace8ca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304800" lvl="0" marL="457200" rtl="0" algn="l">
              <a:lnSpc>
                <a:spcPct val="200000"/>
              </a:lnSpc>
              <a:spcBef>
                <a:spcPts val="1200"/>
              </a:spcBef>
              <a:spcAft>
                <a:spcPts val="0"/>
              </a:spcAft>
              <a:buClr>
                <a:schemeClr val="dk1"/>
              </a:buClr>
              <a:buSzPts val="1200"/>
              <a:buChar char="●"/>
            </a:pPr>
            <a:r>
              <a:rPr lang="en-US"/>
              <a:t>Timely and appropriate care in PES requires negotiation between patients and clinicians. This involves clinical judgment and resources as well as conversations that take into account patients’ lifestyles, life circumstances, and ability to access and maintain treatment. </a:t>
            </a:r>
            <a:endParaRPr/>
          </a:p>
          <a:p>
            <a:pPr indent="-304800" lvl="0" marL="457200" rtl="0" algn="l">
              <a:lnSpc>
                <a:spcPct val="200000"/>
              </a:lnSpc>
              <a:spcBef>
                <a:spcPts val="0"/>
              </a:spcBef>
              <a:spcAft>
                <a:spcPts val="0"/>
              </a:spcAft>
              <a:buClr>
                <a:schemeClr val="dk1"/>
              </a:buClr>
              <a:buSzPts val="1200"/>
              <a:buChar char="●"/>
            </a:pPr>
            <a:r>
              <a:rPr lang="en-US"/>
              <a:t>This negotiation between patients and clinicians can be understood through the process of shared decision-making or SDM, which is the joint communication, deliberation, and</a:t>
            </a:r>
            <a:r>
              <a:rPr lang="en-US">
                <a:highlight>
                  <a:srgbClr val="FFFFFF"/>
                </a:highlight>
              </a:rPr>
              <a:t> agreement on care and treatment for a patient. This model changes the traditional, clinician-led process of diagnoiss and treamtnet into a power-sharing collaboration. </a:t>
            </a:r>
            <a:endParaRPr>
              <a:highlight>
                <a:srgbClr val="FFFFFF"/>
              </a:highlight>
            </a:endParaRPr>
          </a:p>
          <a:p>
            <a:pPr indent="-304800" lvl="0" marL="457200" rtl="0" algn="l">
              <a:lnSpc>
                <a:spcPct val="200000"/>
              </a:lnSpc>
              <a:spcBef>
                <a:spcPts val="0"/>
              </a:spcBef>
              <a:spcAft>
                <a:spcPts val="0"/>
              </a:spcAft>
              <a:buClr>
                <a:schemeClr val="dk1"/>
              </a:buClr>
              <a:buSzPts val="1200"/>
              <a:buChar char="●"/>
            </a:pPr>
            <a:r>
              <a:rPr lang="en-US"/>
              <a:t>Those negotiations have not been previously characterized in PES, which is what our study sought to accomplish. </a:t>
            </a:r>
            <a:endParaRPr/>
          </a:p>
          <a:p>
            <a:pPr indent="0" lvl="0" marL="0" rtl="0" algn="l">
              <a:lnSpc>
                <a:spcPct val="115000"/>
              </a:lnSpc>
              <a:spcBef>
                <a:spcPts val="1200"/>
              </a:spcBef>
              <a:spcAft>
                <a:spcPts val="1200"/>
              </a:spcAft>
              <a:buSzPts val="1400"/>
              <a:buNone/>
            </a:pPr>
            <a:r>
              <a:t/>
            </a:r>
            <a:endParaRPr/>
          </a:p>
        </p:txBody>
      </p:sp>
      <p:sp>
        <p:nvSpPr>
          <p:cNvPr id="99" name="Google Shape;99;g17521ace8ca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170b75b49ff_0_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6" name="Google Shape;106;g170b75b49ff_0_1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304800" lvl="0" marL="457200" rtl="0" algn="l">
              <a:lnSpc>
                <a:spcPct val="100000"/>
              </a:lnSpc>
              <a:spcBef>
                <a:spcPts val="0"/>
              </a:spcBef>
              <a:spcAft>
                <a:spcPts val="0"/>
              </a:spcAft>
              <a:buClr>
                <a:schemeClr val="dk1"/>
              </a:buClr>
              <a:buSzPts val="1200"/>
              <a:buChar char="•"/>
            </a:pPr>
            <a:r>
              <a:rPr lang="en-US"/>
              <a:t>Our research objective was to characterize shared decision-making in PES, which has rarely been done before this study.  </a:t>
            </a:r>
            <a:endParaRPr/>
          </a:p>
          <a:p>
            <a:pPr indent="-304800" lvl="0" marL="457200" rtl="0" algn="l">
              <a:lnSpc>
                <a:spcPct val="100000"/>
              </a:lnSpc>
              <a:spcBef>
                <a:spcPts val="0"/>
              </a:spcBef>
              <a:spcAft>
                <a:spcPts val="0"/>
              </a:spcAft>
              <a:buClr>
                <a:schemeClr val="dk1"/>
              </a:buClr>
              <a:buSzPts val="1200"/>
              <a:buChar char="•"/>
            </a:pPr>
            <a:r>
              <a:rPr lang="en-US"/>
              <a:t>We explored how to discharge decisions are negotiated in PES between three parties: clinicians, youth of color (who were the patients), and the guardians </a:t>
            </a:r>
            <a:endParaRPr/>
          </a:p>
          <a:p>
            <a:pPr indent="-304800" lvl="0" marL="457200" rtl="0" algn="l">
              <a:lnSpc>
                <a:spcPct val="100000"/>
              </a:lnSpc>
              <a:spcBef>
                <a:spcPts val="0"/>
              </a:spcBef>
              <a:spcAft>
                <a:spcPts val="0"/>
              </a:spcAft>
              <a:buClr>
                <a:schemeClr val="dk1"/>
              </a:buClr>
              <a:buSzPts val="1200"/>
              <a:buChar char="•"/>
            </a:pPr>
            <a:r>
              <a:rPr lang="en-US"/>
              <a:t>We sought to understand what youth of color and their guardians perceive as their role in decision-making and address how previous PES decisions influence future utilization for patients with repeated visits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500"/>
              </a:spcBef>
              <a:spcAft>
                <a:spcPts val="0"/>
              </a:spcAft>
              <a:buSzPts val="1400"/>
              <a:buNone/>
            </a:pPr>
            <a:r>
              <a:t/>
            </a:r>
            <a:endParaRPr sz="2000">
              <a:solidFill>
                <a:srgbClr val="141518"/>
              </a:solidFill>
              <a:highlight>
                <a:schemeClr val="lt1"/>
              </a:highlight>
              <a:latin typeface="Calibri"/>
              <a:ea typeface="Calibri"/>
              <a:cs typeface="Calibri"/>
              <a:sym typeface="Calibri"/>
            </a:endParaRPr>
          </a:p>
        </p:txBody>
      </p:sp>
      <p:sp>
        <p:nvSpPr>
          <p:cNvPr id="107" name="Google Shape;107;g170b75b49ff_0_1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16de9dd47b8_0_2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lang="en-US" sz="2000">
                <a:solidFill>
                  <a:srgbClr val="3C3E40"/>
                </a:solidFill>
                <a:latin typeface="Calibri"/>
                <a:ea typeface="Calibri"/>
                <a:cs typeface="Calibri"/>
                <a:sym typeface="Calibri"/>
              </a:rPr>
              <a:t>Boston Emergency Services team (BEST)  is the PES provider to Boston, Revere, Cambridge, Somerville, and New Bedford</a:t>
            </a:r>
            <a:endParaRPr sz="2000">
              <a:solidFill>
                <a:srgbClr val="3C3E40"/>
              </a:solidFill>
              <a:latin typeface="Calibri"/>
              <a:ea typeface="Calibri"/>
              <a:cs typeface="Calibri"/>
              <a:sym typeface="Calibri"/>
            </a:endParaRPr>
          </a:p>
          <a:p>
            <a:pPr indent="-228600" lvl="1" marL="685800" rtl="0" algn="l">
              <a:lnSpc>
                <a:spcPct val="100000"/>
              </a:lnSpc>
              <a:spcBef>
                <a:spcPts val="1000"/>
              </a:spcBef>
              <a:spcAft>
                <a:spcPts val="0"/>
              </a:spcAft>
              <a:buClr>
                <a:srgbClr val="3C3E40"/>
              </a:buClr>
              <a:buSzPts val="2000"/>
              <a:buFont typeface="Calibri"/>
              <a:buChar char="•"/>
            </a:pPr>
            <a:r>
              <a:rPr lang="en-US" sz="2000">
                <a:solidFill>
                  <a:srgbClr val="3C3E40"/>
                </a:solidFill>
                <a:latin typeface="Calibri"/>
                <a:ea typeface="Calibri"/>
                <a:cs typeface="Calibri"/>
                <a:sym typeface="Calibri"/>
              </a:rPr>
              <a:t>Over 3000 youth encounters per year mostly with youth of color</a:t>
            </a:r>
            <a:endParaRPr sz="2000">
              <a:solidFill>
                <a:srgbClr val="3C3E40"/>
              </a:solidFill>
              <a:latin typeface="Calibri"/>
              <a:ea typeface="Calibri"/>
              <a:cs typeface="Calibri"/>
              <a:sym typeface="Calibri"/>
            </a:endParaRPr>
          </a:p>
          <a:p>
            <a:pPr indent="0" lvl="0" marL="0" rtl="0" algn="l">
              <a:lnSpc>
                <a:spcPct val="100000"/>
              </a:lnSpc>
              <a:spcBef>
                <a:spcPts val="1000"/>
              </a:spcBef>
              <a:spcAft>
                <a:spcPts val="0"/>
              </a:spcAft>
              <a:buSzPts val="1400"/>
              <a:buNone/>
            </a:pPr>
            <a:r>
              <a:rPr lang="en-US">
                <a:solidFill>
                  <a:srgbClr val="202124"/>
                </a:solidFill>
                <a:highlight>
                  <a:srgbClr val="FFFFFF"/>
                </a:highlight>
                <a:latin typeface="Roboto"/>
                <a:ea typeface="Roboto"/>
                <a:cs typeface="Roboto"/>
                <a:sym typeface="Roboto"/>
              </a:rPr>
              <a:t>Inductive coding is </a:t>
            </a:r>
            <a:r>
              <a:rPr b="1" lang="en-US">
                <a:solidFill>
                  <a:srgbClr val="202124"/>
                </a:solidFill>
                <a:highlight>
                  <a:srgbClr val="FFFFFF"/>
                </a:highlight>
                <a:latin typeface="Roboto"/>
                <a:ea typeface="Roboto"/>
                <a:cs typeface="Roboto"/>
                <a:sym typeface="Roboto"/>
              </a:rPr>
              <a:t>a ground-up approach where you derive your codes from the data</a:t>
            </a:r>
            <a:r>
              <a:rPr lang="en-US">
                <a:solidFill>
                  <a:srgbClr val="202124"/>
                </a:solidFill>
                <a:highlight>
                  <a:srgbClr val="FFFFFF"/>
                </a:highlight>
                <a:latin typeface="Roboto"/>
                <a:ea typeface="Roboto"/>
                <a:cs typeface="Roboto"/>
                <a:sym typeface="Roboto"/>
              </a:rPr>
              <a:t>. You don't start with preconceived notions of what the codes should be, but allow the narrative or theory to emerge from the raw data itself.</a:t>
            </a:r>
            <a:endParaRPr>
              <a:solidFill>
                <a:srgbClr val="202124"/>
              </a:solidFill>
              <a:highlight>
                <a:srgbClr val="FFFFFF"/>
              </a:highlight>
              <a:latin typeface="Roboto"/>
              <a:ea typeface="Roboto"/>
              <a:cs typeface="Roboto"/>
              <a:sym typeface="Roboto"/>
            </a:endParaRPr>
          </a:p>
          <a:p>
            <a:pPr indent="0" lvl="0" marL="0" rtl="0" algn="l">
              <a:lnSpc>
                <a:spcPct val="100000"/>
              </a:lnSpc>
              <a:spcBef>
                <a:spcPts val="1000"/>
              </a:spcBef>
              <a:spcAft>
                <a:spcPts val="0"/>
              </a:spcAft>
              <a:buSzPts val="1400"/>
              <a:buNone/>
            </a:pPr>
            <a:r>
              <a:rPr lang="en-US">
                <a:solidFill>
                  <a:srgbClr val="202124"/>
                </a:solidFill>
                <a:highlight>
                  <a:srgbClr val="FFFFFF"/>
                </a:highlight>
                <a:latin typeface="Roboto"/>
                <a:ea typeface="Roboto"/>
                <a:cs typeface="Roboto"/>
                <a:sym typeface="Roboto"/>
              </a:rPr>
              <a:t>Deductive coding means </a:t>
            </a:r>
            <a:r>
              <a:rPr b="1" lang="en-US">
                <a:solidFill>
                  <a:srgbClr val="202124"/>
                </a:solidFill>
                <a:highlight>
                  <a:srgbClr val="FFFFFF"/>
                </a:highlight>
                <a:latin typeface="Roboto"/>
                <a:ea typeface="Roboto"/>
                <a:cs typeface="Roboto"/>
                <a:sym typeface="Roboto"/>
              </a:rPr>
              <a:t>you start with a predefined set of codes, then assign those codes to the new qualitative data</a:t>
            </a:r>
            <a:r>
              <a:rPr lang="en-US">
                <a:solidFill>
                  <a:srgbClr val="202124"/>
                </a:solidFill>
                <a:highlight>
                  <a:srgbClr val="FFFFFF"/>
                </a:highlight>
                <a:latin typeface="Roboto"/>
                <a:ea typeface="Roboto"/>
                <a:cs typeface="Roboto"/>
                <a:sym typeface="Roboto"/>
              </a:rPr>
              <a:t>. These codes might come from previous research, or you might already know what themes you're interested in analyzing. Deductive coding is also called concept-driven coding.</a:t>
            </a:r>
            <a:endParaRPr>
              <a:solidFill>
                <a:srgbClr val="202124"/>
              </a:solidFill>
              <a:highlight>
                <a:srgbClr val="FFFFFF"/>
              </a:highlight>
              <a:latin typeface="Roboto"/>
              <a:ea typeface="Roboto"/>
              <a:cs typeface="Roboto"/>
              <a:sym typeface="Roboto"/>
            </a:endParaRPr>
          </a:p>
          <a:p>
            <a:pPr indent="0" lvl="0" marL="0" rtl="0" algn="l">
              <a:lnSpc>
                <a:spcPct val="100000"/>
              </a:lnSpc>
              <a:spcBef>
                <a:spcPts val="1000"/>
              </a:spcBef>
              <a:spcAft>
                <a:spcPts val="1000"/>
              </a:spcAft>
              <a:buSzPts val="1400"/>
              <a:buNone/>
            </a:pPr>
            <a:r>
              <a:t/>
            </a:r>
            <a:endParaRPr>
              <a:solidFill>
                <a:srgbClr val="202124"/>
              </a:solidFill>
              <a:highlight>
                <a:srgbClr val="FFFFFF"/>
              </a:highlight>
              <a:latin typeface="Roboto"/>
              <a:ea typeface="Roboto"/>
              <a:cs typeface="Roboto"/>
              <a:sym typeface="Roboto"/>
            </a:endParaRPr>
          </a:p>
        </p:txBody>
      </p:sp>
      <p:sp>
        <p:nvSpPr>
          <p:cNvPr id="113" name="Google Shape;113;g16de9dd47b8_0_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17a883e5d16_1_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9" name="Google Shape;119;g17a883e5d16_1_1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200000"/>
              </a:lnSpc>
              <a:spcBef>
                <a:spcPts val="0"/>
              </a:spcBef>
              <a:spcAft>
                <a:spcPts val="0"/>
              </a:spcAft>
              <a:buClr>
                <a:schemeClr val="dk1"/>
              </a:buClr>
              <a:buSzPts val="1100"/>
              <a:buFont typeface="Arial"/>
              <a:buNone/>
            </a:pPr>
            <a:r>
              <a:rPr lang="en-US"/>
              <a:t>Today, we are going to discuss the themes arising from the two most important SDM concepts identified in our analysis: activation and power, and how they relate to the results we found through our interviews and observations with recruited clinicians, youth, and guardians. </a:t>
            </a:r>
            <a:endParaRPr/>
          </a:p>
        </p:txBody>
      </p:sp>
      <p:sp>
        <p:nvSpPr>
          <p:cNvPr id="120" name="Google Shape;120;g17a883e5d16_1_1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1798596ffde_2_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6" name="Google Shape;126;g1798596ffde_2_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304800" lvl="0" marL="457200" rtl="0" algn="l">
              <a:lnSpc>
                <a:spcPct val="200000"/>
              </a:lnSpc>
              <a:spcBef>
                <a:spcPts val="0"/>
              </a:spcBef>
              <a:spcAft>
                <a:spcPts val="0"/>
              </a:spcAft>
              <a:buClr>
                <a:schemeClr val="dk1"/>
              </a:buClr>
              <a:buSzPts val="1200"/>
              <a:buChar char="●"/>
            </a:pPr>
            <a:r>
              <a:rPr lang="en-US"/>
              <a:t>Our study found that youth experienced increased activation when they felt heard by their clinicians and decreased activation when they were excluded from care discussions and decisions. </a:t>
            </a:r>
            <a:endParaRPr/>
          </a:p>
          <a:p>
            <a:pPr indent="-304800" lvl="0" marL="457200" rtl="0" algn="l">
              <a:lnSpc>
                <a:spcPct val="200000"/>
              </a:lnSpc>
              <a:spcBef>
                <a:spcPts val="0"/>
              </a:spcBef>
              <a:spcAft>
                <a:spcPts val="0"/>
              </a:spcAft>
              <a:buClr>
                <a:schemeClr val="dk1"/>
              </a:buClr>
              <a:buSzPts val="1200"/>
              <a:buChar char="●"/>
            </a:pPr>
            <a:r>
              <a:rPr lang="en-US"/>
              <a:t>The quotes displayed are from the perspective of the same youth, demonstrating the various inconsistencies in experiences of patient activation based on different clinical interactions.  </a:t>
            </a:r>
            <a:endParaRPr/>
          </a:p>
          <a:p>
            <a:pPr indent="-304800" lvl="0" marL="457200" rtl="0" algn="l">
              <a:lnSpc>
                <a:spcPct val="200000"/>
              </a:lnSpc>
              <a:spcBef>
                <a:spcPts val="0"/>
              </a:spcBef>
              <a:spcAft>
                <a:spcPts val="0"/>
              </a:spcAft>
              <a:buClr>
                <a:schemeClr val="dk1"/>
              </a:buClr>
              <a:buSzPts val="1200"/>
              <a:buChar char="●"/>
            </a:pPr>
            <a:r>
              <a:rPr lang="en-US"/>
              <a:t>I will now give the audience a few moments to read these quotes independently. </a:t>
            </a:r>
            <a:endParaRPr/>
          </a:p>
        </p:txBody>
      </p:sp>
      <p:sp>
        <p:nvSpPr>
          <p:cNvPr id="127" name="Google Shape;127;g1798596ffde_2_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1798596ffde_0_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5" name="Google Shape;135;g1798596ffde_0_2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304800" lvl="0" marL="457200" rtl="0" algn="l">
              <a:lnSpc>
                <a:spcPct val="100000"/>
              </a:lnSpc>
              <a:spcBef>
                <a:spcPts val="0"/>
              </a:spcBef>
              <a:spcAft>
                <a:spcPts val="0"/>
              </a:spcAft>
              <a:buClr>
                <a:schemeClr val="dk1"/>
              </a:buClr>
              <a:buSzPts val="1200"/>
              <a:buChar char="●"/>
            </a:pPr>
            <a:r>
              <a:rPr lang="en-US"/>
              <a:t>Our study also found that most guardians felt they had to make treatment decisions without fully understanding treatment protocols and information. They also felt they lacked the emotional support resources they needed. This limited knowledge decreased activation for these guardians. </a:t>
            </a:r>
            <a:endParaRPr/>
          </a:p>
          <a:p>
            <a:pPr indent="-304800" lvl="0" marL="457200" rtl="0" algn="l">
              <a:lnSpc>
                <a:spcPct val="100000"/>
              </a:lnSpc>
              <a:spcBef>
                <a:spcPts val="0"/>
              </a:spcBef>
              <a:spcAft>
                <a:spcPts val="0"/>
              </a:spcAft>
              <a:buClr>
                <a:schemeClr val="dk1"/>
              </a:buClr>
              <a:buSzPts val="1200"/>
              <a:buChar char="●"/>
            </a:pPr>
            <a:r>
              <a:rPr lang="en-US"/>
              <a:t>Below are quotes about parental experiences of lack of understanding within mental health care system navigation that lead to decreased power. I will let the audience take a few moments to read these quotes to themselves. </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SzPts val="1400"/>
              <a:buNone/>
            </a:pPr>
            <a:r>
              <a:t/>
            </a:r>
            <a:endParaRPr/>
          </a:p>
        </p:txBody>
      </p:sp>
      <p:sp>
        <p:nvSpPr>
          <p:cNvPr id="136" name="Google Shape;136;g1798596ffde_0_2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12b78c03100_0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7" name="Google Shape;147;g12b78c03100_0_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a:p>
            <a:pPr indent="-304800" lvl="0" marL="457200" rtl="0" algn="l">
              <a:lnSpc>
                <a:spcPct val="100000"/>
              </a:lnSpc>
              <a:spcBef>
                <a:spcPts val="0"/>
              </a:spcBef>
              <a:spcAft>
                <a:spcPts val="0"/>
              </a:spcAft>
              <a:buClr>
                <a:schemeClr val="dk1"/>
              </a:buClr>
              <a:buSzPts val="1200"/>
              <a:buChar char="●"/>
            </a:pPr>
            <a:r>
              <a:rPr lang="en-US"/>
              <a:t>Our study also revealed that guardians who were new to PES or did not speak English felt particularly excluded from some decisions, often, more so than families who also felt excluded but spoke English as their first language. This limited knowledge decreased activation for these guardians. </a:t>
            </a:r>
            <a:endParaRPr/>
          </a:p>
          <a:p>
            <a:pPr indent="-304800" lvl="0" marL="457200" rtl="0" algn="l">
              <a:lnSpc>
                <a:spcPct val="100000"/>
              </a:lnSpc>
              <a:spcBef>
                <a:spcPts val="0"/>
              </a:spcBef>
              <a:spcAft>
                <a:spcPts val="0"/>
              </a:spcAft>
              <a:buClr>
                <a:schemeClr val="dk1"/>
              </a:buClr>
              <a:buSzPts val="1200"/>
              <a:buChar char="●"/>
            </a:pPr>
            <a:r>
              <a:rPr lang="en-US"/>
              <a:t>Below are quotes about parental experiences of lack of understanding within mental health care system navigation that lead to decreased activation.</a:t>
            </a:r>
            <a:endParaRPr/>
          </a:p>
          <a:p>
            <a:pPr indent="-304800" lvl="0" marL="457200" rtl="0" algn="l">
              <a:lnSpc>
                <a:spcPct val="100000"/>
              </a:lnSpc>
              <a:spcBef>
                <a:spcPts val="0"/>
              </a:spcBef>
              <a:spcAft>
                <a:spcPts val="0"/>
              </a:spcAft>
              <a:buClr>
                <a:schemeClr val="dk1"/>
              </a:buClr>
              <a:buSzPts val="1200"/>
              <a:buChar char="●"/>
            </a:pPr>
            <a:r>
              <a:rPr lang="en-US"/>
              <a:t> I will let the audience take a few moments to read these quotes to themselves.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p:txBody>
      </p:sp>
      <p:sp>
        <p:nvSpPr>
          <p:cNvPr id="148" name="Google Shape;148;g12b78c03100_0_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12b78c03100_0_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5" name="Google Shape;155;g12b78c03100_0_1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304800" lvl="0" marL="457200" rtl="0" algn="l">
              <a:lnSpc>
                <a:spcPct val="100000"/>
              </a:lnSpc>
              <a:spcBef>
                <a:spcPts val="0"/>
              </a:spcBef>
              <a:spcAft>
                <a:spcPts val="0"/>
              </a:spcAft>
              <a:buClr>
                <a:schemeClr val="dk1"/>
              </a:buClr>
              <a:buSzPts val="1200"/>
              <a:buChar char="●"/>
            </a:pPr>
            <a:r>
              <a:rPr lang="en-US"/>
              <a:t>Our study showed that clinicians were aware of these problems of decreased activation and had to find ways to overcome systemic factors </a:t>
            </a:r>
            <a:endParaRPr/>
          </a:p>
          <a:p>
            <a:pPr indent="-304800" lvl="0" marL="457200" rtl="0" algn="l">
              <a:lnSpc>
                <a:spcPct val="100000"/>
              </a:lnSpc>
              <a:spcBef>
                <a:spcPts val="0"/>
              </a:spcBef>
              <a:spcAft>
                <a:spcPts val="0"/>
              </a:spcAft>
              <a:buClr>
                <a:schemeClr val="dk1"/>
              </a:buClr>
              <a:buSzPts val="1200"/>
              <a:buChar char="●"/>
            </a:pPr>
            <a:r>
              <a:rPr lang="en-US"/>
              <a:t>This quote of a spanish-speaking guardian’s experience with a clinician who took the time to translate decisions involved in their child’s treatment shows both the guardian and clinician’s perspective in the interaction </a:t>
            </a:r>
            <a:endParaRPr/>
          </a:p>
        </p:txBody>
      </p:sp>
      <p:sp>
        <p:nvSpPr>
          <p:cNvPr id="156" name="Google Shape;156;g12b78c03100_0_1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17a883e5d16_1_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5" name="Google Shape;165;g17a883e5d16_1_2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304800" lvl="0" marL="457200" rtl="0" algn="l">
              <a:lnSpc>
                <a:spcPct val="200000"/>
              </a:lnSpc>
              <a:spcBef>
                <a:spcPts val="0"/>
              </a:spcBef>
              <a:spcAft>
                <a:spcPts val="0"/>
              </a:spcAft>
              <a:buClr>
                <a:schemeClr val="dk1"/>
              </a:buClr>
              <a:buSzPts val="1200"/>
              <a:buChar char="●"/>
            </a:pPr>
            <a:r>
              <a:rPr lang="en-US"/>
              <a:t>The second theme we identified in our analysis was power, which is also central to the shared decision-making process </a:t>
            </a:r>
            <a:endParaRPr/>
          </a:p>
          <a:p>
            <a:pPr indent="-304800" lvl="0" marL="457200" rtl="0" algn="l">
              <a:lnSpc>
                <a:spcPct val="200000"/>
              </a:lnSpc>
              <a:spcBef>
                <a:spcPts val="0"/>
              </a:spcBef>
              <a:spcAft>
                <a:spcPts val="0"/>
              </a:spcAft>
              <a:buClr>
                <a:schemeClr val="dk1"/>
              </a:buClr>
              <a:buSzPts val="1200"/>
              <a:buChar char="●"/>
            </a:pPr>
            <a:r>
              <a:rPr lang="en-US"/>
              <a:t>Power within shared decision-making refers to the extent individual preference can influence treatment decisions </a:t>
            </a:r>
            <a:endParaRPr/>
          </a:p>
          <a:p>
            <a:pPr indent="-304800" lvl="0" marL="457200" rtl="0" algn="l">
              <a:lnSpc>
                <a:spcPct val="200000"/>
              </a:lnSpc>
              <a:spcBef>
                <a:spcPts val="0"/>
              </a:spcBef>
              <a:spcAft>
                <a:spcPts val="0"/>
              </a:spcAft>
              <a:buClr>
                <a:schemeClr val="dk1"/>
              </a:buClr>
              <a:buSzPts val="1200"/>
              <a:buChar char="●"/>
            </a:pPr>
            <a:r>
              <a:rPr lang="en-US"/>
              <a:t>This power is shared primarily between guardians and clinicians for patients who are youth and have limited legal and medical autonomy </a:t>
            </a:r>
            <a:endParaRPr/>
          </a:p>
        </p:txBody>
      </p:sp>
      <p:sp>
        <p:nvSpPr>
          <p:cNvPr id="166" name="Google Shape;166;g17a883e5d16_1_2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16de9dd47b8_0_3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304800" lvl="0" marL="457200" rtl="0" algn="l">
              <a:lnSpc>
                <a:spcPct val="100000"/>
              </a:lnSpc>
              <a:spcBef>
                <a:spcPts val="0"/>
              </a:spcBef>
              <a:spcAft>
                <a:spcPts val="0"/>
              </a:spcAft>
              <a:buClr>
                <a:schemeClr val="dk1"/>
              </a:buClr>
              <a:buSzPts val="1200"/>
              <a:buChar char="●"/>
            </a:pPr>
            <a:r>
              <a:rPr lang="en-US"/>
              <a:t>Power within shared decision-making refers to the extent individual preference can influence treatment decisions </a:t>
            </a:r>
            <a:endParaRPr/>
          </a:p>
          <a:p>
            <a:pPr indent="-304800" lvl="0" marL="457200" rtl="0" algn="l">
              <a:lnSpc>
                <a:spcPct val="100000"/>
              </a:lnSpc>
              <a:spcBef>
                <a:spcPts val="0"/>
              </a:spcBef>
              <a:spcAft>
                <a:spcPts val="0"/>
              </a:spcAft>
              <a:buClr>
                <a:schemeClr val="dk1"/>
              </a:buClr>
              <a:buSzPts val="1200"/>
              <a:buChar char="●"/>
            </a:pPr>
            <a:r>
              <a:rPr lang="en-US"/>
              <a:t>This power is shared primarily between guardians and clinicians for patients who are youth and have limited legal and medical autonomy </a:t>
            </a:r>
            <a:endParaRPr/>
          </a:p>
          <a:p>
            <a:pPr indent="-304800" lvl="0" marL="457200" rtl="0" algn="l">
              <a:lnSpc>
                <a:spcPct val="100000"/>
              </a:lnSpc>
              <a:spcBef>
                <a:spcPts val="0"/>
              </a:spcBef>
              <a:spcAft>
                <a:spcPts val="0"/>
              </a:spcAft>
              <a:buClr>
                <a:schemeClr val="dk1"/>
              </a:buClr>
              <a:buSzPts val="1200"/>
              <a:buChar char="●"/>
            </a:pPr>
            <a:r>
              <a:rPr lang="en-US"/>
              <a:t>In our study, YOC reported limited power, that they were unable to answer themselves in the decision-making process of their treatment and discharge. </a:t>
            </a:r>
            <a:endParaRPr/>
          </a:p>
          <a:p>
            <a:pPr indent="-304800" lvl="0" marL="457200" rtl="0" algn="l">
              <a:lnSpc>
                <a:spcPct val="100000"/>
              </a:lnSpc>
              <a:spcBef>
                <a:spcPts val="0"/>
              </a:spcBef>
              <a:spcAft>
                <a:spcPts val="0"/>
              </a:spcAft>
              <a:buClr>
                <a:schemeClr val="dk1"/>
              </a:buClr>
              <a:buSzPts val="1200"/>
              <a:buChar char="●"/>
            </a:pPr>
            <a:r>
              <a:rPr lang="en-US"/>
              <a:t>This slide displays perspectives of a youth and a clinician regarding this experience for you all to independently read. </a:t>
            </a:r>
            <a:endParaRPr/>
          </a:p>
        </p:txBody>
      </p:sp>
      <p:sp>
        <p:nvSpPr>
          <p:cNvPr id="172" name="Google Shape;172;g16de9dd47b8_0_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16de9dd47b8_0_3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a:p>
            <a:pPr indent="-304800" lvl="0" marL="457200" rtl="0" algn="l">
              <a:lnSpc>
                <a:spcPct val="100000"/>
              </a:lnSpc>
              <a:spcBef>
                <a:spcPts val="0"/>
              </a:spcBef>
              <a:spcAft>
                <a:spcPts val="0"/>
              </a:spcAft>
              <a:buClr>
                <a:schemeClr val="dk1"/>
              </a:buClr>
              <a:buSzPts val="1200"/>
              <a:buChar char="●"/>
            </a:pPr>
            <a:r>
              <a:rPr lang="en-US"/>
              <a:t>Our study found that for the youth of color with repeated visits, guardians and clinicians reached consensus more effectively and experienced heightened activiation from previous experiences  </a:t>
            </a:r>
            <a:endParaRPr/>
          </a:p>
          <a:p>
            <a:pPr indent="-304800" lvl="0" marL="457200" rtl="0" algn="l">
              <a:lnSpc>
                <a:spcPct val="100000"/>
              </a:lnSpc>
              <a:spcBef>
                <a:spcPts val="0"/>
              </a:spcBef>
              <a:spcAft>
                <a:spcPts val="0"/>
              </a:spcAft>
              <a:buClr>
                <a:schemeClr val="dk1"/>
              </a:buClr>
              <a:buSzPts val="1200"/>
              <a:buChar char="●"/>
            </a:pPr>
            <a:r>
              <a:rPr lang="en-US"/>
              <a:t>At the bottom of this slide, I have a quote from the parent of a Latin x male youth explaining this from their perspective I will let the audience take a few moments to read on their own. </a:t>
            </a:r>
            <a:endParaRPr/>
          </a:p>
          <a:p>
            <a:pPr indent="0" lvl="0" marL="0" rtl="0" algn="l">
              <a:lnSpc>
                <a:spcPct val="100000"/>
              </a:lnSpc>
              <a:spcBef>
                <a:spcPts val="0"/>
              </a:spcBef>
              <a:spcAft>
                <a:spcPts val="0"/>
              </a:spcAft>
              <a:buSzPts val="1400"/>
              <a:buNone/>
            </a:pPr>
            <a:r>
              <a:t/>
            </a:r>
            <a:endParaRPr/>
          </a:p>
        </p:txBody>
      </p:sp>
      <p:sp>
        <p:nvSpPr>
          <p:cNvPr id="181" name="Google Shape;181;g16de9dd47b8_0_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16de9dd47b8_0_4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304800" lvl="0" marL="457200" rtl="0" algn="l">
              <a:lnSpc>
                <a:spcPct val="100000"/>
              </a:lnSpc>
              <a:spcBef>
                <a:spcPts val="0"/>
              </a:spcBef>
              <a:spcAft>
                <a:spcPts val="0"/>
              </a:spcAft>
              <a:buClr>
                <a:schemeClr val="dk1"/>
              </a:buClr>
              <a:buSzPts val="1200"/>
              <a:buChar char="●"/>
            </a:pPr>
            <a:r>
              <a:rPr lang="en-US"/>
              <a:t>So now I’d like to wrap up with some discussion of the implications and meanings behind the themes and results we found </a:t>
            </a:r>
            <a:endParaRPr/>
          </a:p>
          <a:p>
            <a:pPr indent="-304800" lvl="0" marL="457200" rtl="0" algn="l">
              <a:lnSpc>
                <a:spcPct val="100000"/>
              </a:lnSpc>
              <a:spcBef>
                <a:spcPts val="0"/>
              </a:spcBef>
              <a:spcAft>
                <a:spcPts val="0"/>
              </a:spcAft>
              <a:buClr>
                <a:schemeClr val="dk1"/>
              </a:buClr>
              <a:buSzPts val="1200"/>
              <a:buChar char="●"/>
            </a:pPr>
            <a:r>
              <a:rPr lang="en-US"/>
              <a:t>Power rests with health systems rather than youth of color in psychiatric care </a:t>
            </a:r>
            <a:endParaRPr/>
          </a:p>
          <a:p>
            <a:pPr indent="-304800" lvl="0" marL="457200" rtl="0" algn="l">
              <a:lnSpc>
                <a:spcPct val="100000"/>
              </a:lnSpc>
              <a:spcBef>
                <a:spcPts val="0"/>
              </a:spcBef>
              <a:spcAft>
                <a:spcPts val="0"/>
              </a:spcAft>
              <a:buClr>
                <a:schemeClr val="dk1"/>
              </a:buClr>
              <a:buSzPts val="1200"/>
              <a:buChar char="●"/>
            </a:pPr>
            <a:r>
              <a:rPr lang="en-US"/>
              <a:t>Guardians, youth, and clinicians all want to be actively informed participants in SDM, but low activation, language barriers, and limited resources perpetuate treatment delay and act as barriers to effective triadic decision making </a:t>
            </a:r>
            <a:endParaRPr/>
          </a:p>
          <a:p>
            <a:pPr indent="-304800" lvl="0" marL="457200" rtl="0" algn="l">
              <a:lnSpc>
                <a:spcPct val="100000"/>
              </a:lnSpc>
              <a:spcBef>
                <a:spcPts val="0"/>
              </a:spcBef>
              <a:spcAft>
                <a:spcPts val="0"/>
              </a:spcAft>
              <a:buClr>
                <a:schemeClr val="dk1"/>
              </a:buClr>
              <a:buSzPts val="1200"/>
              <a:buChar char="●"/>
            </a:pPr>
            <a:r>
              <a:rPr lang="en-US"/>
              <a:t>There is an urgent need to invest in interventions and training to improve YOC experiences with psychiatric care </a:t>
            </a:r>
            <a:endParaRPr/>
          </a:p>
          <a:p>
            <a:pPr indent="0" lvl="0" marL="0" rtl="0" algn="l">
              <a:lnSpc>
                <a:spcPct val="100000"/>
              </a:lnSpc>
              <a:spcBef>
                <a:spcPts val="0"/>
              </a:spcBef>
              <a:spcAft>
                <a:spcPts val="0"/>
              </a:spcAft>
              <a:buClr>
                <a:schemeClr val="dk1"/>
              </a:buClr>
              <a:buSzPts val="1100"/>
              <a:buFont typeface="Arial"/>
              <a:buNone/>
            </a:pPr>
            <a:r>
              <a:t/>
            </a:r>
            <a:endParaRPr/>
          </a:p>
          <a:p>
            <a:pPr indent="-228600" lvl="1" marL="685800" rtl="0" algn="l">
              <a:lnSpc>
                <a:spcPct val="115000"/>
              </a:lnSpc>
              <a:spcBef>
                <a:spcPts val="0"/>
              </a:spcBef>
              <a:spcAft>
                <a:spcPts val="0"/>
              </a:spcAft>
              <a:buClr>
                <a:schemeClr val="dk1"/>
              </a:buClr>
              <a:buSzPts val="2000"/>
              <a:buFont typeface="Calibri"/>
              <a:buChar char="•"/>
            </a:pPr>
            <a:r>
              <a:rPr lang="en-US" sz="2000">
                <a:latin typeface="Calibri"/>
                <a:ea typeface="Calibri"/>
                <a:cs typeface="Calibri"/>
                <a:sym typeface="Calibri"/>
              </a:rPr>
              <a:t>PES clinicians have limited power or time for negotiations</a:t>
            </a:r>
            <a:endParaRPr sz="2000">
              <a:latin typeface="Calibri"/>
              <a:ea typeface="Calibri"/>
              <a:cs typeface="Calibri"/>
              <a:sym typeface="Calibri"/>
            </a:endParaRPr>
          </a:p>
          <a:p>
            <a:pPr indent="-228600" lvl="1" marL="685800" rtl="0" algn="l">
              <a:lnSpc>
                <a:spcPct val="115000"/>
              </a:lnSpc>
              <a:spcBef>
                <a:spcPts val="1000"/>
              </a:spcBef>
              <a:spcAft>
                <a:spcPts val="1000"/>
              </a:spcAft>
              <a:buClr>
                <a:schemeClr val="dk1"/>
              </a:buClr>
              <a:buSzPts val="2000"/>
              <a:buFont typeface="Calibri"/>
              <a:buChar char="•"/>
            </a:pPr>
            <a:r>
              <a:rPr lang="en-US" sz="2000">
                <a:latin typeface="Calibri"/>
                <a:ea typeface="Calibri"/>
                <a:cs typeface="Calibri"/>
                <a:sym typeface="Calibri"/>
              </a:rPr>
              <a:t>Future research should investigate to what extent Guardian activation informs YOC discharge decisions and outcomes</a:t>
            </a:r>
            <a:endParaRPr/>
          </a:p>
        </p:txBody>
      </p:sp>
      <p:sp>
        <p:nvSpPr>
          <p:cNvPr id="189" name="Google Shape;189;g16de9dd47b8_0_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170b75b49ff_0_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5" name="Google Shape;195;g170b75b49ff_0_4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304800" lvl="0" marL="457200" rtl="0" algn="l">
              <a:lnSpc>
                <a:spcPct val="100000"/>
              </a:lnSpc>
              <a:spcBef>
                <a:spcPts val="0"/>
              </a:spcBef>
              <a:spcAft>
                <a:spcPts val="0"/>
              </a:spcAft>
              <a:buClr>
                <a:schemeClr val="dk1"/>
              </a:buClr>
              <a:buSzPts val="1200"/>
              <a:buChar char="●"/>
            </a:pPr>
            <a:r>
              <a:rPr lang="en-US"/>
              <a:t>We didn’t investigate cultural identity beyond racial group </a:t>
            </a:r>
            <a:endParaRPr/>
          </a:p>
          <a:p>
            <a:pPr indent="-304800" lvl="0" marL="457200" rtl="0" algn="l">
              <a:lnSpc>
                <a:spcPct val="100000"/>
              </a:lnSpc>
              <a:spcBef>
                <a:spcPts val="0"/>
              </a:spcBef>
              <a:spcAft>
                <a:spcPts val="0"/>
              </a:spcAft>
              <a:buClr>
                <a:schemeClr val="dk1"/>
              </a:buClr>
              <a:buSzPts val="1200"/>
              <a:buChar char="●"/>
            </a:pPr>
            <a:r>
              <a:rPr lang="en-US"/>
              <a:t>Guardians who did not speak English often decline to be a part of the study</a:t>
            </a:r>
            <a:endParaRPr/>
          </a:p>
          <a:p>
            <a:pPr indent="-304800" lvl="0" marL="457200" rtl="0" algn="l">
              <a:lnSpc>
                <a:spcPct val="100000"/>
              </a:lnSpc>
              <a:spcBef>
                <a:spcPts val="0"/>
              </a:spcBef>
              <a:spcAft>
                <a:spcPts val="0"/>
              </a:spcAft>
              <a:buClr>
                <a:schemeClr val="dk1"/>
              </a:buClr>
              <a:buSzPts val="1200"/>
              <a:buChar char="●"/>
            </a:pPr>
            <a:r>
              <a:rPr lang="en-US"/>
              <a:t>Only one site was studied- the BMC pediatric emergency department </a:t>
            </a:r>
            <a:endParaRPr/>
          </a:p>
          <a:p>
            <a:pPr indent="-304800" lvl="0" marL="457200" rtl="0" algn="l">
              <a:lnSpc>
                <a:spcPct val="100000"/>
              </a:lnSpc>
              <a:spcBef>
                <a:spcPts val="0"/>
              </a:spcBef>
              <a:spcAft>
                <a:spcPts val="0"/>
              </a:spcAft>
              <a:buClr>
                <a:schemeClr val="dk1"/>
              </a:buClr>
              <a:buSzPts val="1200"/>
              <a:buChar char="●"/>
            </a:pPr>
            <a:r>
              <a:rPr lang="en-US"/>
              <a:t>Clinciain racial/ethnic identity and sexual orientation information was not collected </a:t>
            </a:r>
            <a:endParaRPr/>
          </a:p>
        </p:txBody>
      </p:sp>
      <p:sp>
        <p:nvSpPr>
          <p:cNvPr id="196" name="Google Shape;196;g170b75b49ff_0_4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1798596ffde_2_3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304800" lvl="0" marL="457200" rtl="0" algn="l">
              <a:lnSpc>
                <a:spcPct val="200000"/>
              </a:lnSpc>
              <a:spcBef>
                <a:spcPts val="0"/>
              </a:spcBef>
              <a:spcAft>
                <a:spcPts val="0"/>
              </a:spcAft>
              <a:buClr>
                <a:schemeClr val="dk1"/>
              </a:buClr>
              <a:buSzPts val="1200"/>
              <a:buChar char="●"/>
            </a:pPr>
            <a:r>
              <a:rPr lang="en-US"/>
              <a:t>SDM is possible in PES emergency settings </a:t>
            </a:r>
            <a:endParaRPr/>
          </a:p>
          <a:p>
            <a:pPr indent="-304800" lvl="0" marL="457200" rtl="0" algn="l">
              <a:lnSpc>
                <a:spcPct val="200000"/>
              </a:lnSpc>
              <a:spcBef>
                <a:spcPts val="0"/>
              </a:spcBef>
              <a:spcAft>
                <a:spcPts val="0"/>
              </a:spcAft>
              <a:buClr>
                <a:schemeClr val="dk1"/>
              </a:buClr>
              <a:buSzPts val="1200"/>
              <a:buChar char="●"/>
            </a:pPr>
            <a:r>
              <a:rPr lang="en-US"/>
              <a:t>Inconsistent SDM may be leading to fiction in PES, and there is an urgent need to invest in interventions and training to improve YOC experiences with psychiatric care as PES clinicians currently have limited power or time for negotiations</a:t>
            </a:r>
            <a:endParaRPr/>
          </a:p>
          <a:p>
            <a:pPr indent="-304800" lvl="0" marL="457200" rtl="0" algn="l">
              <a:lnSpc>
                <a:spcPct val="200000"/>
              </a:lnSpc>
              <a:spcBef>
                <a:spcPts val="0"/>
              </a:spcBef>
              <a:spcAft>
                <a:spcPts val="0"/>
              </a:spcAft>
              <a:buClr>
                <a:schemeClr val="dk1"/>
              </a:buClr>
              <a:buSzPts val="1200"/>
              <a:buChar char="●"/>
            </a:pPr>
            <a:r>
              <a:rPr lang="en-US"/>
              <a:t>Future research should investigate to what extent guardian activation informs YOC discharge decisions and outcomes. </a:t>
            </a:r>
            <a:endParaRPr/>
          </a:p>
          <a:p>
            <a:pPr indent="-317500" lvl="0" marL="457200" rtl="0" algn="l">
              <a:lnSpc>
                <a:spcPct val="100000"/>
              </a:lnSpc>
              <a:spcBef>
                <a:spcPts val="0"/>
              </a:spcBef>
              <a:spcAft>
                <a:spcPts val="0"/>
              </a:spcAft>
              <a:buSzPts val="1400"/>
              <a:buChar char="●"/>
            </a:pPr>
            <a:r>
              <a:rPr lang="en-US"/>
              <a:t> </a:t>
            </a:r>
            <a:endParaRPr/>
          </a:p>
        </p:txBody>
      </p:sp>
      <p:sp>
        <p:nvSpPr>
          <p:cNvPr id="202" name="Google Shape;202;g1798596ffde_2_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17521ace8ca_0_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8" name="Google Shape;208;g17521ace8ca_0_2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9" name="Google Shape;209;g17521ace8ca_0_2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1798596ffde_2_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4" name="Google Shape;214;g1798596ffde_2_5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5" name="Google Shape;215;g1798596ffde_2_5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17521ace8ca_0_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1" name="Google Shape;221;g17521ace8ca_0_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2" name="Google Shape;222;g17521ace8ca_0_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170b75b49ff_0_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8" name="Google Shape;228;g170b75b49ff_0_2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304800" lvl="0" marL="457200" rtl="0" algn="l">
              <a:lnSpc>
                <a:spcPct val="100000"/>
              </a:lnSpc>
              <a:spcBef>
                <a:spcPts val="0"/>
              </a:spcBef>
              <a:spcAft>
                <a:spcPts val="0"/>
              </a:spcAft>
              <a:buClr>
                <a:schemeClr val="dk1"/>
              </a:buClr>
              <a:buSzPts val="1200"/>
              <a:buChar char="●"/>
            </a:pPr>
            <a:r>
              <a:rPr lang="en-US"/>
              <a:t>A key component of the PES visit is the discharge and navigation into appropriate and timely care</a:t>
            </a:r>
            <a:endParaRPr/>
          </a:p>
          <a:p>
            <a:pPr indent="-304800" lvl="0" marL="457200" rtl="0" algn="l">
              <a:lnSpc>
                <a:spcPct val="100000"/>
              </a:lnSpc>
              <a:spcBef>
                <a:spcPts val="0"/>
              </a:spcBef>
              <a:spcAft>
                <a:spcPts val="0"/>
              </a:spcAft>
              <a:buClr>
                <a:schemeClr val="dk1"/>
              </a:buClr>
              <a:buSzPts val="1200"/>
              <a:buChar char="●"/>
            </a:pPr>
            <a:r>
              <a:rPr lang="en-US"/>
              <a:t>Growing research on decision-making in ED settings suggests patients are more likely to be satisfied with care when they’re involved in decisions of treatment, navigation, and discharge </a:t>
            </a:r>
            <a:endParaRPr/>
          </a:p>
          <a:p>
            <a:pPr indent="-304800" lvl="0" marL="457200" rtl="0" algn="l">
              <a:lnSpc>
                <a:spcPct val="100000"/>
              </a:lnSpc>
              <a:spcBef>
                <a:spcPts val="0"/>
              </a:spcBef>
              <a:spcAft>
                <a:spcPts val="0"/>
              </a:spcAft>
              <a:buClr>
                <a:schemeClr val="dk1"/>
              </a:buClr>
              <a:buSzPts val="1200"/>
              <a:buChar char="●"/>
            </a:pPr>
            <a:r>
              <a:rPr lang="en-US"/>
              <a:t>However, clinicians remain hesitant to involve patients, specifically youth, in ED decision-making. </a:t>
            </a:r>
            <a:endParaRPr/>
          </a:p>
          <a:p>
            <a:pPr indent="-304800" lvl="0" marL="457200" rtl="0" algn="l">
              <a:lnSpc>
                <a:spcPct val="100000"/>
              </a:lnSpc>
              <a:spcBef>
                <a:spcPts val="0"/>
              </a:spcBef>
              <a:spcAft>
                <a:spcPts val="0"/>
              </a:spcAft>
              <a:buClr>
                <a:schemeClr val="dk1"/>
              </a:buClr>
              <a:buSzPts val="1200"/>
              <a:buChar char="●"/>
            </a:pPr>
            <a:r>
              <a:rPr lang="en-US"/>
              <a:t>Culture, power, and knowledge all play a role in affecting a patient’s ability to assert their needs and a provider’s ability to communicate clinical judgements. These factors play strong roles in the cases of youth of color in PES settings. </a:t>
            </a:r>
            <a:endParaRPr/>
          </a:p>
        </p:txBody>
      </p:sp>
      <p:sp>
        <p:nvSpPr>
          <p:cNvPr id="229" name="Google Shape;229;g170b75b49ff_0_2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170b75b49ff_0_3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To give you a sense of how we thought about this problem, let’s talk about the theories that helped organized our research. </a:t>
            </a:r>
            <a:endParaRPr/>
          </a:p>
          <a:p>
            <a:pPr indent="-317500" lvl="0" marL="457200" rtl="0" algn="l">
              <a:lnSpc>
                <a:spcPct val="100000"/>
              </a:lnSpc>
              <a:spcBef>
                <a:spcPts val="0"/>
              </a:spcBef>
              <a:spcAft>
                <a:spcPts val="0"/>
              </a:spcAft>
              <a:buSzPts val="1400"/>
              <a:buAutoNum type="arabicPeriod"/>
            </a:pPr>
            <a:r>
              <a:rPr lang="en-US"/>
              <a:t>We wanted to understand the relationship between decision making discussions and access to care</a:t>
            </a:r>
            <a:endParaRPr/>
          </a:p>
          <a:p>
            <a:pPr indent="-317500" lvl="1" marL="914400" rtl="0" algn="l">
              <a:lnSpc>
                <a:spcPct val="100000"/>
              </a:lnSpc>
              <a:spcBef>
                <a:spcPts val="0"/>
              </a:spcBef>
              <a:spcAft>
                <a:spcPts val="0"/>
              </a:spcAft>
              <a:buSzPts val="1400"/>
              <a:buAutoNum type="alphaLcPeriod"/>
            </a:pPr>
            <a:r>
              <a:rPr lang="en-US"/>
              <a:t>We drew on the Candidacy Model to help guide our questions about</a:t>
            </a:r>
            <a:endParaRPr/>
          </a:p>
          <a:p>
            <a:pPr indent="-317500" lvl="2" marL="1371600" rtl="0" algn="l">
              <a:lnSpc>
                <a:spcPct val="100000"/>
              </a:lnSpc>
              <a:spcBef>
                <a:spcPts val="0"/>
              </a:spcBef>
              <a:spcAft>
                <a:spcPts val="0"/>
              </a:spcAft>
              <a:buSzPts val="1400"/>
              <a:buAutoNum type="romanLcPeriod"/>
            </a:pPr>
            <a:r>
              <a:rPr lang="en-US"/>
              <a:t>the ability of patients and guardians to assert their symptoms, care needs, and care preferences to clinicians</a:t>
            </a:r>
            <a:endParaRPr/>
          </a:p>
          <a:p>
            <a:pPr indent="-317500" lvl="2" marL="1371600" rtl="0" algn="l">
              <a:lnSpc>
                <a:spcPct val="100000"/>
              </a:lnSpc>
              <a:spcBef>
                <a:spcPts val="0"/>
              </a:spcBef>
              <a:spcAft>
                <a:spcPts val="0"/>
              </a:spcAft>
              <a:buSzPts val="1400"/>
              <a:buAutoNum type="romanLcPeriod"/>
            </a:pPr>
            <a:r>
              <a:rPr lang="en-US"/>
              <a:t>the ability of clinicians to respond to those needs and to present a clinical judgement</a:t>
            </a:r>
            <a:endParaRPr/>
          </a:p>
          <a:p>
            <a:pPr indent="-317500" lvl="2" marL="1371600" rtl="0" algn="l">
              <a:lnSpc>
                <a:spcPct val="100000"/>
              </a:lnSpc>
              <a:spcBef>
                <a:spcPts val="0"/>
              </a:spcBef>
              <a:spcAft>
                <a:spcPts val="0"/>
              </a:spcAft>
              <a:buSzPts val="1400"/>
              <a:buAutoNum type="romanLcPeriod"/>
            </a:pPr>
            <a:r>
              <a:rPr lang="en-US"/>
              <a:t>the development and executing of care plans arising from those discussions</a:t>
            </a:r>
            <a:endParaRPr/>
          </a:p>
          <a:p>
            <a:pPr indent="-317500" lvl="2" marL="1371600" rtl="0" algn="l">
              <a:lnSpc>
                <a:spcPct val="100000"/>
              </a:lnSpc>
              <a:spcBef>
                <a:spcPts val="0"/>
              </a:spcBef>
              <a:spcAft>
                <a:spcPts val="0"/>
              </a:spcAft>
              <a:buSzPts val="1400"/>
              <a:buAutoNum type="romanLcPeriod"/>
            </a:pPr>
            <a:r>
              <a:rPr lang="en-US"/>
              <a:t>And out treatment outcome</a:t>
            </a:r>
            <a:endParaRPr/>
          </a:p>
          <a:p>
            <a:pPr indent="-317500" lvl="1" marL="914400" rtl="0" algn="l">
              <a:lnSpc>
                <a:spcPct val="100000"/>
              </a:lnSpc>
              <a:spcBef>
                <a:spcPts val="0"/>
              </a:spcBef>
              <a:spcAft>
                <a:spcPts val="0"/>
              </a:spcAft>
              <a:buSzPts val="1400"/>
              <a:buAutoNum type="alphaLcPeriod"/>
            </a:pPr>
            <a:r>
              <a:rPr lang="en-US"/>
              <a:t>we use the candidayc model because it theories that access to care is a series of negotiations from which patients and care systmes learn to work with each other (or not to work with each other). Failures to successfully negotiate at any stage of care seeking can frustrate patients, leading to delays in care, restart in care seeking, and sometimes, to care not being sought at all until a crisis occurs.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To help analyze decision making, we used the [THEORY HERE]</a:t>
            </a:r>
            <a:endParaRPr/>
          </a:p>
          <a:p>
            <a:pPr indent="0" lvl="0" marL="0" rtl="0" algn="l">
              <a:lnSpc>
                <a:spcPct val="100000"/>
              </a:lnSpc>
              <a:spcBef>
                <a:spcPts val="0"/>
              </a:spcBef>
              <a:spcAft>
                <a:spcPts val="0"/>
              </a:spcAft>
              <a:buSzPts val="1400"/>
              <a:buNone/>
            </a:pPr>
            <a:r>
              <a:t/>
            </a:r>
            <a:endParaRPr/>
          </a:p>
        </p:txBody>
      </p:sp>
      <p:sp>
        <p:nvSpPr>
          <p:cNvPr id="235" name="Google Shape;235;g170b75b49ff_0_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17521ace8ca_0_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3" name="Google Shape;243;g17521ace8ca_0_4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Arial"/>
              <a:buNone/>
            </a:pPr>
            <a:r>
              <a:rPr lang="en-US"/>
              <a:t>Today we are going to discuss the themes arising from the two most important SDM concepts identified in our analysis: activation and power</a:t>
            </a:r>
            <a:endParaRPr/>
          </a:p>
        </p:txBody>
      </p:sp>
      <p:sp>
        <p:nvSpPr>
          <p:cNvPr id="244" name="Google Shape;244;g17521ace8ca_0_4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1798596ffde_2_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0" name="Google Shape;250;g1798596ffde_2_4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355600" lvl="0" marL="457200" rtl="0" algn="l">
              <a:lnSpc>
                <a:spcPct val="115000"/>
              </a:lnSpc>
              <a:spcBef>
                <a:spcPts val="1200"/>
              </a:spcBef>
              <a:spcAft>
                <a:spcPts val="0"/>
              </a:spcAft>
              <a:buClr>
                <a:schemeClr val="dk1"/>
              </a:buClr>
              <a:buSzPts val="2000"/>
              <a:buFont typeface="Calibri"/>
              <a:buChar char="●"/>
            </a:pPr>
            <a:r>
              <a:rPr lang="en-US" sz="2000">
                <a:latin typeface="Calibri"/>
                <a:ea typeface="Calibri"/>
                <a:cs typeface="Calibri"/>
                <a:sym typeface="Calibri"/>
              </a:rPr>
              <a:t>Timely and appropriate care in PES requires negotiation between patients and clinician through the process of shared decision making, which is captured on in the quote on this slide and can be characterizes as joint communication, deliberation, and</a:t>
            </a:r>
            <a:r>
              <a:rPr lang="en-US" sz="2000">
                <a:solidFill>
                  <a:srgbClr val="141518"/>
                </a:solidFill>
                <a:highlight>
                  <a:schemeClr val="lt1"/>
                </a:highlight>
                <a:latin typeface="Calibri"/>
                <a:ea typeface="Calibri"/>
                <a:cs typeface="Calibri"/>
                <a:sym typeface="Calibri"/>
              </a:rPr>
              <a:t> agreement on care and treatment for a patient (Hayes et al., 2021). Shared decision making requires </a:t>
            </a:r>
            <a:r>
              <a:rPr b="1" lang="en-US" sz="2000">
                <a:solidFill>
                  <a:srgbClr val="141518"/>
                </a:solidFill>
                <a:highlight>
                  <a:schemeClr val="lt1"/>
                </a:highlight>
                <a:latin typeface="Calibri"/>
                <a:ea typeface="Calibri"/>
                <a:cs typeface="Calibri"/>
                <a:sym typeface="Calibri"/>
              </a:rPr>
              <a:t>activation </a:t>
            </a:r>
            <a:r>
              <a:rPr lang="en-US" sz="2000">
                <a:solidFill>
                  <a:srgbClr val="141518"/>
                </a:solidFill>
                <a:highlight>
                  <a:schemeClr val="lt1"/>
                </a:highlight>
                <a:latin typeface="Calibri"/>
                <a:ea typeface="Calibri"/>
                <a:cs typeface="Calibri"/>
                <a:sym typeface="Calibri"/>
              </a:rPr>
              <a:t>a SDM term that characterizes how guardians must have confidence in knowledge about treatment and diagnoses. </a:t>
            </a:r>
            <a:endParaRPr sz="2000">
              <a:solidFill>
                <a:srgbClr val="141518"/>
              </a:solidFill>
              <a:highlight>
                <a:schemeClr val="lt1"/>
              </a:highlight>
              <a:latin typeface="Calibri"/>
              <a:ea typeface="Calibri"/>
              <a:cs typeface="Calibri"/>
              <a:sym typeface="Calibri"/>
            </a:endParaRPr>
          </a:p>
          <a:p>
            <a:pPr indent="-355600" lvl="0" marL="457200" rtl="0" algn="l">
              <a:lnSpc>
                <a:spcPct val="115000"/>
              </a:lnSpc>
              <a:spcBef>
                <a:spcPts val="0"/>
              </a:spcBef>
              <a:spcAft>
                <a:spcPts val="0"/>
              </a:spcAft>
              <a:buClr>
                <a:srgbClr val="141518"/>
              </a:buClr>
              <a:buSzPts val="2000"/>
              <a:buFont typeface="Calibri"/>
              <a:buChar char="●"/>
            </a:pPr>
            <a:r>
              <a:rPr lang="en-US" sz="2000">
                <a:solidFill>
                  <a:srgbClr val="141518"/>
                </a:solidFill>
                <a:highlight>
                  <a:schemeClr val="lt1"/>
                </a:highlight>
                <a:latin typeface="Calibri"/>
                <a:ea typeface="Calibri"/>
                <a:cs typeface="Calibri"/>
                <a:sym typeface="Calibri"/>
              </a:rPr>
              <a:t>Shared decision making also requires guardians and patients to have </a:t>
            </a:r>
            <a:r>
              <a:rPr b="1" lang="en-US" sz="2000">
                <a:solidFill>
                  <a:srgbClr val="141518"/>
                </a:solidFill>
                <a:highlight>
                  <a:schemeClr val="lt1"/>
                </a:highlight>
                <a:latin typeface="Calibri"/>
                <a:ea typeface="Calibri"/>
                <a:cs typeface="Calibri"/>
                <a:sym typeface="Calibri"/>
              </a:rPr>
              <a:t>power</a:t>
            </a:r>
            <a:r>
              <a:rPr lang="en-US" sz="2000">
                <a:solidFill>
                  <a:srgbClr val="141518"/>
                </a:solidFill>
                <a:highlight>
                  <a:schemeClr val="lt1"/>
                </a:highlight>
                <a:latin typeface="Calibri"/>
                <a:ea typeface="Calibri"/>
                <a:cs typeface="Calibri"/>
                <a:sym typeface="Calibri"/>
              </a:rPr>
              <a:t> that is, influence over their treatment. </a:t>
            </a:r>
            <a:endParaRPr sz="2000">
              <a:solidFill>
                <a:srgbClr val="141518"/>
              </a:solidFill>
              <a:highlight>
                <a:schemeClr val="lt1"/>
              </a:highlight>
              <a:latin typeface="Calibri"/>
              <a:ea typeface="Calibri"/>
              <a:cs typeface="Calibri"/>
              <a:sym typeface="Calibri"/>
            </a:endParaRPr>
          </a:p>
          <a:p>
            <a:pPr indent="-355600" lvl="0" marL="457200" rtl="0" algn="l">
              <a:lnSpc>
                <a:spcPct val="115000"/>
              </a:lnSpc>
              <a:spcBef>
                <a:spcPts val="0"/>
              </a:spcBef>
              <a:spcAft>
                <a:spcPts val="0"/>
              </a:spcAft>
              <a:buClr>
                <a:schemeClr val="dk1"/>
              </a:buClr>
              <a:buSzPts val="2000"/>
              <a:buFont typeface="Calibri"/>
              <a:buChar char="●"/>
            </a:pPr>
            <a:r>
              <a:rPr lang="en-US" sz="2000">
                <a:latin typeface="Calibri"/>
                <a:ea typeface="Calibri"/>
                <a:cs typeface="Calibri"/>
                <a:sym typeface="Calibri"/>
              </a:rPr>
              <a:t>Those negotiations have not been previously characterized in PES.</a:t>
            </a:r>
            <a:endParaRPr/>
          </a:p>
        </p:txBody>
      </p:sp>
      <p:sp>
        <p:nvSpPr>
          <p:cNvPr id="251" name="Google Shape;251;g1798596ffde_2_4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bg>
      <p:bgPr>
        <a:solidFill>
          <a:schemeClr val="lt1"/>
        </a:solidFill>
      </p:bgPr>
    </p:bg>
    <p:spTree>
      <p:nvGrpSpPr>
        <p:cNvPr id="15" name="Shape 15"/>
        <p:cNvGrpSpPr/>
        <p:nvPr/>
      </p:nvGrpSpPr>
      <p:grpSpPr>
        <a:xfrm>
          <a:off x="0" y="0"/>
          <a:ext cx="0" cy="0"/>
          <a:chOff x="0" y="0"/>
          <a:chExt cx="0" cy="0"/>
        </a:xfrm>
      </p:grpSpPr>
      <p:sp>
        <p:nvSpPr>
          <p:cNvPr id="16" name="Google Shape;16;p1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accent2"/>
              </a:buClr>
              <a:buSzPts val="3200"/>
              <a:buFont typeface="Arial Black"/>
              <a:buNone/>
              <a:defRPr b="0" sz="3200">
                <a:solidFill>
                  <a:schemeClr val="accent2"/>
                </a:solidFill>
                <a:latin typeface="Arial Black"/>
                <a:ea typeface="Arial Black"/>
                <a:cs typeface="Arial Black"/>
                <a:sym typeface="Arial Black"/>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2"/>
          <p:cNvSpPr/>
          <p:nvPr>
            <p:ph idx="2" type="pic"/>
          </p:nvPr>
        </p:nvSpPr>
        <p:spPr>
          <a:xfrm>
            <a:off x="5183188" y="987425"/>
            <a:ext cx="6172200" cy="4873625"/>
          </a:xfrm>
          <a:prstGeom prst="rect">
            <a:avLst/>
          </a:prstGeom>
          <a:noFill/>
          <a:ln>
            <a:noFill/>
          </a:ln>
        </p:spPr>
      </p:sp>
      <p:sp>
        <p:nvSpPr>
          <p:cNvPr id="18" name="Google Shape;18;p12"/>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150000"/>
              </a:lnSpc>
              <a:spcBef>
                <a:spcPts val="1000"/>
              </a:spcBef>
              <a:spcAft>
                <a:spcPts val="0"/>
              </a:spcAft>
              <a:buClr>
                <a:schemeClr val="dk2"/>
              </a:buClr>
              <a:buSzPts val="1600"/>
              <a:buNone/>
              <a:defRPr sz="1600">
                <a:solidFill>
                  <a:schemeClr val="dk2"/>
                </a:solidFill>
                <a:latin typeface="Arial"/>
                <a:ea typeface="Arial"/>
                <a:cs typeface="Arial"/>
                <a:sym typeface="Arial"/>
              </a:defRPr>
            </a:lvl1pPr>
            <a:lvl2pPr indent="-228600" lvl="1" marL="914400" algn="l">
              <a:lnSpc>
                <a:spcPct val="150000"/>
              </a:lnSpc>
              <a:spcBef>
                <a:spcPts val="500"/>
              </a:spcBef>
              <a:spcAft>
                <a:spcPts val="0"/>
              </a:spcAft>
              <a:buClr>
                <a:srgbClr val="7F7F95"/>
              </a:buClr>
              <a:buSzPts val="1400"/>
              <a:buNone/>
              <a:defRPr sz="1400"/>
            </a:lvl2pPr>
            <a:lvl3pPr indent="-228600" lvl="2" marL="1371600" algn="l">
              <a:lnSpc>
                <a:spcPct val="150000"/>
              </a:lnSpc>
              <a:spcBef>
                <a:spcPts val="500"/>
              </a:spcBef>
              <a:spcAft>
                <a:spcPts val="0"/>
              </a:spcAft>
              <a:buClr>
                <a:srgbClr val="7F7F95"/>
              </a:buClr>
              <a:buSzPts val="1200"/>
              <a:buNone/>
              <a:defRPr sz="1200"/>
            </a:lvl3pPr>
            <a:lvl4pPr indent="-228600" lvl="3" marL="1828800" algn="l">
              <a:lnSpc>
                <a:spcPct val="150000"/>
              </a:lnSpc>
              <a:spcBef>
                <a:spcPts val="500"/>
              </a:spcBef>
              <a:spcAft>
                <a:spcPts val="0"/>
              </a:spcAft>
              <a:buClr>
                <a:srgbClr val="7F7F95"/>
              </a:buClr>
              <a:buSzPts val="1000"/>
              <a:buNone/>
              <a:defRPr sz="1000"/>
            </a:lvl4pPr>
            <a:lvl5pPr indent="-228600" lvl="4" marL="2286000" algn="l">
              <a:lnSpc>
                <a:spcPct val="150000"/>
              </a:lnSpc>
              <a:spcBef>
                <a:spcPts val="500"/>
              </a:spcBef>
              <a:spcAft>
                <a:spcPts val="0"/>
              </a:spcAft>
              <a:buClr>
                <a:srgbClr val="7F7F95"/>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cxnSp>
        <p:nvCxnSpPr>
          <p:cNvPr id="19" name="Google Shape;19;p12"/>
          <p:cNvCxnSpPr/>
          <p:nvPr/>
        </p:nvCxnSpPr>
        <p:spPr>
          <a:xfrm>
            <a:off x="838200" y="2062481"/>
            <a:ext cx="3933825" cy="7482"/>
          </a:xfrm>
          <a:prstGeom prst="straightConnector1">
            <a:avLst/>
          </a:prstGeom>
          <a:noFill/>
          <a:ln cap="flat" cmpd="sng" w="19050">
            <a:solidFill>
              <a:schemeClr val="accent6"/>
            </a:solidFill>
            <a:prstDash val="solid"/>
            <a:miter lim="800000"/>
            <a:headEnd len="sm" w="sm" type="none"/>
            <a:tailEnd len="sm" w="sm" type="none"/>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0" name="Shape 20"/>
        <p:cNvGrpSpPr/>
        <p:nvPr/>
      </p:nvGrpSpPr>
      <p:grpSpPr>
        <a:xfrm>
          <a:off x="0" y="0"/>
          <a:ext cx="0" cy="0"/>
          <a:chOff x="0" y="0"/>
          <a:chExt cx="0" cy="0"/>
        </a:xfrm>
      </p:grpSpPr>
      <p:sp>
        <p:nvSpPr>
          <p:cNvPr id="21" name="Google Shape;21;p5"/>
          <p:cNvSpPr txBox="1"/>
          <p:nvPr>
            <p:ph type="title"/>
          </p:nvPr>
        </p:nvSpPr>
        <p:spPr>
          <a:xfrm>
            <a:off x="838200" y="261607"/>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accent2"/>
              </a:buClr>
              <a:buSzPts val="4000"/>
              <a:buFont typeface="Arial Black"/>
              <a:buNone/>
              <a:defRPr b="0" sz="4000">
                <a:solidFill>
                  <a:schemeClr val="accent2"/>
                </a:solidFill>
                <a:latin typeface="Arial Black"/>
                <a:ea typeface="Arial Black"/>
                <a:cs typeface="Arial Black"/>
                <a:sym typeface="Arial Black"/>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5"/>
          <p:cNvSpPr txBox="1"/>
          <p:nvPr>
            <p:ph idx="1" type="body"/>
          </p:nvPr>
        </p:nvSpPr>
        <p:spPr>
          <a:xfrm>
            <a:off x="838200" y="1929143"/>
            <a:ext cx="10515600" cy="4351338"/>
          </a:xfrm>
          <a:prstGeom prst="rect">
            <a:avLst/>
          </a:prstGeom>
          <a:noFill/>
          <a:ln>
            <a:noFill/>
          </a:ln>
        </p:spPr>
        <p:txBody>
          <a:bodyPr anchorCtr="0" anchor="t" bIns="45700" lIns="91425" spcFirstLastPara="1" rIns="91425" wrap="square" tIns="45700">
            <a:normAutofit/>
          </a:bodyPr>
          <a:lstStyle>
            <a:lvl1pPr indent="-355600" lvl="0" marL="457200" algn="l">
              <a:lnSpc>
                <a:spcPct val="150000"/>
              </a:lnSpc>
              <a:spcBef>
                <a:spcPts val="1000"/>
              </a:spcBef>
              <a:spcAft>
                <a:spcPts val="0"/>
              </a:spcAft>
              <a:buClr>
                <a:schemeClr val="dk2"/>
              </a:buClr>
              <a:buSzPts val="2000"/>
              <a:buChar char="•"/>
              <a:defRPr sz="2000">
                <a:solidFill>
                  <a:schemeClr val="dk2"/>
                </a:solidFill>
                <a:latin typeface="Arial"/>
                <a:ea typeface="Arial"/>
                <a:cs typeface="Arial"/>
                <a:sym typeface="Arial"/>
              </a:defRPr>
            </a:lvl1pPr>
            <a:lvl2pPr indent="-355600" lvl="1" marL="914400" algn="l">
              <a:lnSpc>
                <a:spcPct val="150000"/>
              </a:lnSpc>
              <a:spcBef>
                <a:spcPts val="500"/>
              </a:spcBef>
              <a:spcAft>
                <a:spcPts val="0"/>
              </a:spcAft>
              <a:buClr>
                <a:schemeClr val="dk2"/>
              </a:buClr>
              <a:buSzPts val="2000"/>
              <a:buChar char="•"/>
              <a:defRPr sz="2000">
                <a:solidFill>
                  <a:schemeClr val="dk2"/>
                </a:solidFill>
                <a:latin typeface="Arial"/>
                <a:ea typeface="Arial"/>
                <a:cs typeface="Arial"/>
                <a:sym typeface="Arial"/>
              </a:defRPr>
            </a:lvl2pPr>
            <a:lvl3pPr indent="-355600" lvl="2" marL="1371600" algn="l">
              <a:lnSpc>
                <a:spcPct val="150000"/>
              </a:lnSpc>
              <a:spcBef>
                <a:spcPts val="500"/>
              </a:spcBef>
              <a:spcAft>
                <a:spcPts val="0"/>
              </a:spcAft>
              <a:buClr>
                <a:schemeClr val="dk2"/>
              </a:buClr>
              <a:buSzPts val="2000"/>
              <a:buChar char="•"/>
              <a:defRPr sz="2000">
                <a:solidFill>
                  <a:schemeClr val="dk2"/>
                </a:solidFill>
                <a:latin typeface="Arial"/>
                <a:ea typeface="Arial"/>
                <a:cs typeface="Arial"/>
                <a:sym typeface="Arial"/>
              </a:defRPr>
            </a:lvl3pPr>
            <a:lvl4pPr indent="-355600" lvl="3" marL="1828800" algn="l">
              <a:lnSpc>
                <a:spcPct val="150000"/>
              </a:lnSpc>
              <a:spcBef>
                <a:spcPts val="500"/>
              </a:spcBef>
              <a:spcAft>
                <a:spcPts val="0"/>
              </a:spcAft>
              <a:buClr>
                <a:schemeClr val="dk2"/>
              </a:buClr>
              <a:buSzPts val="2000"/>
              <a:buChar char="•"/>
              <a:defRPr sz="2000">
                <a:solidFill>
                  <a:schemeClr val="dk2"/>
                </a:solidFill>
                <a:latin typeface="Arial"/>
                <a:ea typeface="Arial"/>
                <a:cs typeface="Arial"/>
                <a:sym typeface="Arial"/>
              </a:defRPr>
            </a:lvl4pPr>
            <a:lvl5pPr indent="-355600" lvl="4" marL="2286000" algn="l">
              <a:lnSpc>
                <a:spcPct val="150000"/>
              </a:lnSpc>
              <a:spcBef>
                <a:spcPts val="500"/>
              </a:spcBef>
              <a:spcAft>
                <a:spcPts val="0"/>
              </a:spcAft>
              <a:buClr>
                <a:schemeClr val="dk2"/>
              </a:buClr>
              <a:buSzPts val="2000"/>
              <a:buChar char="•"/>
              <a:defRPr sz="2000">
                <a:solidFill>
                  <a:schemeClr val="dk2"/>
                </a:solidFill>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23" name="Google Shape;23;p5"/>
          <p:cNvCxnSpPr/>
          <p:nvPr/>
        </p:nvCxnSpPr>
        <p:spPr>
          <a:xfrm>
            <a:off x="838200" y="1690689"/>
            <a:ext cx="10515600" cy="0"/>
          </a:xfrm>
          <a:prstGeom prst="straightConnector1">
            <a:avLst/>
          </a:prstGeom>
          <a:noFill/>
          <a:ln cap="flat" cmpd="sng" w="19050">
            <a:solidFill>
              <a:schemeClr val="accent6"/>
            </a:solidFill>
            <a:prstDash val="solid"/>
            <a:miter lim="800000"/>
            <a:headEnd len="sm" w="sm" type="none"/>
            <a:tailEnd len="sm" w="sm" type="none"/>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4" name="Shape 24"/>
        <p:cNvGrpSpPr/>
        <p:nvPr/>
      </p:nvGrpSpPr>
      <p:grpSpPr>
        <a:xfrm>
          <a:off x="0" y="0"/>
          <a:ext cx="0" cy="0"/>
          <a:chOff x="0" y="0"/>
          <a:chExt cx="0" cy="0"/>
        </a:xfrm>
      </p:grpSpPr>
      <p:sp>
        <p:nvSpPr>
          <p:cNvPr id="25" name="Google Shape;25;p9"/>
          <p:cNvSpPr txBox="1"/>
          <p:nvPr>
            <p:ph type="title"/>
          </p:nvPr>
        </p:nvSpPr>
        <p:spPr>
          <a:xfrm>
            <a:off x="838200" y="261607"/>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accent2"/>
              </a:buClr>
              <a:buSzPts val="4400"/>
              <a:buFont typeface="Arial Black"/>
              <a:buNone/>
              <a:defRPr b="0">
                <a:latin typeface="Arial Black"/>
                <a:ea typeface="Arial Black"/>
                <a:cs typeface="Arial Black"/>
                <a:sym typeface="Arial Black"/>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cxnSp>
        <p:nvCxnSpPr>
          <p:cNvPr id="27" name="Google Shape;27;p9"/>
          <p:cNvCxnSpPr/>
          <p:nvPr/>
        </p:nvCxnSpPr>
        <p:spPr>
          <a:xfrm>
            <a:off x="838200" y="1690689"/>
            <a:ext cx="10515600" cy="0"/>
          </a:xfrm>
          <a:prstGeom prst="straightConnector1">
            <a:avLst/>
          </a:prstGeom>
          <a:noFill/>
          <a:ln cap="flat" cmpd="sng" w="19050">
            <a:solidFill>
              <a:schemeClr val="accent6"/>
            </a:solidFill>
            <a:prstDash val="solid"/>
            <a:miter lim="800000"/>
            <a:headEnd len="sm" w="sm" type="none"/>
            <a:tailEnd len="sm" w="sm" type="none"/>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8" name="Shape 28"/>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29" name="Shape 29"/>
        <p:cNvGrpSpPr/>
        <p:nvPr/>
      </p:nvGrpSpPr>
      <p:grpSpPr>
        <a:xfrm>
          <a:off x="0" y="0"/>
          <a:ext cx="0" cy="0"/>
          <a:chOff x="0" y="0"/>
          <a:chExt cx="0" cy="0"/>
        </a:xfrm>
      </p:grpSpPr>
      <p:sp>
        <p:nvSpPr>
          <p:cNvPr id="30" name="Google Shape;30;p8"/>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accent2"/>
              </a:buClr>
              <a:buSzPts val="4400"/>
              <a:buFont typeface="Arial Black"/>
              <a:buNone/>
              <a:defRPr b="0">
                <a:latin typeface="Arial Black"/>
                <a:ea typeface="Arial Black"/>
                <a:cs typeface="Arial Black"/>
                <a:sym typeface="Arial Black"/>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8"/>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150000"/>
              </a:lnSpc>
              <a:spcBef>
                <a:spcPts val="1000"/>
              </a:spcBef>
              <a:spcAft>
                <a:spcPts val="0"/>
              </a:spcAft>
              <a:buClr>
                <a:schemeClr val="accent1"/>
              </a:buClr>
              <a:buSzPts val="2400"/>
              <a:buNone/>
              <a:defRPr b="0" sz="2400">
                <a:solidFill>
                  <a:schemeClr val="accent1"/>
                </a:solidFill>
                <a:latin typeface="Arial"/>
                <a:ea typeface="Arial"/>
                <a:cs typeface="Arial"/>
                <a:sym typeface="Arial"/>
              </a:defRPr>
            </a:lvl1pPr>
            <a:lvl2pPr indent="-228600" lvl="1" marL="914400" algn="l">
              <a:lnSpc>
                <a:spcPct val="150000"/>
              </a:lnSpc>
              <a:spcBef>
                <a:spcPts val="500"/>
              </a:spcBef>
              <a:spcAft>
                <a:spcPts val="0"/>
              </a:spcAft>
              <a:buClr>
                <a:srgbClr val="7F7F95"/>
              </a:buClr>
              <a:buSzPts val="2000"/>
              <a:buNone/>
              <a:defRPr b="1" sz="2000"/>
            </a:lvl2pPr>
            <a:lvl3pPr indent="-228600" lvl="2" marL="1371600" algn="l">
              <a:lnSpc>
                <a:spcPct val="150000"/>
              </a:lnSpc>
              <a:spcBef>
                <a:spcPts val="500"/>
              </a:spcBef>
              <a:spcAft>
                <a:spcPts val="0"/>
              </a:spcAft>
              <a:buClr>
                <a:srgbClr val="7F7F95"/>
              </a:buClr>
              <a:buSzPts val="1800"/>
              <a:buNone/>
              <a:defRPr b="1" sz="1800"/>
            </a:lvl3pPr>
            <a:lvl4pPr indent="-228600" lvl="3" marL="1828800" algn="l">
              <a:lnSpc>
                <a:spcPct val="150000"/>
              </a:lnSpc>
              <a:spcBef>
                <a:spcPts val="500"/>
              </a:spcBef>
              <a:spcAft>
                <a:spcPts val="0"/>
              </a:spcAft>
              <a:buClr>
                <a:srgbClr val="7F7F95"/>
              </a:buClr>
              <a:buSzPts val="1600"/>
              <a:buNone/>
              <a:defRPr b="1" sz="1600"/>
            </a:lvl4pPr>
            <a:lvl5pPr indent="-228600" lvl="4" marL="2286000" algn="l">
              <a:lnSpc>
                <a:spcPct val="150000"/>
              </a:lnSpc>
              <a:spcBef>
                <a:spcPts val="500"/>
              </a:spcBef>
              <a:spcAft>
                <a:spcPts val="0"/>
              </a:spcAft>
              <a:buClr>
                <a:srgbClr val="7F7F95"/>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2" name="Google Shape;32;p8"/>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55600" lvl="0" marL="457200" algn="l">
              <a:lnSpc>
                <a:spcPct val="150000"/>
              </a:lnSpc>
              <a:spcBef>
                <a:spcPts val="1000"/>
              </a:spcBef>
              <a:spcAft>
                <a:spcPts val="0"/>
              </a:spcAft>
              <a:buClr>
                <a:schemeClr val="dk2"/>
              </a:buClr>
              <a:buSzPts val="2000"/>
              <a:buChar char="•"/>
              <a:defRPr>
                <a:solidFill>
                  <a:schemeClr val="dk2"/>
                </a:solidFill>
                <a:latin typeface="Arial"/>
                <a:ea typeface="Arial"/>
                <a:cs typeface="Arial"/>
                <a:sym typeface="Arial"/>
              </a:defRPr>
            </a:lvl1pPr>
            <a:lvl2pPr indent="-355600" lvl="1" marL="914400" algn="l">
              <a:lnSpc>
                <a:spcPct val="150000"/>
              </a:lnSpc>
              <a:spcBef>
                <a:spcPts val="500"/>
              </a:spcBef>
              <a:spcAft>
                <a:spcPts val="0"/>
              </a:spcAft>
              <a:buClr>
                <a:schemeClr val="dk2"/>
              </a:buClr>
              <a:buSzPts val="2000"/>
              <a:buChar char="•"/>
              <a:defRPr>
                <a:solidFill>
                  <a:schemeClr val="dk2"/>
                </a:solidFill>
                <a:latin typeface="Arial"/>
                <a:ea typeface="Arial"/>
                <a:cs typeface="Arial"/>
                <a:sym typeface="Arial"/>
              </a:defRPr>
            </a:lvl2pPr>
            <a:lvl3pPr indent="-355600" lvl="2" marL="1371600" algn="l">
              <a:lnSpc>
                <a:spcPct val="150000"/>
              </a:lnSpc>
              <a:spcBef>
                <a:spcPts val="500"/>
              </a:spcBef>
              <a:spcAft>
                <a:spcPts val="0"/>
              </a:spcAft>
              <a:buClr>
                <a:schemeClr val="dk2"/>
              </a:buClr>
              <a:buSzPts val="2000"/>
              <a:buChar char="•"/>
              <a:defRPr>
                <a:solidFill>
                  <a:schemeClr val="dk2"/>
                </a:solidFill>
                <a:latin typeface="Arial"/>
                <a:ea typeface="Arial"/>
                <a:cs typeface="Arial"/>
                <a:sym typeface="Arial"/>
              </a:defRPr>
            </a:lvl3pPr>
            <a:lvl4pPr indent="-355600" lvl="3" marL="1828800" algn="l">
              <a:lnSpc>
                <a:spcPct val="150000"/>
              </a:lnSpc>
              <a:spcBef>
                <a:spcPts val="500"/>
              </a:spcBef>
              <a:spcAft>
                <a:spcPts val="0"/>
              </a:spcAft>
              <a:buClr>
                <a:schemeClr val="dk2"/>
              </a:buClr>
              <a:buSzPts val="2000"/>
              <a:buChar char="•"/>
              <a:defRPr>
                <a:solidFill>
                  <a:schemeClr val="dk2"/>
                </a:solidFill>
                <a:latin typeface="Arial"/>
                <a:ea typeface="Arial"/>
                <a:cs typeface="Arial"/>
                <a:sym typeface="Arial"/>
              </a:defRPr>
            </a:lvl4pPr>
            <a:lvl5pPr indent="-355600" lvl="4" marL="2286000" algn="l">
              <a:lnSpc>
                <a:spcPct val="150000"/>
              </a:lnSpc>
              <a:spcBef>
                <a:spcPts val="500"/>
              </a:spcBef>
              <a:spcAft>
                <a:spcPts val="0"/>
              </a:spcAft>
              <a:buClr>
                <a:schemeClr val="dk2"/>
              </a:buClr>
              <a:buSzPts val="2000"/>
              <a:buChar char="•"/>
              <a:defRPr>
                <a:solidFill>
                  <a:schemeClr val="dk2"/>
                </a:solidFill>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8"/>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150000"/>
              </a:lnSpc>
              <a:spcBef>
                <a:spcPts val="1000"/>
              </a:spcBef>
              <a:spcAft>
                <a:spcPts val="0"/>
              </a:spcAft>
              <a:buClr>
                <a:schemeClr val="accent1"/>
              </a:buClr>
              <a:buSzPts val="2400"/>
              <a:buNone/>
              <a:defRPr b="0" sz="2400">
                <a:solidFill>
                  <a:schemeClr val="accent1"/>
                </a:solidFill>
                <a:latin typeface="Arial"/>
                <a:ea typeface="Arial"/>
                <a:cs typeface="Arial"/>
                <a:sym typeface="Arial"/>
              </a:defRPr>
            </a:lvl1pPr>
            <a:lvl2pPr indent="-228600" lvl="1" marL="914400" algn="l">
              <a:lnSpc>
                <a:spcPct val="150000"/>
              </a:lnSpc>
              <a:spcBef>
                <a:spcPts val="500"/>
              </a:spcBef>
              <a:spcAft>
                <a:spcPts val="0"/>
              </a:spcAft>
              <a:buClr>
                <a:srgbClr val="7F7F95"/>
              </a:buClr>
              <a:buSzPts val="2000"/>
              <a:buNone/>
              <a:defRPr b="1" sz="2000"/>
            </a:lvl2pPr>
            <a:lvl3pPr indent="-228600" lvl="2" marL="1371600" algn="l">
              <a:lnSpc>
                <a:spcPct val="150000"/>
              </a:lnSpc>
              <a:spcBef>
                <a:spcPts val="500"/>
              </a:spcBef>
              <a:spcAft>
                <a:spcPts val="0"/>
              </a:spcAft>
              <a:buClr>
                <a:srgbClr val="7F7F95"/>
              </a:buClr>
              <a:buSzPts val="1800"/>
              <a:buNone/>
              <a:defRPr b="1" sz="1800"/>
            </a:lvl3pPr>
            <a:lvl4pPr indent="-228600" lvl="3" marL="1828800" algn="l">
              <a:lnSpc>
                <a:spcPct val="150000"/>
              </a:lnSpc>
              <a:spcBef>
                <a:spcPts val="500"/>
              </a:spcBef>
              <a:spcAft>
                <a:spcPts val="0"/>
              </a:spcAft>
              <a:buClr>
                <a:srgbClr val="7F7F95"/>
              </a:buClr>
              <a:buSzPts val="1600"/>
              <a:buNone/>
              <a:defRPr b="1" sz="1600"/>
            </a:lvl4pPr>
            <a:lvl5pPr indent="-228600" lvl="4" marL="2286000" algn="l">
              <a:lnSpc>
                <a:spcPct val="150000"/>
              </a:lnSpc>
              <a:spcBef>
                <a:spcPts val="500"/>
              </a:spcBef>
              <a:spcAft>
                <a:spcPts val="0"/>
              </a:spcAft>
              <a:buClr>
                <a:srgbClr val="7F7F95"/>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4" name="Google Shape;34;p8"/>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55600" lvl="0" marL="457200" algn="l">
              <a:lnSpc>
                <a:spcPct val="150000"/>
              </a:lnSpc>
              <a:spcBef>
                <a:spcPts val="1000"/>
              </a:spcBef>
              <a:spcAft>
                <a:spcPts val="0"/>
              </a:spcAft>
              <a:buClr>
                <a:schemeClr val="dk2"/>
              </a:buClr>
              <a:buSzPts val="2000"/>
              <a:buChar char="•"/>
              <a:defRPr>
                <a:solidFill>
                  <a:schemeClr val="dk2"/>
                </a:solidFill>
                <a:latin typeface="Arial"/>
                <a:ea typeface="Arial"/>
                <a:cs typeface="Arial"/>
                <a:sym typeface="Arial"/>
              </a:defRPr>
            </a:lvl1pPr>
            <a:lvl2pPr indent="-355600" lvl="1" marL="914400" algn="l">
              <a:lnSpc>
                <a:spcPct val="150000"/>
              </a:lnSpc>
              <a:spcBef>
                <a:spcPts val="500"/>
              </a:spcBef>
              <a:spcAft>
                <a:spcPts val="0"/>
              </a:spcAft>
              <a:buClr>
                <a:schemeClr val="dk2"/>
              </a:buClr>
              <a:buSzPts val="2000"/>
              <a:buChar char="•"/>
              <a:defRPr>
                <a:solidFill>
                  <a:schemeClr val="dk2"/>
                </a:solidFill>
                <a:latin typeface="Arial"/>
                <a:ea typeface="Arial"/>
                <a:cs typeface="Arial"/>
                <a:sym typeface="Arial"/>
              </a:defRPr>
            </a:lvl2pPr>
            <a:lvl3pPr indent="-355600" lvl="2" marL="1371600" algn="l">
              <a:lnSpc>
                <a:spcPct val="150000"/>
              </a:lnSpc>
              <a:spcBef>
                <a:spcPts val="500"/>
              </a:spcBef>
              <a:spcAft>
                <a:spcPts val="0"/>
              </a:spcAft>
              <a:buClr>
                <a:schemeClr val="dk2"/>
              </a:buClr>
              <a:buSzPts val="2000"/>
              <a:buChar char="•"/>
              <a:defRPr>
                <a:solidFill>
                  <a:schemeClr val="dk2"/>
                </a:solidFill>
                <a:latin typeface="Arial"/>
                <a:ea typeface="Arial"/>
                <a:cs typeface="Arial"/>
                <a:sym typeface="Arial"/>
              </a:defRPr>
            </a:lvl3pPr>
            <a:lvl4pPr indent="-355600" lvl="3" marL="1828800" algn="l">
              <a:lnSpc>
                <a:spcPct val="150000"/>
              </a:lnSpc>
              <a:spcBef>
                <a:spcPts val="500"/>
              </a:spcBef>
              <a:spcAft>
                <a:spcPts val="0"/>
              </a:spcAft>
              <a:buClr>
                <a:schemeClr val="dk2"/>
              </a:buClr>
              <a:buSzPts val="2000"/>
              <a:buChar char="•"/>
              <a:defRPr>
                <a:solidFill>
                  <a:schemeClr val="dk2"/>
                </a:solidFill>
                <a:latin typeface="Arial"/>
                <a:ea typeface="Arial"/>
                <a:cs typeface="Arial"/>
                <a:sym typeface="Arial"/>
              </a:defRPr>
            </a:lvl4pPr>
            <a:lvl5pPr indent="-355600" lvl="4" marL="2286000" algn="l">
              <a:lnSpc>
                <a:spcPct val="150000"/>
              </a:lnSpc>
              <a:spcBef>
                <a:spcPts val="500"/>
              </a:spcBef>
              <a:spcAft>
                <a:spcPts val="0"/>
              </a:spcAft>
              <a:buClr>
                <a:schemeClr val="dk2"/>
              </a:buClr>
              <a:buSzPts val="2000"/>
              <a:buChar char="•"/>
              <a:defRPr>
                <a:solidFill>
                  <a:schemeClr val="dk2"/>
                </a:solidFill>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35" name="Google Shape;35;p8"/>
          <p:cNvCxnSpPr/>
          <p:nvPr/>
        </p:nvCxnSpPr>
        <p:spPr>
          <a:xfrm>
            <a:off x="838200" y="1690689"/>
            <a:ext cx="10515600" cy="0"/>
          </a:xfrm>
          <a:prstGeom prst="straightConnector1">
            <a:avLst/>
          </a:prstGeom>
          <a:noFill/>
          <a:ln cap="flat" cmpd="sng" w="19050">
            <a:solidFill>
              <a:schemeClr val="accent6"/>
            </a:solidFill>
            <a:prstDash val="solid"/>
            <a:miter lim="800000"/>
            <a:headEnd len="sm" w="sm" type="none"/>
            <a:tailEnd len="sm" w="sm" type="none"/>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6" name="Shape 36"/>
        <p:cNvGrpSpPr/>
        <p:nvPr/>
      </p:nvGrpSpPr>
      <p:grpSpPr>
        <a:xfrm>
          <a:off x="0" y="0"/>
          <a:ext cx="0" cy="0"/>
          <a:chOff x="0" y="0"/>
          <a:chExt cx="0" cy="0"/>
        </a:xfrm>
      </p:grpSpPr>
      <p:sp>
        <p:nvSpPr>
          <p:cNvPr id="37" name="Google Shape;37;p6"/>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accent2"/>
              </a:buClr>
              <a:buSzPts val="6000"/>
              <a:buFont typeface="Arial Black"/>
              <a:buNone/>
              <a:defRPr b="1" sz="6000">
                <a:latin typeface="Arial Black"/>
                <a:ea typeface="Arial Black"/>
                <a:cs typeface="Arial Black"/>
                <a:sym typeface="Arial Black"/>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6"/>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150000"/>
              </a:lnSpc>
              <a:spcBef>
                <a:spcPts val="1000"/>
              </a:spcBef>
              <a:spcAft>
                <a:spcPts val="0"/>
              </a:spcAft>
              <a:buClr>
                <a:schemeClr val="dk2"/>
              </a:buClr>
              <a:buSzPts val="2400"/>
              <a:buNone/>
              <a:defRPr sz="2400">
                <a:solidFill>
                  <a:schemeClr val="dk2"/>
                </a:solidFill>
                <a:latin typeface="Arial"/>
                <a:ea typeface="Arial"/>
                <a:cs typeface="Arial"/>
                <a:sym typeface="Arial"/>
              </a:defRPr>
            </a:lvl1pPr>
            <a:lvl2pPr indent="-228600" lvl="1" marL="914400" algn="l">
              <a:lnSpc>
                <a:spcPct val="150000"/>
              </a:lnSpc>
              <a:spcBef>
                <a:spcPts val="500"/>
              </a:spcBef>
              <a:spcAft>
                <a:spcPts val="0"/>
              </a:spcAft>
              <a:buClr>
                <a:srgbClr val="888989"/>
              </a:buClr>
              <a:buSzPts val="2000"/>
              <a:buNone/>
              <a:defRPr sz="2000">
                <a:solidFill>
                  <a:srgbClr val="888989"/>
                </a:solidFill>
              </a:defRPr>
            </a:lvl2pPr>
            <a:lvl3pPr indent="-228600" lvl="2" marL="1371600" algn="l">
              <a:lnSpc>
                <a:spcPct val="150000"/>
              </a:lnSpc>
              <a:spcBef>
                <a:spcPts val="500"/>
              </a:spcBef>
              <a:spcAft>
                <a:spcPts val="0"/>
              </a:spcAft>
              <a:buClr>
                <a:srgbClr val="888989"/>
              </a:buClr>
              <a:buSzPts val="1800"/>
              <a:buNone/>
              <a:defRPr sz="1800">
                <a:solidFill>
                  <a:srgbClr val="888989"/>
                </a:solidFill>
              </a:defRPr>
            </a:lvl3pPr>
            <a:lvl4pPr indent="-228600" lvl="3" marL="1828800" algn="l">
              <a:lnSpc>
                <a:spcPct val="150000"/>
              </a:lnSpc>
              <a:spcBef>
                <a:spcPts val="500"/>
              </a:spcBef>
              <a:spcAft>
                <a:spcPts val="0"/>
              </a:spcAft>
              <a:buClr>
                <a:srgbClr val="888989"/>
              </a:buClr>
              <a:buSzPts val="1600"/>
              <a:buNone/>
              <a:defRPr sz="1600">
                <a:solidFill>
                  <a:srgbClr val="888989"/>
                </a:solidFill>
              </a:defRPr>
            </a:lvl4pPr>
            <a:lvl5pPr indent="-228600" lvl="4" marL="2286000" algn="l">
              <a:lnSpc>
                <a:spcPct val="150000"/>
              </a:lnSpc>
              <a:spcBef>
                <a:spcPts val="500"/>
              </a:spcBef>
              <a:spcAft>
                <a:spcPts val="0"/>
              </a:spcAft>
              <a:buClr>
                <a:srgbClr val="888989"/>
              </a:buClr>
              <a:buSzPts val="1600"/>
              <a:buNone/>
              <a:defRPr sz="1600">
                <a:solidFill>
                  <a:srgbClr val="888989"/>
                </a:solidFill>
              </a:defRPr>
            </a:lvl5pPr>
            <a:lvl6pPr indent="-228600" lvl="5" marL="2743200" algn="l">
              <a:lnSpc>
                <a:spcPct val="90000"/>
              </a:lnSpc>
              <a:spcBef>
                <a:spcPts val="500"/>
              </a:spcBef>
              <a:spcAft>
                <a:spcPts val="0"/>
              </a:spcAft>
              <a:buClr>
                <a:srgbClr val="888989"/>
              </a:buClr>
              <a:buSzPts val="1600"/>
              <a:buNone/>
              <a:defRPr sz="1600">
                <a:solidFill>
                  <a:srgbClr val="888989"/>
                </a:solidFill>
              </a:defRPr>
            </a:lvl6pPr>
            <a:lvl7pPr indent="-228600" lvl="6" marL="3200400" algn="l">
              <a:lnSpc>
                <a:spcPct val="90000"/>
              </a:lnSpc>
              <a:spcBef>
                <a:spcPts val="500"/>
              </a:spcBef>
              <a:spcAft>
                <a:spcPts val="0"/>
              </a:spcAft>
              <a:buClr>
                <a:srgbClr val="888989"/>
              </a:buClr>
              <a:buSzPts val="1600"/>
              <a:buNone/>
              <a:defRPr sz="1600">
                <a:solidFill>
                  <a:srgbClr val="888989"/>
                </a:solidFill>
              </a:defRPr>
            </a:lvl7pPr>
            <a:lvl8pPr indent="-228600" lvl="7" marL="3657600" algn="l">
              <a:lnSpc>
                <a:spcPct val="90000"/>
              </a:lnSpc>
              <a:spcBef>
                <a:spcPts val="500"/>
              </a:spcBef>
              <a:spcAft>
                <a:spcPts val="0"/>
              </a:spcAft>
              <a:buClr>
                <a:srgbClr val="888989"/>
              </a:buClr>
              <a:buSzPts val="1600"/>
              <a:buNone/>
              <a:defRPr sz="1600">
                <a:solidFill>
                  <a:srgbClr val="888989"/>
                </a:solidFill>
              </a:defRPr>
            </a:lvl8pPr>
            <a:lvl9pPr indent="-228600" lvl="8" marL="4114800" algn="l">
              <a:lnSpc>
                <a:spcPct val="90000"/>
              </a:lnSpc>
              <a:spcBef>
                <a:spcPts val="500"/>
              </a:spcBef>
              <a:spcAft>
                <a:spcPts val="0"/>
              </a:spcAft>
              <a:buClr>
                <a:srgbClr val="888989"/>
              </a:buClr>
              <a:buSzPts val="1600"/>
              <a:buNone/>
              <a:defRPr sz="1600">
                <a:solidFill>
                  <a:srgbClr val="888989"/>
                </a:solidFill>
              </a:defRPr>
            </a:lvl9pPr>
          </a:lstStyle>
          <a:p/>
        </p:txBody>
      </p:sp>
      <p:cxnSp>
        <p:nvCxnSpPr>
          <p:cNvPr id="39" name="Google Shape;39;p6"/>
          <p:cNvCxnSpPr/>
          <p:nvPr/>
        </p:nvCxnSpPr>
        <p:spPr>
          <a:xfrm>
            <a:off x="831850" y="4571932"/>
            <a:ext cx="10515600" cy="0"/>
          </a:xfrm>
          <a:prstGeom prst="straightConnector1">
            <a:avLst/>
          </a:prstGeom>
          <a:noFill/>
          <a:ln cap="flat" cmpd="sng" w="19050">
            <a:solidFill>
              <a:schemeClr val="accent6"/>
            </a:solidFill>
            <a:prstDash val="solid"/>
            <a:miter lim="800000"/>
            <a:headEnd len="sm" w="sm" type="none"/>
            <a:tailEnd len="sm" w="sm" type="none"/>
          </a:ln>
        </p:spPr>
      </p:cxn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40" name="Shape 40"/>
        <p:cNvGrpSpPr/>
        <p:nvPr/>
      </p:nvGrpSpPr>
      <p:grpSpPr>
        <a:xfrm>
          <a:off x="0" y="0"/>
          <a:ext cx="0" cy="0"/>
          <a:chOff x="0" y="0"/>
          <a:chExt cx="0" cy="0"/>
        </a:xfrm>
      </p:grpSpPr>
      <p:sp>
        <p:nvSpPr>
          <p:cNvPr id="41" name="Google Shape;41;p4"/>
          <p:cNvSpPr txBox="1"/>
          <p:nvPr>
            <p:ph type="ctrTitle"/>
          </p:nvPr>
        </p:nvSpPr>
        <p:spPr>
          <a:xfrm>
            <a:off x="762000" y="1122363"/>
            <a:ext cx="10668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accent1"/>
              </a:buClr>
              <a:buSzPts val="7200"/>
              <a:buFont typeface="Georgia"/>
              <a:buNone/>
              <a:defRPr b="1" sz="7200">
                <a:solidFill>
                  <a:schemeClr val="accent1"/>
                </a:solidFill>
                <a:latin typeface="Georgia"/>
                <a:ea typeface="Georgia"/>
                <a:cs typeface="Georgia"/>
                <a:sym typeface="Georgi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4"/>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150000"/>
              </a:lnSpc>
              <a:spcBef>
                <a:spcPts val="1000"/>
              </a:spcBef>
              <a:spcAft>
                <a:spcPts val="0"/>
              </a:spcAft>
              <a:buClr>
                <a:schemeClr val="accent2"/>
              </a:buClr>
              <a:buSzPts val="2400"/>
              <a:buNone/>
              <a:defRPr b="0" sz="2400">
                <a:solidFill>
                  <a:schemeClr val="accent2"/>
                </a:solidFill>
                <a:latin typeface="Arial Narrow"/>
                <a:ea typeface="Arial Narrow"/>
                <a:cs typeface="Arial Narrow"/>
                <a:sym typeface="Arial Narrow"/>
              </a:defRPr>
            </a:lvl1pPr>
            <a:lvl2pPr lvl="1" algn="ctr">
              <a:lnSpc>
                <a:spcPct val="150000"/>
              </a:lnSpc>
              <a:spcBef>
                <a:spcPts val="500"/>
              </a:spcBef>
              <a:spcAft>
                <a:spcPts val="0"/>
              </a:spcAft>
              <a:buClr>
                <a:srgbClr val="7F7F95"/>
              </a:buClr>
              <a:buSzPts val="2000"/>
              <a:buNone/>
              <a:defRPr sz="2000"/>
            </a:lvl2pPr>
            <a:lvl3pPr lvl="2" algn="ctr">
              <a:lnSpc>
                <a:spcPct val="150000"/>
              </a:lnSpc>
              <a:spcBef>
                <a:spcPts val="500"/>
              </a:spcBef>
              <a:spcAft>
                <a:spcPts val="0"/>
              </a:spcAft>
              <a:buClr>
                <a:srgbClr val="7F7F95"/>
              </a:buClr>
              <a:buSzPts val="1800"/>
              <a:buNone/>
              <a:defRPr sz="1800"/>
            </a:lvl3pPr>
            <a:lvl4pPr lvl="3" algn="ctr">
              <a:lnSpc>
                <a:spcPct val="150000"/>
              </a:lnSpc>
              <a:spcBef>
                <a:spcPts val="500"/>
              </a:spcBef>
              <a:spcAft>
                <a:spcPts val="0"/>
              </a:spcAft>
              <a:buClr>
                <a:srgbClr val="7F7F95"/>
              </a:buClr>
              <a:buSzPts val="1600"/>
              <a:buNone/>
              <a:defRPr sz="1600"/>
            </a:lvl4pPr>
            <a:lvl5pPr lvl="4" algn="ctr">
              <a:lnSpc>
                <a:spcPct val="150000"/>
              </a:lnSpc>
              <a:spcBef>
                <a:spcPts val="500"/>
              </a:spcBef>
              <a:spcAft>
                <a:spcPts val="0"/>
              </a:spcAft>
              <a:buClr>
                <a:srgbClr val="7F7F95"/>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cxnSp>
        <p:nvCxnSpPr>
          <p:cNvPr id="43" name="Google Shape;43;p4"/>
          <p:cNvCxnSpPr/>
          <p:nvPr/>
        </p:nvCxnSpPr>
        <p:spPr>
          <a:xfrm>
            <a:off x="838200" y="3539590"/>
            <a:ext cx="10515600" cy="0"/>
          </a:xfrm>
          <a:prstGeom prst="straightConnector1">
            <a:avLst/>
          </a:prstGeom>
          <a:noFill/>
          <a:ln cap="flat" cmpd="sng" w="19050">
            <a:solidFill>
              <a:schemeClr val="accent6"/>
            </a:solidFill>
            <a:prstDash val="solid"/>
            <a:miter lim="800000"/>
            <a:headEnd len="sm" w="sm" type="none"/>
            <a:tailEnd len="sm" w="sm" type="none"/>
          </a:ln>
        </p:spPr>
      </p:cxn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4" name="Shape 44"/>
        <p:cNvGrpSpPr/>
        <p:nvPr/>
      </p:nvGrpSpPr>
      <p:grpSpPr>
        <a:xfrm>
          <a:off x="0" y="0"/>
          <a:ext cx="0" cy="0"/>
          <a:chOff x="0" y="0"/>
          <a:chExt cx="0" cy="0"/>
        </a:xfrm>
      </p:grpSpPr>
      <p:sp>
        <p:nvSpPr>
          <p:cNvPr id="45" name="Google Shape;45;p7"/>
          <p:cNvSpPr txBox="1"/>
          <p:nvPr>
            <p:ph type="title"/>
          </p:nvPr>
        </p:nvSpPr>
        <p:spPr>
          <a:xfrm>
            <a:off x="838200" y="261607"/>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accent2"/>
              </a:buClr>
              <a:buSzPts val="4400"/>
              <a:buFont typeface="Arial Black"/>
              <a:buNone/>
              <a:defRPr b="1">
                <a:latin typeface="Arial Black"/>
                <a:ea typeface="Arial Black"/>
                <a:cs typeface="Arial Black"/>
                <a:sym typeface="Arial Black"/>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7"/>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55600" lvl="0" marL="457200" algn="l">
              <a:lnSpc>
                <a:spcPct val="150000"/>
              </a:lnSpc>
              <a:spcBef>
                <a:spcPts val="1000"/>
              </a:spcBef>
              <a:spcAft>
                <a:spcPts val="0"/>
              </a:spcAft>
              <a:buClr>
                <a:schemeClr val="dk2"/>
              </a:buClr>
              <a:buSzPts val="2000"/>
              <a:buChar char="•"/>
              <a:defRPr>
                <a:solidFill>
                  <a:schemeClr val="dk2"/>
                </a:solidFill>
                <a:latin typeface="Arial"/>
                <a:ea typeface="Arial"/>
                <a:cs typeface="Arial"/>
                <a:sym typeface="Arial"/>
              </a:defRPr>
            </a:lvl1pPr>
            <a:lvl2pPr indent="-355600" lvl="1" marL="914400" algn="l">
              <a:lnSpc>
                <a:spcPct val="150000"/>
              </a:lnSpc>
              <a:spcBef>
                <a:spcPts val="500"/>
              </a:spcBef>
              <a:spcAft>
                <a:spcPts val="0"/>
              </a:spcAft>
              <a:buClr>
                <a:schemeClr val="dk2"/>
              </a:buClr>
              <a:buSzPts val="2000"/>
              <a:buChar char="•"/>
              <a:defRPr>
                <a:solidFill>
                  <a:schemeClr val="dk2"/>
                </a:solidFill>
                <a:latin typeface="Arial"/>
                <a:ea typeface="Arial"/>
                <a:cs typeface="Arial"/>
                <a:sym typeface="Arial"/>
              </a:defRPr>
            </a:lvl2pPr>
            <a:lvl3pPr indent="-355600" lvl="2" marL="1371600" algn="l">
              <a:lnSpc>
                <a:spcPct val="150000"/>
              </a:lnSpc>
              <a:spcBef>
                <a:spcPts val="500"/>
              </a:spcBef>
              <a:spcAft>
                <a:spcPts val="0"/>
              </a:spcAft>
              <a:buClr>
                <a:schemeClr val="dk2"/>
              </a:buClr>
              <a:buSzPts val="2000"/>
              <a:buChar char="•"/>
              <a:defRPr>
                <a:solidFill>
                  <a:schemeClr val="dk2"/>
                </a:solidFill>
                <a:latin typeface="Arial"/>
                <a:ea typeface="Arial"/>
                <a:cs typeface="Arial"/>
                <a:sym typeface="Arial"/>
              </a:defRPr>
            </a:lvl3pPr>
            <a:lvl4pPr indent="-355600" lvl="3" marL="1828800" algn="l">
              <a:lnSpc>
                <a:spcPct val="150000"/>
              </a:lnSpc>
              <a:spcBef>
                <a:spcPts val="500"/>
              </a:spcBef>
              <a:spcAft>
                <a:spcPts val="0"/>
              </a:spcAft>
              <a:buClr>
                <a:schemeClr val="dk2"/>
              </a:buClr>
              <a:buSzPts val="2000"/>
              <a:buChar char="•"/>
              <a:defRPr>
                <a:solidFill>
                  <a:schemeClr val="dk2"/>
                </a:solidFill>
                <a:latin typeface="Arial"/>
                <a:ea typeface="Arial"/>
                <a:cs typeface="Arial"/>
                <a:sym typeface="Arial"/>
              </a:defRPr>
            </a:lvl4pPr>
            <a:lvl5pPr indent="-355600" lvl="4" marL="2286000" algn="l">
              <a:lnSpc>
                <a:spcPct val="150000"/>
              </a:lnSpc>
              <a:spcBef>
                <a:spcPts val="500"/>
              </a:spcBef>
              <a:spcAft>
                <a:spcPts val="0"/>
              </a:spcAft>
              <a:buClr>
                <a:schemeClr val="dk2"/>
              </a:buClr>
              <a:buSzPts val="2000"/>
              <a:buChar char="•"/>
              <a:defRPr>
                <a:solidFill>
                  <a:schemeClr val="dk2"/>
                </a:solidFill>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7" name="Google Shape;47;p7"/>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55600" lvl="0" marL="457200" algn="l">
              <a:lnSpc>
                <a:spcPct val="150000"/>
              </a:lnSpc>
              <a:spcBef>
                <a:spcPts val="1000"/>
              </a:spcBef>
              <a:spcAft>
                <a:spcPts val="0"/>
              </a:spcAft>
              <a:buClr>
                <a:schemeClr val="dk2"/>
              </a:buClr>
              <a:buSzPts val="2000"/>
              <a:buChar char="•"/>
              <a:defRPr>
                <a:solidFill>
                  <a:schemeClr val="dk2"/>
                </a:solidFill>
                <a:latin typeface="Arial"/>
                <a:ea typeface="Arial"/>
                <a:cs typeface="Arial"/>
                <a:sym typeface="Arial"/>
              </a:defRPr>
            </a:lvl1pPr>
            <a:lvl2pPr indent="-355600" lvl="1" marL="914400" algn="l">
              <a:lnSpc>
                <a:spcPct val="150000"/>
              </a:lnSpc>
              <a:spcBef>
                <a:spcPts val="500"/>
              </a:spcBef>
              <a:spcAft>
                <a:spcPts val="0"/>
              </a:spcAft>
              <a:buClr>
                <a:schemeClr val="dk2"/>
              </a:buClr>
              <a:buSzPts val="2000"/>
              <a:buChar char="•"/>
              <a:defRPr>
                <a:solidFill>
                  <a:schemeClr val="dk2"/>
                </a:solidFill>
                <a:latin typeface="Arial"/>
                <a:ea typeface="Arial"/>
                <a:cs typeface="Arial"/>
                <a:sym typeface="Arial"/>
              </a:defRPr>
            </a:lvl2pPr>
            <a:lvl3pPr indent="-355600" lvl="2" marL="1371600" algn="l">
              <a:lnSpc>
                <a:spcPct val="150000"/>
              </a:lnSpc>
              <a:spcBef>
                <a:spcPts val="500"/>
              </a:spcBef>
              <a:spcAft>
                <a:spcPts val="0"/>
              </a:spcAft>
              <a:buClr>
                <a:schemeClr val="dk2"/>
              </a:buClr>
              <a:buSzPts val="2000"/>
              <a:buChar char="•"/>
              <a:defRPr>
                <a:solidFill>
                  <a:schemeClr val="dk2"/>
                </a:solidFill>
                <a:latin typeface="Arial"/>
                <a:ea typeface="Arial"/>
                <a:cs typeface="Arial"/>
                <a:sym typeface="Arial"/>
              </a:defRPr>
            </a:lvl3pPr>
            <a:lvl4pPr indent="-355600" lvl="3" marL="1828800" algn="l">
              <a:lnSpc>
                <a:spcPct val="150000"/>
              </a:lnSpc>
              <a:spcBef>
                <a:spcPts val="500"/>
              </a:spcBef>
              <a:spcAft>
                <a:spcPts val="0"/>
              </a:spcAft>
              <a:buClr>
                <a:schemeClr val="dk2"/>
              </a:buClr>
              <a:buSzPts val="2000"/>
              <a:buChar char="•"/>
              <a:defRPr>
                <a:solidFill>
                  <a:schemeClr val="dk2"/>
                </a:solidFill>
                <a:latin typeface="Arial"/>
                <a:ea typeface="Arial"/>
                <a:cs typeface="Arial"/>
                <a:sym typeface="Arial"/>
              </a:defRPr>
            </a:lvl4pPr>
            <a:lvl5pPr indent="-355600" lvl="4" marL="2286000" algn="l">
              <a:lnSpc>
                <a:spcPct val="150000"/>
              </a:lnSpc>
              <a:spcBef>
                <a:spcPts val="500"/>
              </a:spcBef>
              <a:spcAft>
                <a:spcPts val="0"/>
              </a:spcAft>
              <a:buClr>
                <a:schemeClr val="dk2"/>
              </a:buClr>
              <a:buSzPts val="2000"/>
              <a:buChar char="•"/>
              <a:defRPr>
                <a:solidFill>
                  <a:schemeClr val="dk2"/>
                </a:solidFill>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48" name="Google Shape;48;p7"/>
          <p:cNvCxnSpPr/>
          <p:nvPr/>
        </p:nvCxnSpPr>
        <p:spPr>
          <a:xfrm>
            <a:off x="838200" y="1690689"/>
            <a:ext cx="10515600" cy="0"/>
          </a:xfrm>
          <a:prstGeom prst="straightConnector1">
            <a:avLst/>
          </a:prstGeom>
          <a:noFill/>
          <a:ln cap="flat" cmpd="sng" w="19050">
            <a:solidFill>
              <a:schemeClr val="accent6"/>
            </a:solidFill>
            <a:prstDash val="solid"/>
            <a:miter lim="800000"/>
            <a:headEnd len="sm" w="sm" type="none"/>
            <a:tailEnd len="sm" w="sm" type="none"/>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49" name="Shape 49"/>
        <p:cNvGrpSpPr/>
        <p:nvPr/>
      </p:nvGrpSpPr>
      <p:grpSpPr>
        <a:xfrm>
          <a:off x="0" y="0"/>
          <a:ext cx="0" cy="0"/>
          <a:chOff x="0" y="0"/>
          <a:chExt cx="0" cy="0"/>
        </a:xfrm>
      </p:grpSpPr>
      <p:sp>
        <p:nvSpPr>
          <p:cNvPr id="50" name="Google Shape;50;p11"/>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accent2"/>
              </a:buClr>
              <a:buSzPts val="3200"/>
              <a:buFont typeface="Arial Black"/>
              <a:buNone/>
              <a:defRPr b="1" sz="3200">
                <a:solidFill>
                  <a:schemeClr val="accent2"/>
                </a:solidFill>
                <a:latin typeface="Arial Black"/>
                <a:ea typeface="Arial Black"/>
                <a:cs typeface="Arial Black"/>
                <a:sym typeface="Arial Black"/>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11"/>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150000"/>
              </a:lnSpc>
              <a:spcBef>
                <a:spcPts val="1000"/>
              </a:spcBef>
              <a:spcAft>
                <a:spcPts val="0"/>
              </a:spcAft>
              <a:buClr>
                <a:schemeClr val="dk2"/>
              </a:buClr>
              <a:buSzPts val="3200"/>
              <a:buChar char="•"/>
              <a:defRPr sz="3200">
                <a:solidFill>
                  <a:schemeClr val="dk2"/>
                </a:solidFill>
                <a:latin typeface="Arial"/>
                <a:ea typeface="Arial"/>
                <a:cs typeface="Arial"/>
                <a:sym typeface="Arial"/>
              </a:defRPr>
            </a:lvl1pPr>
            <a:lvl2pPr indent="-406400" lvl="1" marL="914400" algn="l">
              <a:lnSpc>
                <a:spcPct val="150000"/>
              </a:lnSpc>
              <a:spcBef>
                <a:spcPts val="500"/>
              </a:spcBef>
              <a:spcAft>
                <a:spcPts val="0"/>
              </a:spcAft>
              <a:buClr>
                <a:schemeClr val="dk2"/>
              </a:buClr>
              <a:buSzPts val="2800"/>
              <a:buChar char="•"/>
              <a:defRPr sz="2800">
                <a:solidFill>
                  <a:schemeClr val="dk2"/>
                </a:solidFill>
                <a:latin typeface="Arial"/>
                <a:ea typeface="Arial"/>
                <a:cs typeface="Arial"/>
                <a:sym typeface="Arial"/>
              </a:defRPr>
            </a:lvl2pPr>
            <a:lvl3pPr indent="-381000" lvl="2" marL="1371600" algn="l">
              <a:lnSpc>
                <a:spcPct val="150000"/>
              </a:lnSpc>
              <a:spcBef>
                <a:spcPts val="500"/>
              </a:spcBef>
              <a:spcAft>
                <a:spcPts val="0"/>
              </a:spcAft>
              <a:buClr>
                <a:schemeClr val="dk2"/>
              </a:buClr>
              <a:buSzPts val="2400"/>
              <a:buChar char="•"/>
              <a:defRPr sz="2400">
                <a:solidFill>
                  <a:schemeClr val="dk2"/>
                </a:solidFill>
                <a:latin typeface="Arial"/>
                <a:ea typeface="Arial"/>
                <a:cs typeface="Arial"/>
                <a:sym typeface="Arial"/>
              </a:defRPr>
            </a:lvl3pPr>
            <a:lvl4pPr indent="-355600" lvl="3" marL="1828800" algn="l">
              <a:lnSpc>
                <a:spcPct val="150000"/>
              </a:lnSpc>
              <a:spcBef>
                <a:spcPts val="500"/>
              </a:spcBef>
              <a:spcAft>
                <a:spcPts val="0"/>
              </a:spcAft>
              <a:buClr>
                <a:schemeClr val="dk2"/>
              </a:buClr>
              <a:buSzPts val="2000"/>
              <a:buChar char="•"/>
              <a:defRPr sz="2000">
                <a:solidFill>
                  <a:schemeClr val="dk2"/>
                </a:solidFill>
                <a:latin typeface="Arial"/>
                <a:ea typeface="Arial"/>
                <a:cs typeface="Arial"/>
                <a:sym typeface="Arial"/>
              </a:defRPr>
            </a:lvl4pPr>
            <a:lvl5pPr indent="-355600" lvl="4" marL="2286000" algn="l">
              <a:lnSpc>
                <a:spcPct val="150000"/>
              </a:lnSpc>
              <a:spcBef>
                <a:spcPts val="500"/>
              </a:spcBef>
              <a:spcAft>
                <a:spcPts val="0"/>
              </a:spcAft>
              <a:buClr>
                <a:schemeClr val="dk2"/>
              </a:buClr>
              <a:buSzPts val="2000"/>
              <a:buChar char="•"/>
              <a:defRPr sz="2000">
                <a:solidFill>
                  <a:schemeClr val="dk2"/>
                </a:solidFill>
                <a:latin typeface="Arial"/>
                <a:ea typeface="Arial"/>
                <a:cs typeface="Arial"/>
                <a:sym typeface="Arial"/>
              </a:defRPr>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2" name="Google Shape;52;p11"/>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150000"/>
              </a:lnSpc>
              <a:spcBef>
                <a:spcPts val="1000"/>
              </a:spcBef>
              <a:spcAft>
                <a:spcPts val="0"/>
              </a:spcAft>
              <a:buClr>
                <a:schemeClr val="dk2"/>
              </a:buClr>
              <a:buSzPts val="1600"/>
              <a:buNone/>
              <a:defRPr sz="1600">
                <a:solidFill>
                  <a:schemeClr val="dk2"/>
                </a:solidFill>
                <a:latin typeface="Arial"/>
                <a:ea typeface="Arial"/>
                <a:cs typeface="Arial"/>
                <a:sym typeface="Arial"/>
              </a:defRPr>
            </a:lvl1pPr>
            <a:lvl2pPr indent="-228600" lvl="1" marL="914400" algn="l">
              <a:lnSpc>
                <a:spcPct val="150000"/>
              </a:lnSpc>
              <a:spcBef>
                <a:spcPts val="500"/>
              </a:spcBef>
              <a:spcAft>
                <a:spcPts val="0"/>
              </a:spcAft>
              <a:buClr>
                <a:srgbClr val="7F7F95"/>
              </a:buClr>
              <a:buSzPts val="1400"/>
              <a:buNone/>
              <a:defRPr sz="1400"/>
            </a:lvl2pPr>
            <a:lvl3pPr indent="-228600" lvl="2" marL="1371600" algn="l">
              <a:lnSpc>
                <a:spcPct val="150000"/>
              </a:lnSpc>
              <a:spcBef>
                <a:spcPts val="500"/>
              </a:spcBef>
              <a:spcAft>
                <a:spcPts val="0"/>
              </a:spcAft>
              <a:buClr>
                <a:srgbClr val="7F7F95"/>
              </a:buClr>
              <a:buSzPts val="1200"/>
              <a:buNone/>
              <a:defRPr sz="1200"/>
            </a:lvl3pPr>
            <a:lvl4pPr indent="-228600" lvl="3" marL="1828800" algn="l">
              <a:lnSpc>
                <a:spcPct val="150000"/>
              </a:lnSpc>
              <a:spcBef>
                <a:spcPts val="500"/>
              </a:spcBef>
              <a:spcAft>
                <a:spcPts val="0"/>
              </a:spcAft>
              <a:buClr>
                <a:srgbClr val="7F7F95"/>
              </a:buClr>
              <a:buSzPts val="1000"/>
              <a:buNone/>
              <a:defRPr sz="1000"/>
            </a:lvl4pPr>
            <a:lvl5pPr indent="-228600" lvl="4" marL="2286000" algn="l">
              <a:lnSpc>
                <a:spcPct val="150000"/>
              </a:lnSpc>
              <a:spcBef>
                <a:spcPts val="500"/>
              </a:spcBef>
              <a:spcAft>
                <a:spcPts val="0"/>
              </a:spcAft>
              <a:buClr>
                <a:srgbClr val="7F7F95"/>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cxnSp>
        <p:nvCxnSpPr>
          <p:cNvPr id="53" name="Google Shape;53;p11"/>
          <p:cNvCxnSpPr/>
          <p:nvPr/>
        </p:nvCxnSpPr>
        <p:spPr>
          <a:xfrm>
            <a:off x="838200" y="2062481"/>
            <a:ext cx="3933825" cy="7482"/>
          </a:xfrm>
          <a:prstGeom prst="straightConnector1">
            <a:avLst/>
          </a:prstGeom>
          <a:noFill/>
          <a:ln cap="flat" cmpd="sng" w="19050">
            <a:solidFill>
              <a:schemeClr val="accent6"/>
            </a:solidFill>
            <a:prstDash val="solid"/>
            <a:miter lim="800000"/>
            <a:headEnd len="sm" w="sm" type="none"/>
            <a:tailEnd len="sm" w="sm" type="none"/>
          </a:ln>
        </p:spPr>
      </p:cxn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54" name="Shape 54"/>
        <p:cNvGrpSpPr/>
        <p:nvPr/>
      </p:nvGrpSpPr>
      <p:grpSpPr>
        <a:xfrm>
          <a:off x="0" y="0"/>
          <a:ext cx="0" cy="0"/>
          <a:chOff x="0" y="0"/>
          <a:chExt cx="0" cy="0"/>
        </a:xfrm>
      </p:grpSpPr>
      <p:sp>
        <p:nvSpPr>
          <p:cNvPr id="55" name="Google Shape;55;p13"/>
          <p:cNvSpPr txBox="1"/>
          <p:nvPr>
            <p:ph type="title"/>
          </p:nvPr>
        </p:nvSpPr>
        <p:spPr>
          <a:xfrm>
            <a:off x="838200" y="261607"/>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accent2"/>
              </a:buClr>
              <a:buSzPts val="4400"/>
              <a:buFont typeface="Arial Black"/>
              <a:buNone/>
              <a:defRPr b="0">
                <a:solidFill>
                  <a:schemeClr val="accent2"/>
                </a:solidFill>
                <a:latin typeface="Arial Black"/>
                <a:ea typeface="Arial Black"/>
                <a:cs typeface="Arial Black"/>
                <a:sym typeface="Arial Black"/>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13"/>
          <p:cNvSpPr txBox="1"/>
          <p:nvPr>
            <p:ph idx="1" type="body"/>
          </p:nvPr>
        </p:nvSpPr>
        <p:spPr>
          <a:xfrm rot="5400000">
            <a:off x="3920331" y="-1152988"/>
            <a:ext cx="4351338" cy="10515600"/>
          </a:xfrm>
          <a:prstGeom prst="rect">
            <a:avLst/>
          </a:prstGeom>
          <a:noFill/>
          <a:ln>
            <a:noFill/>
          </a:ln>
        </p:spPr>
        <p:txBody>
          <a:bodyPr anchorCtr="0" anchor="t" bIns="45700" lIns="91425" spcFirstLastPara="1" rIns="91425" wrap="square" tIns="45700">
            <a:normAutofit/>
          </a:bodyPr>
          <a:lstStyle>
            <a:lvl1pPr indent="-355600" lvl="0" marL="457200" algn="l">
              <a:lnSpc>
                <a:spcPct val="150000"/>
              </a:lnSpc>
              <a:spcBef>
                <a:spcPts val="1000"/>
              </a:spcBef>
              <a:spcAft>
                <a:spcPts val="0"/>
              </a:spcAft>
              <a:buClr>
                <a:schemeClr val="dk2"/>
              </a:buClr>
              <a:buSzPts val="2000"/>
              <a:buChar char="•"/>
              <a:defRPr>
                <a:solidFill>
                  <a:schemeClr val="dk2"/>
                </a:solidFill>
                <a:latin typeface="Arial"/>
                <a:ea typeface="Arial"/>
                <a:cs typeface="Arial"/>
                <a:sym typeface="Arial"/>
              </a:defRPr>
            </a:lvl1pPr>
            <a:lvl2pPr indent="-355600" lvl="1" marL="914400" algn="l">
              <a:lnSpc>
                <a:spcPct val="150000"/>
              </a:lnSpc>
              <a:spcBef>
                <a:spcPts val="500"/>
              </a:spcBef>
              <a:spcAft>
                <a:spcPts val="0"/>
              </a:spcAft>
              <a:buClr>
                <a:schemeClr val="dk2"/>
              </a:buClr>
              <a:buSzPts val="2000"/>
              <a:buChar char="•"/>
              <a:defRPr>
                <a:solidFill>
                  <a:schemeClr val="dk2"/>
                </a:solidFill>
                <a:latin typeface="Arial"/>
                <a:ea typeface="Arial"/>
                <a:cs typeface="Arial"/>
                <a:sym typeface="Arial"/>
              </a:defRPr>
            </a:lvl2pPr>
            <a:lvl3pPr indent="-355600" lvl="2" marL="1371600" algn="l">
              <a:lnSpc>
                <a:spcPct val="150000"/>
              </a:lnSpc>
              <a:spcBef>
                <a:spcPts val="500"/>
              </a:spcBef>
              <a:spcAft>
                <a:spcPts val="0"/>
              </a:spcAft>
              <a:buClr>
                <a:schemeClr val="dk2"/>
              </a:buClr>
              <a:buSzPts val="2000"/>
              <a:buChar char="•"/>
              <a:defRPr>
                <a:solidFill>
                  <a:schemeClr val="dk2"/>
                </a:solidFill>
                <a:latin typeface="Arial"/>
                <a:ea typeface="Arial"/>
                <a:cs typeface="Arial"/>
                <a:sym typeface="Arial"/>
              </a:defRPr>
            </a:lvl3pPr>
            <a:lvl4pPr indent="-355600" lvl="3" marL="1828800" algn="l">
              <a:lnSpc>
                <a:spcPct val="150000"/>
              </a:lnSpc>
              <a:spcBef>
                <a:spcPts val="500"/>
              </a:spcBef>
              <a:spcAft>
                <a:spcPts val="0"/>
              </a:spcAft>
              <a:buClr>
                <a:schemeClr val="dk2"/>
              </a:buClr>
              <a:buSzPts val="2000"/>
              <a:buChar char="•"/>
              <a:defRPr>
                <a:solidFill>
                  <a:schemeClr val="dk2"/>
                </a:solidFill>
                <a:latin typeface="Arial"/>
                <a:ea typeface="Arial"/>
                <a:cs typeface="Arial"/>
                <a:sym typeface="Arial"/>
              </a:defRPr>
            </a:lvl4pPr>
            <a:lvl5pPr indent="-355600" lvl="4" marL="2286000" algn="l">
              <a:lnSpc>
                <a:spcPct val="150000"/>
              </a:lnSpc>
              <a:spcBef>
                <a:spcPts val="500"/>
              </a:spcBef>
              <a:spcAft>
                <a:spcPts val="0"/>
              </a:spcAft>
              <a:buClr>
                <a:schemeClr val="dk2"/>
              </a:buClr>
              <a:buSzPts val="2000"/>
              <a:buChar char="•"/>
              <a:defRPr>
                <a:solidFill>
                  <a:schemeClr val="dk2"/>
                </a:solidFill>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57" name="Google Shape;57;p13"/>
          <p:cNvCxnSpPr/>
          <p:nvPr/>
        </p:nvCxnSpPr>
        <p:spPr>
          <a:xfrm>
            <a:off x="838200" y="1690689"/>
            <a:ext cx="10515600" cy="0"/>
          </a:xfrm>
          <a:prstGeom prst="straightConnector1">
            <a:avLst/>
          </a:prstGeom>
          <a:noFill/>
          <a:ln cap="flat" cmpd="sng" w="19050">
            <a:solidFill>
              <a:schemeClr val="accent6"/>
            </a:solidFill>
            <a:prstDash val="solid"/>
            <a:miter lim="800000"/>
            <a:headEnd len="sm" w="sm" type="none"/>
            <a:tailEnd len="sm" w="sm" type="none"/>
          </a:ln>
        </p:spPr>
      </p:cxn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58" name="Shape 58"/>
        <p:cNvGrpSpPr/>
        <p:nvPr/>
      </p:nvGrpSpPr>
      <p:grpSpPr>
        <a:xfrm>
          <a:off x="0" y="0"/>
          <a:ext cx="0" cy="0"/>
          <a:chOff x="0" y="0"/>
          <a:chExt cx="0" cy="0"/>
        </a:xfrm>
      </p:grpSpPr>
      <p:sp>
        <p:nvSpPr>
          <p:cNvPr id="59" name="Google Shape;59;p14"/>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accent2"/>
              </a:buClr>
              <a:buSzPts val="4400"/>
              <a:buFont typeface="Arial Black"/>
              <a:buNone/>
              <a:defRPr b="0">
                <a:solidFill>
                  <a:schemeClr val="accent2"/>
                </a:solidFill>
                <a:latin typeface="Arial Black"/>
                <a:ea typeface="Arial Black"/>
                <a:cs typeface="Arial Black"/>
                <a:sym typeface="Arial Black"/>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14"/>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55600" lvl="0" marL="457200" algn="l">
              <a:lnSpc>
                <a:spcPct val="150000"/>
              </a:lnSpc>
              <a:spcBef>
                <a:spcPts val="1000"/>
              </a:spcBef>
              <a:spcAft>
                <a:spcPts val="0"/>
              </a:spcAft>
              <a:buClr>
                <a:schemeClr val="dk2"/>
              </a:buClr>
              <a:buSzPts val="2000"/>
              <a:buChar char="•"/>
              <a:defRPr>
                <a:solidFill>
                  <a:schemeClr val="dk2"/>
                </a:solidFill>
                <a:latin typeface="Arial"/>
                <a:ea typeface="Arial"/>
                <a:cs typeface="Arial"/>
                <a:sym typeface="Arial"/>
              </a:defRPr>
            </a:lvl1pPr>
            <a:lvl2pPr indent="-355600" lvl="1" marL="914400" algn="l">
              <a:lnSpc>
                <a:spcPct val="150000"/>
              </a:lnSpc>
              <a:spcBef>
                <a:spcPts val="500"/>
              </a:spcBef>
              <a:spcAft>
                <a:spcPts val="0"/>
              </a:spcAft>
              <a:buClr>
                <a:schemeClr val="dk2"/>
              </a:buClr>
              <a:buSzPts val="2000"/>
              <a:buChar char="•"/>
              <a:defRPr>
                <a:solidFill>
                  <a:schemeClr val="dk2"/>
                </a:solidFill>
                <a:latin typeface="Arial"/>
                <a:ea typeface="Arial"/>
                <a:cs typeface="Arial"/>
                <a:sym typeface="Arial"/>
              </a:defRPr>
            </a:lvl2pPr>
            <a:lvl3pPr indent="-355600" lvl="2" marL="1371600" algn="l">
              <a:lnSpc>
                <a:spcPct val="150000"/>
              </a:lnSpc>
              <a:spcBef>
                <a:spcPts val="500"/>
              </a:spcBef>
              <a:spcAft>
                <a:spcPts val="0"/>
              </a:spcAft>
              <a:buClr>
                <a:schemeClr val="dk2"/>
              </a:buClr>
              <a:buSzPts val="2000"/>
              <a:buChar char="•"/>
              <a:defRPr>
                <a:solidFill>
                  <a:schemeClr val="dk2"/>
                </a:solidFill>
                <a:latin typeface="Arial"/>
                <a:ea typeface="Arial"/>
                <a:cs typeface="Arial"/>
                <a:sym typeface="Arial"/>
              </a:defRPr>
            </a:lvl3pPr>
            <a:lvl4pPr indent="-355600" lvl="3" marL="1828800" algn="l">
              <a:lnSpc>
                <a:spcPct val="150000"/>
              </a:lnSpc>
              <a:spcBef>
                <a:spcPts val="500"/>
              </a:spcBef>
              <a:spcAft>
                <a:spcPts val="0"/>
              </a:spcAft>
              <a:buClr>
                <a:schemeClr val="dk2"/>
              </a:buClr>
              <a:buSzPts val="2000"/>
              <a:buChar char="•"/>
              <a:defRPr>
                <a:solidFill>
                  <a:schemeClr val="dk2"/>
                </a:solidFill>
                <a:latin typeface="Arial"/>
                <a:ea typeface="Arial"/>
                <a:cs typeface="Arial"/>
                <a:sym typeface="Arial"/>
              </a:defRPr>
            </a:lvl4pPr>
            <a:lvl5pPr indent="-355600" lvl="4" marL="2286000" algn="l">
              <a:lnSpc>
                <a:spcPct val="150000"/>
              </a:lnSpc>
              <a:spcBef>
                <a:spcPts val="500"/>
              </a:spcBef>
              <a:spcAft>
                <a:spcPts val="0"/>
              </a:spcAft>
              <a:buClr>
                <a:schemeClr val="dk2"/>
              </a:buClr>
              <a:buSzPts val="2000"/>
              <a:buChar char="•"/>
              <a:defRPr>
                <a:solidFill>
                  <a:schemeClr val="dk2"/>
                </a:solidFill>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61" name="Google Shape;61;p14"/>
          <p:cNvCxnSpPr/>
          <p:nvPr/>
        </p:nvCxnSpPr>
        <p:spPr>
          <a:xfrm rot="10800000">
            <a:off x="8724900" y="365125"/>
            <a:ext cx="0" cy="5811838"/>
          </a:xfrm>
          <a:prstGeom prst="straightConnector1">
            <a:avLst/>
          </a:prstGeom>
          <a:noFill/>
          <a:ln cap="flat" cmpd="sng" w="19050">
            <a:solidFill>
              <a:schemeClr val="accent6"/>
            </a:solidFill>
            <a:prstDash val="solid"/>
            <a:miter lim="800000"/>
            <a:headEnd len="sm" w="sm" type="none"/>
            <a:tailEnd len="sm" w="sm" type="none"/>
          </a:ln>
        </p:spPr>
      </p:cxn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1.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3"/>
          <p:cNvSpPr txBox="1"/>
          <p:nvPr>
            <p:ph type="title"/>
          </p:nvPr>
        </p:nvSpPr>
        <p:spPr>
          <a:xfrm>
            <a:off x="838200" y="261607"/>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accent2"/>
              </a:buClr>
              <a:buSzPts val="4400"/>
              <a:buFont typeface="Arial Black"/>
              <a:buNone/>
              <a:defRPr b="1" i="0" sz="4400" u="none" cap="none" strike="noStrike">
                <a:solidFill>
                  <a:schemeClr val="accent2"/>
                </a:solidFill>
                <a:latin typeface="Arial Black"/>
                <a:ea typeface="Arial Black"/>
                <a:cs typeface="Arial Black"/>
                <a:sym typeface="Arial Black"/>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3"/>
          <p:cNvSpPr txBox="1"/>
          <p:nvPr>
            <p:ph idx="1" type="body"/>
          </p:nvPr>
        </p:nvSpPr>
        <p:spPr>
          <a:xfrm>
            <a:off x="838200" y="1929143"/>
            <a:ext cx="10515600" cy="4351338"/>
          </a:xfrm>
          <a:prstGeom prst="rect">
            <a:avLst/>
          </a:prstGeom>
          <a:noFill/>
          <a:ln>
            <a:noFill/>
          </a:ln>
        </p:spPr>
        <p:txBody>
          <a:bodyPr anchorCtr="0" anchor="t" bIns="45700" lIns="91425" spcFirstLastPara="1" rIns="91425" wrap="square" tIns="45700">
            <a:normAutofit/>
          </a:bodyPr>
          <a:lstStyle>
            <a:lvl1pPr indent="-355600" lvl="0" marL="457200" marR="0" rtl="0" algn="l">
              <a:lnSpc>
                <a:spcPct val="150000"/>
              </a:lnSpc>
              <a:spcBef>
                <a:spcPts val="1000"/>
              </a:spcBef>
              <a:spcAft>
                <a:spcPts val="0"/>
              </a:spcAft>
              <a:buClr>
                <a:srgbClr val="7F7F95"/>
              </a:buClr>
              <a:buSzPts val="2000"/>
              <a:buFont typeface="Arial"/>
              <a:buChar char="•"/>
              <a:defRPr b="0" i="0" sz="2000" u="none" cap="none" strike="noStrike">
                <a:solidFill>
                  <a:srgbClr val="7F7F95"/>
                </a:solidFill>
                <a:latin typeface="Arial"/>
                <a:ea typeface="Arial"/>
                <a:cs typeface="Arial"/>
                <a:sym typeface="Arial"/>
              </a:defRPr>
            </a:lvl1pPr>
            <a:lvl2pPr indent="-355600" lvl="1" marL="914400" marR="0" rtl="0" algn="l">
              <a:lnSpc>
                <a:spcPct val="150000"/>
              </a:lnSpc>
              <a:spcBef>
                <a:spcPts val="500"/>
              </a:spcBef>
              <a:spcAft>
                <a:spcPts val="0"/>
              </a:spcAft>
              <a:buClr>
                <a:srgbClr val="7F7F95"/>
              </a:buClr>
              <a:buSzPts val="2000"/>
              <a:buFont typeface="Arial"/>
              <a:buChar char="•"/>
              <a:defRPr b="0" i="0" sz="2000" u="none" cap="none" strike="noStrike">
                <a:solidFill>
                  <a:srgbClr val="7F7F95"/>
                </a:solidFill>
                <a:latin typeface="Arial"/>
                <a:ea typeface="Arial"/>
                <a:cs typeface="Arial"/>
                <a:sym typeface="Arial"/>
              </a:defRPr>
            </a:lvl2pPr>
            <a:lvl3pPr indent="-355600" lvl="2" marL="1371600" marR="0" rtl="0" algn="l">
              <a:lnSpc>
                <a:spcPct val="150000"/>
              </a:lnSpc>
              <a:spcBef>
                <a:spcPts val="500"/>
              </a:spcBef>
              <a:spcAft>
                <a:spcPts val="0"/>
              </a:spcAft>
              <a:buClr>
                <a:srgbClr val="7F7F95"/>
              </a:buClr>
              <a:buSzPts val="2000"/>
              <a:buFont typeface="Arial"/>
              <a:buChar char="•"/>
              <a:defRPr b="0" i="0" sz="2000" u="none" cap="none" strike="noStrike">
                <a:solidFill>
                  <a:srgbClr val="7F7F95"/>
                </a:solidFill>
                <a:latin typeface="Arial"/>
                <a:ea typeface="Arial"/>
                <a:cs typeface="Arial"/>
                <a:sym typeface="Arial"/>
              </a:defRPr>
            </a:lvl3pPr>
            <a:lvl4pPr indent="-355600" lvl="3" marL="1828800" marR="0" rtl="0" algn="l">
              <a:lnSpc>
                <a:spcPct val="150000"/>
              </a:lnSpc>
              <a:spcBef>
                <a:spcPts val="500"/>
              </a:spcBef>
              <a:spcAft>
                <a:spcPts val="0"/>
              </a:spcAft>
              <a:buClr>
                <a:srgbClr val="7F7F95"/>
              </a:buClr>
              <a:buSzPts val="2000"/>
              <a:buFont typeface="Arial"/>
              <a:buChar char="•"/>
              <a:defRPr b="0" i="0" sz="2000" u="none" cap="none" strike="noStrike">
                <a:solidFill>
                  <a:srgbClr val="7F7F95"/>
                </a:solidFill>
                <a:latin typeface="Arial"/>
                <a:ea typeface="Arial"/>
                <a:cs typeface="Arial"/>
                <a:sym typeface="Arial"/>
              </a:defRPr>
            </a:lvl4pPr>
            <a:lvl5pPr indent="-355600" lvl="4" marL="2286000" marR="0" rtl="0" algn="l">
              <a:lnSpc>
                <a:spcPct val="150000"/>
              </a:lnSpc>
              <a:spcBef>
                <a:spcPts val="500"/>
              </a:spcBef>
              <a:spcAft>
                <a:spcPts val="0"/>
              </a:spcAft>
              <a:buClr>
                <a:srgbClr val="7F7F95"/>
              </a:buClr>
              <a:buSzPts val="2000"/>
              <a:buFont typeface="Arial"/>
              <a:buChar char="•"/>
              <a:defRPr b="0" i="0" sz="2000" u="none" cap="none" strike="noStrike">
                <a:solidFill>
                  <a:srgbClr val="7F7F95"/>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989"/>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pic>
        <p:nvPicPr>
          <p:cNvPr id="13" name="Google Shape;13;p3"/>
          <p:cNvPicPr preferRelativeResize="0"/>
          <p:nvPr/>
        </p:nvPicPr>
        <p:blipFill rotWithShape="1">
          <a:blip r:embed="rId1">
            <a:alphaModFix/>
          </a:blip>
          <a:srcRect b="0" l="0" r="0" t="0"/>
          <a:stretch/>
        </p:blipFill>
        <p:spPr>
          <a:xfrm>
            <a:off x="692491" y="6286156"/>
            <a:ext cx="3286657" cy="516842"/>
          </a:xfrm>
          <a:prstGeom prst="rect">
            <a:avLst/>
          </a:prstGeom>
          <a:noFill/>
          <a:ln>
            <a:noFill/>
          </a:ln>
        </p:spPr>
      </p:pic>
      <p:sp>
        <p:nvSpPr>
          <p:cNvPr id="14" name="Google Shape;14;p3"/>
          <p:cNvSpPr txBox="1"/>
          <p:nvPr/>
        </p:nvSpPr>
        <p:spPr>
          <a:xfrm>
            <a:off x="8610600" y="6356349"/>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r>
              <a:rPr b="0" i="0" lang="en-US" sz="1200" u="none" cap="none" strike="noStrike">
                <a:solidFill>
                  <a:schemeClr val="dk2"/>
                </a:solidFill>
                <a:latin typeface="Arial"/>
                <a:ea typeface="Arial"/>
                <a:cs typeface="Arial"/>
                <a:sym typeface="Arial"/>
              </a:rPr>
              <a:t>bu.edu/sph | </a:t>
            </a:r>
            <a:r>
              <a:rPr b="1" i="0" lang="en-US" sz="1200" u="none" cap="none" strike="noStrike">
                <a:solidFill>
                  <a:schemeClr val="dk2"/>
                </a:solidFill>
                <a:latin typeface="Arial"/>
                <a:ea typeface="Arial"/>
                <a:cs typeface="Arial"/>
                <a:sym typeface="Arial"/>
              </a:rPr>
              <a:t>@BUSPH</a:t>
            </a:r>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5.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hyperlink" Target="https://doi.org/10.1001/JAMAPSYCHIATRY.2020.0767" TargetMode="External"/><Relationship Id="rId4" Type="http://schemas.openxmlformats.org/officeDocument/2006/relationships/hyperlink" Target="https://doi.org/10.1007/s00787-021-01782" TargetMode="External"/><Relationship Id="rId5" Type="http://schemas.openxmlformats.org/officeDocument/2006/relationships/hyperlink" Target="https://doi.org/10.1542/PEDS.2019-1536/76929" TargetMode="External"/><Relationship Id="rId6" Type="http://schemas.openxmlformats.org/officeDocument/2006/relationships/hyperlink" Target="https://doi.org/10.1097/PEC.0000000000001428" TargetMode="External"/><Relationship Id="rId7" Type="http://schemas.openxmlformats.org/officeDocument/2006/relationships/hyperlink" Target="https://doi.org/10.1080/00981389.2019.1653418" TargetMode="External"/><Relationship Id="rId8" Type="http://schemas.openxmlformats.org/officeDocument/2006/relationships/hyperlink" Target="https://doi.org/10.1186/S13012-018-0851-5"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
          <p:cNvSpPr txBox="1"/>
          <p:nvPr>
            <p:ph type="title"/>
          </p:nvPr>
        </p:nvSpPr>
        <p:spPr>
          <a:xfrm>
            <a:off x="363275" y="523250"/>
            <a:ext cx="10938900" cy="1527900"/>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accent1"/>
              </a:buClr>
              <a:buSzPts val="7200"/>
              <a:buFont typeface="Arial Black"/>
              <a:buNone/>
            </a:pPr>
            <a:r>
              <a:rPr lang="en-US" sz="3300">
                <a:latin typeface="Arial Black"/>
                <a:ea typeface="Arial Black"/>
                <a:cs typeface="Arial Black"/>
                <a:sym typeface="Arial Black"/>
              </a:rPr>
              <a:t>Shared decision making among youth of color, guardians, and care teams during a psychiatric emergency services visit</a:t>
            </a:r>
            <a:endParaRPr sz="3300"/>
          </a:p>
        </p:txBody>
      </p:sp>
      <p:sp>
        <p:nvSpPr>
          <p:cNvPr id="68" name="Google Shape;68;p1"/>
          <p:cNvSpPr txBox="1"/>
          <p:nvPr/>
        </p:nvSpPr>
        <p:spPr>
          <a:xfrm>
            <a:off x="466875" y="2460150"/>
            <a:ext cx="2855100" cy="1692000"/>
          </a:xfrm>
          <a:prstGeom prst="rect">
            <a:avLst/>
          </a:prstGeom>
          <a:noFill/>
          <a:ln>
            <a:noFill/>
          </a:ln>
        </p:spPr>
        <p:txBody>
          <a:bodyPr anchorCtr="0" anchor="t" bIns="91425" lIns="91425" spcFirstLastPara="1" rIns="91425" wrap="square" tIns="91425">
            <a:spAutoFit/>
          </a:bodyPr>
          <a:lstStyle/>
          <a:p>
            <a:pPr indent="0" lvl="0" marL="0" marR="0" rtl="0" algn="l">
              <a:lnSpc>
                <a:spcPct val="80000"/>
              </a:lnSpc>
              <a:spcBef>
                <a:spcPts val="1000"/>
              </a:spcBef>
              <a:spcAft>
                <a:spcPts val="0"/>
              </a:spcAft>
              <a:buClr>
                <a:srgbClr val="000000"/>
              </a:buClr>
              <a:buSzPts val="1400"/>
              <a:buFont typeface="Arial"/>
              <a:buNone/>
            </a:pPr>
            <a:r>
              <a:rPr b="0" i="0" lang="en-US" sz="1400" u="none" cap="none" strike="noStrike">
                <a:solidFill>
                  <a:schemeClr val="dk2"/>
                </a:solidFill>
                <a:latin typeface="Arial Narrow"/>
                <a:ea typeface="Arial Narrow"/>
                <a:cs typeface="Arial Narrow"/>
                <a:sym typeface="Arial Narrow"/>
              </a:rPr>
              <a:t>Carolina Herrera</a:t>
            </a:r>
            <a:r>
              <a:rPr b="0" baseline="30000" i="0" lang="en-US" sz="1400" u="none" cap="none" strike="noStrike">
                <a:solidFill>
                  <a:schemeClr val="dk2"/>
                </a:solidFill>
                <a:latin typeface="Arial Narrow"/>
                <a:ea typeface="Arial Narrow"/>
                <a:cs typeface="Arial Narrow"/>
                <a:sym typeface="Arial Narrow"/>
              </a:rPr>
              <a:t>1</a:t>
            </a:r>
            <a:r>
              <a:rPr b="0" i="0" lang="en-US" sz="1400" u="none" cap="none" strike="noStrike">
                <a:solidFill>
                  <a:schemeClr val="dk2"/>
                </a:solidFill>
                <a:latin typeface="Arial Narrow"/>
                <a:ea typeface="Arial Narrow"/>
                <a:cs typeface="Arial Narrow"/>
                <a:sym typeface="Arial Narrow"/>
              </a:rPr>
              <a:t>, MA, PhDc; Sarah Syed</a:t>
            </a:r>
            <a:r>
              <a:rPr b="0" baseline="30000" i="0" lang="en-US" sz="1400" u="none" cap="none" strike="noStrike">
                <a:solidFill>
                  <a:schemeClr val="dk2"/>
                </a:solidFill>
                <a:latin typeface="Arial Narrow"/>
                <a:ea typeface="Arial Narrow"/>
                <a:cs typeface="Arial Narrow"/>
                <a:sym typeface="Arial Narrow"/>
              </a:rPr>
              <a:t>2</a:t>
            </a:r>
            <a:r>
              <a:rPr b="0" i="0" lang="en-US" sz="1400" u="none" cap="none" strike="noStrike">
                <a:solidFill>
                  <a:schemeClr val="dk2"/>
                </a:solidFill>
                <a:latin typeface="Arial Narrow"/>
                <a:ea typeface="Arial Narrow"/>
                <a:cs typeface="Arial Narrow"/>
                <a:sym typeface="Arial Narrow"/>
              </a:rPr>
              <a:t>, BAc; Christina Freibott</a:t>
            </a:r>
            <a:r>
              <a:rPr b="0" baseline="30000" i="0" lang="en-US" sz="1400" u="none" cap="none" strike="noStrike">
                <a:solidFill>
                  <a:schemeClr val="dk2"/>
                </a:solidFill>
                <a:latin typeface="Arial Narrow"/>
                <a:ea typeface="Arial Narrow"/>
                <a:cs typeface="Arial Narrow"/>
                <a:sym typeface="Arial Narrow"/>
              </a:rPr>
              <a:t>1</a:t>
            </a:r>
            <a:r>
              <a:rPr b="0" i="0" lang="en-US" sz="1400" u="none" cap="none" strike="noStrike">
                <a:solidFill>
                  <a:schemeClr val="dk2"/>
                </a:solidFill>
                <a:latin typeface="Arial Narrow"/>
                <a:ea typeface="Arial Narrow"/>
                <a:cs typeface="Arial Narrow"/>
                <a:sym typeface="Arial Narrow"/>
              </a:rPr>
              <a:t>, PhDc; Alison Duncan</a:t>
            </a:r>
            <a:r>
              <a:rPr b="0" baseline="30000" i="0" lang="en-US" sz="1400" u="none" cap="none" strike="noStrike">
                <a:solidFill>
                  <a:schemeClr val="dk2"/>
                </a:solidFill>
                <a:latin typeface="Arial Narrow"/>
                <a:ea typeface="Arial Narrow"/>
                <a:cs typeface="Arial Narrow"/>
                <a:sym typeface="Arial Narrow"/>
              </a:rPr>
              <a:t>3</a:t>
            </a:r>
            <a:r>
              <a:rPr b="0" i="0" lang="en-US" sz="1400" u="none" cap="none" strike="noStrike">
                <a:solidFill>
                  <a:schemeClr val="dk2"/>
                </a:solidFill>
                <a:latin typeface="Arial Narrow"/>
                <a:ea typeface="Arial Narrow"/>
                <a:cs typeface="Arial Narrow"/>
                <a:sym typeface="Arial Narrow"/>
              </a:rPr>
              <a:t>, MPH, MD, and Jack Clark</a:t>
            </a:r>
            <a:r>
              <a:rPr b="0" baseline="30000" i="0" lang="en-US" sz="1400" u="none" cap="none" strike="noStrike">
                <a:solidFill>
                  <a:schemeClr val="dk2"/>
                </a:solidFill>
                <a:latin typeface="Arial Narrow"/>
                <a:ea typeface="Arial Narrow"/>
                <a:cs typeface="Arial Narrow"/>
                <a:sym typeface="Arial Narrow"/>
              </a:rPr>
              <a:t>1</a:t>
            </a:r>
            <a:r>
              <a:rPr b="0" i="0" lang="en-US" sz="1400" u="none" cap="none" strike="noStrike">
                <a:solidFill>
                  <a:schemeClr val="dk2"/>
                </a:solidFill>
                <a:latin typeface="Arial Narrow"/>
                <a:ea typeface="Arial Narrow"/>
                <a:cs typeface="Arial Narrow"/>
                <a:sym typeface="Arial Narrow"/>
              </a:rPr>
              <a:t>, PhD </a:t>
            </a:r>
            <a:endParaRPr b="0" i="0" sz="1400" u="none" cap="none" strike="noStrike">
              <a:solidFill>
                <a:schemeClr val="dk2"/>
              </a:solidFill>
              <a:latin typeface="Arial Narrow"/>
              <a:ea typeface="Arial Narrow"/>
              <a:cs typeface="Arial Narrow"/>
              <a:sym typeface="Arial Narrow"/>
            </a:endParaRPr>
          </a:p>
          <a:p>
            <a:pPr indent="0" lvl="0" marL="0" marR="0" rtl="0" algn="l">
              <a:lnSpc>
                <a:spcPct val="80000"/>
              </a:lnSpc>
              <a:spcBef>
                <a:spcPts val="1000"/>
              </a:spcBef>
              <a:spcAft>
                <a:spcPts val="0"/>
              </a:spcAft>
              <a:buClr>
                <a:srgbClr val="000000"/>
              </a:buClr>
              <a:buSzPts val="1400"/>
              <a:buFont typeface="Arial"/>
              <a:buNone/>
            </a:pPr>
            <a:r>
              <a:rPr b="0" i="0" lang="en-US" sz="1400" u="none" cap="none" strike="noStrike">
                <a:solidFill>
                  <a:schemeClr val="dk2"/>
                </a:solidFill>
                <a:latin typeface="Arial Narrow"/>
                <a:ea typeface="Arial Narrow"/>
                <a:cs typeface="Arial Narrow"/>
                <a:sym typeface="Arial Narrow"/>
              </a:rPr>
              <a:t>(1) Boston University School of Public Health; (2) Tufts University (3) Boston Medical Center; Boston University School of Medicine</a:t>
            </a:r>
            <a:endParaRPr b="0" i="0" sz="1400" u="none" cap="none" strike="noStrike">
              <a:solidFill>
                <a:schemeClr val="accent2"/>
              </a:solidFill>
              <a:latin typeface="Arial Narrow"/>
              <a:ea typeface="Arial Narrow"/>
              <a:cs typeface="Arial Narrow"/>
              <a:sym typeface="Arial Narrow"/>
            </a:endParaRPr>
          </a:p>
        </p:txBody>
      </p:sp>
      <p:sp>
        <p:nvSpPr>
          <p:cNvPr id="69" name="Google Shape;69;p1"/>
          <p:cNvSpPr txBox="1"/>
          <p:nvPr>
            <p:ph idx="1" type="body"/>
          </p:nvPr>
        </p:nvSpPr>
        <p:spPr>
          <a:xfrm>
            <a:off x="466875" y="4309675"/>
            <a:ext cx="3932100" cy="2035800"/>
          </a:xfrm>
          <a:prstGeom prst="rect">
            <a:avLst/>
          </a:prstGeom>
          <a:noFill/>
          <a:ln>
            <a:noFill/>
          </a:ln>
        </p:spPr>
        <p:txBody>
          <a:bodyPr anchorCtr="0" anchor="t" bIns="45700" lIns="91425" spcFirstLastPara="1" rIns="91425" wrap="square" tIns="45700">
            <a:noAutofit/>
          </a:bodyPr>
          <a:lstStyle/>
          <a:p>
            <a:pPr indent="0" lvl="0" marL="228600" rtl="0" algn="l">
              <a:lnSpc>
                <a:spcPct val="80000"/>
              </a:lnSpc>
              <a:spcBef>
                <a:spcPts val="0"/>
              </a:spcBef>
              <a:spcAft>
                <a:spcPts val="0"/>
              </a:spcAft>
              <a:buSzPts val="275"/>
              <a:buNone/>
            </a:pPr>
            <a:r>
              <a:t/>
            </a:r>
            <a:endParaRPr sz="2500">
              <a:latin typeface="Arial Black"/>
              <a:ea typeface="Arial Black"/>
              <a:cs typeface="Arial Black"/>
              <a:sym typeface="Arial Black"/>
            </a:endParaRPr>
          </a:p>
          <a:p>
            <a:pPr indent="0" lvl="0" marL="0" rtl="0" algn="l">
              <a:lnSpc>
                <a:spcPct val="80000"/>
              </a:lnSpc>
              <a:spcBef>
                <a:spcPts val="1000"/>
              </a:spcBef>
              <a:spcAft>
                <a:spcPts val="0"/>
              </a:spcAft>
              <a:buClr>
                <a:schemeClr val="accent2"/>
              </a:buClr>
              <a:buSzPts val="500"/>
              <a:buNone/>
            </a:pPr>
            <a:r>
              <a:rPr lang="en-US" sz="2500">
                <a:solidFill>
                  <a:schemeClr val="accent2"/>
                </a:solidFill>
                <a:latin typeface="Arial Black"/>
                <a:ea typeface="Arial Black"/>
                <a:cs typeface="Arial Black"/>
                <a:sym typeface="Arial Black"/>
              </a:rPr>
              <a:t>SARAH SYED </a:t>
            </a:r>
            <a:endParaRPr sz="2500">
              <a:solidFill>
                <a:schemeClr val="accent2"/>
              </a:solidFill>
              <a:latin typeface="Arial Black"/>
              <a:ea typeface="Arial Black"/>
              <a:cs typeface="Arial Black"/>
              <a:sym typeface="Arial Black"/>
            </a:endParaRPr>
          </a:p>
          <a:p>
            <a:pPr indent="0" lvl="0" marL="0" rtl="0" algn="l">
              <a:lnSpc>
                <a:spcPct val="80000"/>
              </a:lnSpc>
              <a:spcBef>
                <a:spcPts val="1000"/>
              </a:spcBef>
              <a:spcAft>
                <a:spcPts val="0"/>
              </a:spcAft>
              <a:buClr>
                <a:schemeClr val="accent2"/>
              </a:buClr>
              <a:buSzPts val="500"/>
              <a:buNone/>
            </a:pPr>
            <a:r>
              <a:rPr lang="en-US" sz="2000">
                <a:solidFill>
                  <a:schemeClr val="accent2"/>
                </a:solidFill>
                <a:latin typeface="Arial Black"/>
                <a:ea typeface="Arial Black"/>
                <a:cs typeface="Arial Black"/>
                <a:sym typeface="Arial Black"/>
              </a:rPr>
              <a:t>Tufts University</a:t>
            </a:r>
            <a:endParaRPr sz="2000">
              <a:solidFill>
                <a:schemeClr val="accent2"/>
              </a:solidFill>
              <a:latin typeface="Arial Black"/>
              <a:ea typeface="Arial Black"/>
              <a:cs typeface="Arial Black"/>
              <a:sym typeface="Arial Black"/>
            </a:endParaRPr>
          </a:p>
          <a:p>
            <a:pPr indent="0" lvl="0" marL="0" rtl="0" algn="l">
              <a:lnSpc>
                <a:spcPct val="80000"/>
              </a:lnSpc>
              <a:spcBef>
                <a:spcPts val="1000"/>
              </a:spcBef>
              <a:spcAft>
                <a:spcPts val="0"/>
              </a:spcAft>
              <a:buClr>
                <a:schemeClr val="accent2"/>
              </a:buClr>
              <a:buSzPts val="500"/>
              <a:buNone/>
            </a:pPr>
            <a:r>
              <a:rPr lang="en-US" sz="2000">
                <a:solidFill>
                  <a:schemeClr val="accent2"/>
                </a:solidFill>
                <a:latin typeface="Arial Black"/>
                <a:ea typeface="Arial Black"/>
                <a:cs typeface="Arial Black"/>
                <a:sym typeface="Arial Black"/>
              </a:rPr>
              <a:t>APHA, Boston, 2022</a:t>
            </a:r>
            <a:endParaRPr sz="2000">
              <a:solidFill>
                <a:schemeClr val="accent2"/>
              </a:solidFill>
              <a:latin typeface="Arial Black"/>
              <a:ea typeface="Arial Black"/>
              <a:cs typeface="Arial Black"/>
              <a:sym typeface="Arial Black"/>
            </a:endParaRPr>
          </a:p>
        </p:txBody>
      </p:sp>
      <p:sp>
        <p:nvSpPr>
          <p:cNvPr id="70" name="Google Shape;70;p1"/>
          <p:cNvSpPr/>
          <p:nvPr/>
        </p:nvSpPr>
        <p:spPr>
          <a:xfrm>
            <a:off x="6786900" y="5914550"/>
            <a:ext cx="5405100" cy="9144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id="71" name="Google Shape;71;p1"/>
          <p:cNvPicPr preferRelativeResize="0"/>
          <p:nvPr/>
        </p:nvPicPr>
        <p:blipFill rotWithShape="1">
          <a:blip r:embed="rId3">
            <a:alphaModFix/>
          </a:blip>
          <a:srcRect b="0" l="0" r="0" t="0"/>
          <a:stretch/>
        </p:blipFill>
        <p:spPr>
          <a:xfrm>
            <a:off x="6881700" y="5960275"/>
            <a:ext cx="1828800" cy="822960"/>
          </a:xfrm>
          <a:prstGeom prst="rect">
            <a:avLst/>
          </a:prstGeom>
          <a:noFill/>
          <a:ln>
            <a:noFill/>
          </a:ln>
        </p:spPr>
      </p:pic>
      <p:pic>
        <p:nvPicPr>
          <p:cNvPr id="72" name="Google Shape;72;p1"/>
          <p:cNvPicPr preferRelativeResize="0"/>
          <p:nvPr/>
        </p:nvPicPr>
        <p:blipFill rotWithShape="1">
          <a:blip r:embed="rId4">
            <a:alphaModFix/>
          </a:blip>
          <a:srcRect b="0" l="0" r="0" t="0"/>
          <a:stretch/>
        </p:blipFill>
        <p:spPr>
          <a:xfrm>
            <a:off x="8854250" y="5960275"/>
            <a:ext cx="1714499" cy="822960"/>
          </a:xfrm>
          <a:prstGeom prst="rect">
            <a:avLst/>
          </a:prstGeom>
          <a:noFill/>
          <a:ln>
            <a:noFill/>
          </a:ln>
        </p:spPr>
      </p:pic>
      <p:pic>
        <p:nvPicPr>
          <p:cNvPr id="73" name="Google Shape;73;p1"/>
          <p:cNvPicPr preferRelativeResize="0"/>
          <p:nvPr/>
        </p:nvPicPr>
        <p:blipFill rotWithShape="1">
          <a:blip r:embed="rId5">
            <a:alphaModFix/>
          </a:blip>
          <a:srcRect b="0" l="0" r="0" t="0"/>
          <a:stretch/>
        </p:blipFill>
        <p:spPr>
          <a:xfrm>
            <a:off x="10630825" y="5960275"/>
            <a:ext cx="1434000" cy="8229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g16de9dd47b8_0_0"/>
          <p:cNvSpPr txBox="1"/>
          <p:nvPr>
            <p:ph type="title"/>
          </p:nvPr>
        </p:nvSpPr>
        <p:spPr>
          <a:xfrm>
            <a:off x="838200" y="261607"/>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accent2"/>
              </a:buClr>
              <a:buSzPts val="4000"/>
              <a:buFont typeface="Arial Black"/>
              <a:buNone/>
            </a:pPr>
            <a:r>
              <a:rPr lang="en-US" sz="3000"/>
              <a:t>Acknowledgements</a:t>
            </a:r>
            <a:endParaRPr sz="3000"/>
          </a:p>
        </p:txBody>
      </p:sp>
      <p:sp>
        <p:nvSpPr>
          <p:cNvPr id="79" name="Google Shape;79;g16de9dd47b8_0_0"/>
          <p:cNvSpPr txBox="1"/>
          <p:nvPr>
            <p:ph idx="1" type="body"/>
          </p:nvPr>
        </p:nvSpPr>
        <p:spPr>
          <a:xfrm>
            <a:off x="838200" y="1929143"/>
            <a:ext cx="10515600" cy="4351200"/>
          </a:xfrm>
          <a:prstGeom prst="rect">
            <a:avLst/>
          </a:prstGeom>
          <a:noFill/>
          <a:ln>
            <a:noFill/>
          </a:ln>
        </p:spPr>
        <p:txBody>
          <a:bodyPr anchorCtr="0" anchor="t" bIns="45700" lIns="91425" spcFirstLastPara="1" rIns="91425" wrap="square" tIns="45700">
            <a:normAutofit/>
          </a:bodyPr>
          <a:lstStyle/>
          <a:p>
            <a:pPr indent="-355600" lvl="0" marL="457200" rtl="0" algn="l">
              <a:lnSpc>
                <a:spcPct val="115000"/>
              </a:lnSpc>
              <a:spcBef>
                <a:spcPts val="1000"/>
              </a:spcBef>
              <a:spcAft>
                <a:spcPts val="0"/>
              </a:spcAft>
              <a:buClr>
                <a:schemeClr val="dk1"/>
              </a:buClr>
              <a:buSzPts val="2000"/>
              <a:buFont typeface="Calibri"/>
              <a:buChar char="•"/>
            </a:pPr>
            <a:r>
              <a:rPr lang="en-US">
                <a:solidFill>
                  <a:schemeClr val="dk1"/>
                </a:solidFill>
                <a:latin typeface="Calibri"/>
                <a:ea typeface="Calibri"/>
                <a:cs typeface="Calibri"/>
                <a:sym typeface="Calibri"/>
              </a:rPr>
              <a:t>Research reported in this publication was supported by the National Institute Of Mental Health of the National Institutes of Health under Award Number R36MH126473. The content is solely the responsibility of the authors and does not necessarily represent the official views of the National Institutes of Health.</a:t>
            </a:r>
            <a:endParaRPr>
              <a:solidFill>
                <a:schemeClr val="dk1"/>
              </a:solidFill>
              <a:latin typeface="Calibri"/>
              <a:ea typeface="Calibri"/>
              <a:cs typeface="Calibri"/>
              <a:sym typeface="Calibri"/>
            </a:endParaRPr>
          </a:p>
          <a:p>
            <a:pPr indent="-355600" lvl="0" marL="457200" rtl="0" algn="l">
              <a:lnSpc>
                <a:spcPct val="115000"/>
              </a:lnSpc>
              <a:spcBef>
                <a:spcPts val="1000"/>
              </a:spcBef>
              <a:spcAft>
                <a:spcPts val="0"/>
              </a:spcAft>
              <a:buClr>
                <a:schemeClr val="dk1"/>
              </a:buClr>
              <a:buSzPts val="2000"/>
              <a:buFont typeface="Calibri"/>
              <a:buChar char="•"/>
            </a:pPr>
            <a:r>
              <a:rPr lang="en-US">
                <a:solidFill>
                  <a:schemeClr val="dk1"/>
                </a:solidFill>
                <a:latin typeface="Calibri"/>
                <a:ea typeface="Calibri"/>
                <a:cs typeface="Calibri"/>
                <a:sym typeface="Calibri"/>
              </a:rPr>
              <a:t>Carolina-Nicole Herrera and Sarah Syed were supported by NIMH R36MH126473.</a:t>
            </a:r>
            <a:endParaRPr>
              <a:solidFill>
                <a:schemeClr val="dk1"/>
              </a:solidFill>
              <a:latin typeface="Calibri"/>
              <a:ea typeface="Calibri"/>
              <a:cs typeface="Calibri"/>
              <a:sym typeface="Calibri"/>
            </a:endParaRPr>
          </a:p>
          <a:p>
            <a:pPr indent="-355600" lvl="0" marL="457200" rtl="0" algn="l">
              <a:lnSpc>
                <a:spcPct val="115000"/>
              </a:lnSpc>
              <a:spcBef>
                <a:spcPts val="1000"/>
              </a:spcBef>
              <a:spcAft>
                <a:spcPts val="0"/>
              </a:spcAft>
              <a:buClr>
                <a:schemeClr val="dk1"/>
              </a:buClr>
              <a:buSzPts val="2000"/>
              <a:buFont typeface="Calibri"/>
              <a:buChar char="•"/>
            </a:pPr>
            <a:r>
              <a:rPr lang="en-US">
                <a:solidFill>
                  <a:schemeClr val="dk1"/>
                </a:solidFill>
                <a:latin typeface="Calibri"/>
                <a:ea typeface="Calibri"/>
                <a:cs typeface="Calibri"/>
                <a:sym typeface="Calibri"/>
              </a:rPr>
              <a:t>Christina Freibott is supported by NIDA grant T32-DA041898-03.</a:t>
            </a:r>
            <a:endParaRPr>
              <a:solidFill>
                <a:schemeClr val="dk1"/>
              </a:solidFill>
              <a:latin typeface="Calibri"/>
              <a:ea typeface="Calibri"/>
              <a:cs typeface="Calibri"/>
              <a:sym typeface="Calibri"/>
            </a:endParaRPr>
          </a:p>
          <a:p>
            <a:pPr indent="-355600" lvl="0" marL="457200" rtl="0" algn="l">
              <a:lnSpc>
                <a:spcPct val="115000"/>
              </a:lnSpc>
              <a:spcBef>
                <a:spcPts val="1000"/>
              </a:spcBef>
              <a:spcAft>
                <a:spcPts val="0"/>
              </a:spcAft>
              <a:buClr>
                <a:schemeClr val="dk1"/>
              </a:buClr>
              <a:buSzPts val="2000"/>
              <a:buFont typeface="Calibri"/>
              <a:buChar char="•"/>
            </a:pPr>
            <a:r>
              <a:rPr lang="en-US">
                <a:solidFill>
                  <a:schemeClr val="dk1"/>
                </a:solidFill>
                <a:latin typeface="Calibri"/>
                <a:ea typeface="Calibri"/>
                <a:cs typeface="Calibri"/>
                <a:sym typeface="Calibri"/>
              </a:rPr>
              <a:t>Many thanks to my co-authors Carolina Herrera, Christina Freibott, Alison Duncan, and Jack Clark </a:t>
            </a:r>
            <a:endParaRPr>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g16de9dd47b8_0_15"/>
          <p:cNvSpPr txBox="1"/>
          <p:nvPr>
            <p:ph type="title"/>
          </p:nvPr>
        </p:nvSpPr>
        <p:spPr>
          <a:xfrm>
            <a:off x="838200" y="261607"/>
            <a:ext cx="10515600" cy="13257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990"/>
              <a:buNone/>
            </a:pPr>
            <a:r>
              <a:rPr lang="en-US" sz="3000">
                <a:highlight>
                  <a:schemeClr val="lt1"/>
                </a:highlight>
              </a:rPr>
              <a:t>Psychiatric Emergency Services (PES) plays a critical role in mental health access </a:t>
            </a:r>
            <a:endParaRPr sz="3000">
              <a:highlight>
                <a:schemeClr val="lt1"/>
              </a:highlight>
            </a:endParaRPr>
          </a:p>
        </p:txBody>
      </p:sp>
      <p:sp>
        <p:nvSpPr>
          <p:cNvPr id="85" name="Google Shape;85;g16de9dd47b8_0_15"/>
          <p:cNvSpPr txBox="1"/>
          <p:nvPr>
            <p:ph idx="1" type="body"/>
          </p:nvPr>
        </p:nvSpPr>
        <p:spPr>
          <a:xfrm>
            <a:off x="651675" y="1978000"/>
            <a:ext cx="5650800" cy="42915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1000"/>
              </a:spcBef>
              <a:spcAft>
                <a:spcPts val="0"/>
              </a:spcAft>
              <a:buSzPts val="2000"/>
              <a:buNone/>
            </a:pPr>
            <a:r>
              <a:rPr b="1" lang="en-US">
                <a:solidFill>
                  <a:schemeClr val="dk1"/>
                </a:solidFill>
                <a:highlight>
                  <a:schemeClr val="lt1"/>
                </a:highlight>
                <a:latin typeface="Calibri"/>
                <a:ea typeface="Calibri"/>
                <a:cs typeface="Calibri"/>
                <a:sym typeface="Calibri"/>
              </a:rPr>
              <a:t>PES is the psychiatric safety net</a:t>
            </a:r>
            <a:endParaRPr b="1">
              <a:solidFill>
                <a:schemeClr val="dk1"/>
              </a:solidFill>
              <a:highlight>
                <a:schemeClr val="lt1"/>
              </a:highlight>
              <a:latin typeface="Calibri"/>
              <a:ea typeface="Calibri"/>
              <a:cs typeface="Calibri"/>
              <a:sym typeface="Calibri"/>
            </a:endParaRPr>
          </a:p>
          <a:p>
            <a:pPr indent="-355600" lvl="0" marL="457200" rtl="0" algn="l">
              <a:lnSpc>
                <a:spcPct val="80000"/>
              </a:lnSpc>
              <a:spcBef>
                <a:spcPts val="1000"/>
              </a:spcBef>
              <a:spcAft>
                <a:spcPts val="0"/>
              </a:spcAft>
              <a:buClr>
                <a:schemeClr val="dk1"/>
              </a:buClr>
              <a:buSzPts val="2000"/>
              <a:buFont typeface="Calibri"/>
              <a:buChar char="•"/>
            </a:pPr>
            <a:r>
              <a:rPr lang="en-US">
                <a:solidFill>
                  <a:schemeClr val="dk1"/>
                </a:solidFill>
                <a:highlight>
                  <a:schemeClr val="lt1"/>
                </a:highlight>
                <a:latin typeface="Calibri"/>
                <a:ea typeface="Calibri"/>
                <a:cs typeface="Calibri"/>
                <a:sym typeface="Calibri"/>
              </a:rPr>
              <a:t>24/7 </a:t>
            </a:r>
            <a:r>
              <a:rPr lang="en-US">
                <a:solidFill>
                  <a:schemeClr val="accent2"/>
                </a:solidFill>
                <a:highlight>
                  <a:schemeClr val="lt1"/>
                </a:highlight>
                <a:latin typeface="Calibri"/>
                <a:ea typeface="Calibri"/>
                <a:cs typeface="Calibri"/>
                <a:sym typeface="Calibri"/>
              </a:rPr>
              <a:t>triage for patients in crisis</a:t>
            </a:r>
            <a:endParaRPr>
              <a:solidFill>
                <a:schemeClr val="accent2"/>
              </a:solidFill>
              <a:highlight>
                <a:schemeClr val="lt1"/>
              </a:highlight>
              <a:latin typeface="Calibri"/>
              <a:ea typeface="Calibri"/>
              <a:cs typeface="Calibri"/>
              <a:sym typeface="Calibri"/>
            </a:endParaRPr>
          </a:p>
          <a:p>
            <a:pPr indent="-355600" lvl="0" marL="457200" rtl="0" algn="l">
              <a:lnSpc>
                <a:spcPct val="80000"/>
              </a:lnSpc>
              <a:spcBef>
                <a:spcPts val="0"/>
              </a:spcBef>
              <a:spcAft>
                <a:spcPts val="0"/>
              </a:spcAft>
              <a:buClr>
                <a:schemeClr val="dk1"/>
              </a:buClr>
              <a:buSzPts val="2000"/>
              <a:buFont typeface="Calibri"/>
              <a:buChar char="•"/>
            </a:pPr>
            <a:r>
              <a:rPr lang="en-US">
                <a:solidFill>
                  <a:schemeClr val="accent2"/>
                </a:solidFill>
                <a:highlight>
                  <a:schemeClr val="lt1"/>
                </a:highlight>
                <a:latin typeface="Calibri"/>
                <a:ea typeface="Calibri"/>
                <a:cs typeface="Calibri"/>
                <a:sym typeface="Calibri"/>
              </a:rPr>
              <a:t>Stabilizes </a:t>
            </a:r>
            <a:r>
              <a:rPr lang="en-US">
                <a:solidFill>
                  <a:schemeClr val="dk1"/>
                </a:solidFill>
                <a:highlight>
                  <a:schemeClr val="lt1"/>
                </a:highlight>
                <a:latin typeface="Calibri"/>
                <a:ea typeface="Calibri"/>
                <a:cs typeface="Calibri"/>
                <a:sym typeface="Calibri"/>
              </a:rPr>
              <a:t>patients so they can go on to get appropriative treatment</a:t>
            </a:r>
            <a:endParaRPr>
              <a:solidFill>
                <a:schemeClr val="dk1"/>
              </a:solidFill>
              <a:highlight>
                <a:schemeClr val="lt1"/>
              </a:highlight>
              <a:latin typeface="Calibri"/>
              <a:ea typeface="Calibri"/>
              <a:cs typeface="Calibri"/>
              <a:sym typeface="Calibri"/>
            </a:endParaRPr>
          </a:p>
          <a:p>
            <a:pPr indent="-355600" lvl="0" marL="457200" rtl="0" algn="l">
              <a:lnSpc>
                <a:spcPct val="80000"/>
              </a:lnSpc>
              <a:spcBef>
                <a:spcPts val="0"/>
              </a:spcBef>
              <a:spcAft>
                <a:spcPts val="0"/>
              </a:spcAft>
              <a:buClr>
                <a:schemeClr val="dk1"/>
              </a:buClr>
              <a:buSzPts val="2000"/>
              <a:buFont typeface="Calibri"/>
              <a:buChar char="•"/>
            </a:pPr>
            <a:r>
              <a:rPr lang="en-US">
                <a:solidFill>
                  <a:schemeClr val="dk1"/>
                </a:solidFill>
                <a:highlight>
                  <a:schemeClr val="lt1"/>
                </a:highlight>
                <a:latin typeface="Calibri"/>
                <a:ea typeface="Calibri"/>
                <a:cs typeface="Calibri"/>
                <a:sym typeface="Calibri"/>
              </a:rPr>
              <a:t>Seeks to </a:t>
            </a:r>
            <a:r>
              <a:rPr lang="en-US">
                <a:solidFill>
                  <a:schemeClr val="accent2"/>
                </a:solidFill>
                <a:highlight>
                  <a:schemeClr val="lt1"/>
                </a:highlight>
                <a:latin typeface="Calibri"/>
                <a:ea typeface="Calibri"/>
                <a:cs typeface="Calibri"/>
                <a:sym typeface="Calibri"/>
              </a:rPr>
              <a:t>rapidly discharge </a:t>
            </a:r>
            <a:r>
              <a:rPr lang="en-US">
                <a:solidFill>
                  <a:schemeClr val="dk1"/>
                </a:solidFill>
                <a:highlight>
                  <a:schemeClr val="lt1"/>
                </a:highlight>
                <a:latin typeface="Calibri"/>
                <a:ea typeface="Calibri"/>
                <a:cs typeface="Calibri"/>
                <a:sym typeface="Calibri"/>
              </a:rPr>
              <a:t>patients to acute and/or intensive care</a:t>
            </a:r>
            <a:endParaRPr>
              <a:solidFill>
                <a:schemeClr val="dk1"/>
              </a:solidFill>
              <a:highlight>
                <a:schemeClr val="lt1"/>
              </a:highlight>
              <a:latin typeface="Calibri"/>
              <a:ea typeface="Calibri"/>
              <a:cs typeface="Calibri"/>
              <a:sym typeface="Calibri"/>
            </a:endParaRPr>
          </a:p>
          <a:p>
            <a:pPr indent="0" lvl="0" marL="457200" rtl="0" algn="l">
              <a:lnSpc>
                <a:spcPct val="80000"/>
              </a:lnSpc>
              <a:spcBef>
                <a:spcPts val="1000"/>
              </a:spcBef>
              <a:spcAft>
                <a:spcPts val="0"/>
              </a:spcAft>
              <a:buSzPts val="2000"/>
              <a:buNone/>
            </a:pPr>
            <a:r>
              <a:t/>
            </a:r>
            <a:endParaRPr>
              <a:solidFill>
                <a:schemeClr val="dk1"/>
              </a:solidFill>
              <a:highlight>
                <a:schemeClr val="lt1"/>
              </a:highlight>
              <a:latin typeface="Calibri"/>
              <a:ea typeface="Calibri"/>
              <a:cs typeface="Calibri"/>
              <a:sym typeface="Calibri"/>
            </a:endParaRPr>
          </a:p>
          <a:p>
            <a:pPr indent="0" lvl="0" marL="0" rtl="0" algn="l">
              <a:lnSpc>
                <a:spcPct val="80000"/>
              </a:lnSpc>
              <a:spcBef>
                <a:spcPts val="1000"/>
              </a:spcBef>
              <a:spcAft>
                <a:spcPts val="0"/>
              </a:spcAft>
              <a:buSzPts val="2000"/>
              <a:buNone/>
            </a:pPr>
            <a:r>
              <a:rPr b="1" lang="en-US">
                <a:solidFill>
                  <a:schemeClr val="dk1"/>
                </a:solidFill>
                <a:highlight>
                  <a:schemeClr val="lt1"/>
                </a:highlight>
                <a:latin typeface="Calibri"/>
                <a:ea typeface="Calibri"/>
                <a:cs typeface="Calibri"/>
                <a:sym typeface="Calibri"/>
              </a:rPr>
              <a:t>PES is how many publicly insured youth access intensive treatment  </a:t>
            </a:r>
            <a:endParaRPr b="1">
              <a:solidFill>
                <a:schemeClr val="dk1"/>
              </a:solidFill>
              <a:highlight>
                <a:schemeClr val="lt1"/>
              </a:highlight>
              <a:latin typeface="Calibri"/>
              <a:ea typeface="Calibri"/>
              <a:cs typeface="Calibri"/>
              <a:sym typeface="Calibri"/>
            </a:endParaRPr>
          </a:p>
          <a:p>
            <a:pPr indent="0" lvl="0" marL="0" rtl="0" algn="l">
              <a:lnSpc>
                <a:spcPct val="95000"/>
              </a:lnSpc>
              <a:spcBef>
                <a:spcPts val="0"/>
              </a:spcBef>
              <a:spcAft>
                <a:spcPts val="0"/>
              </a:spcAft>
              <a:buSzPts val="2000"/>
              <a:buNone/>
            </a:pPr>
            <a:r>
              <a:t/>
            </a:r>
            <a:endParaRPr b="1">
              <a:solidFill>
                <a:srgbClr val="000000"/>
              </a:solidFill>
              <a:latin typeface="Calibri"/>
              <a:ea typeface="Calibri"/>
              <a:cs typeface="Calibri"/>
              <a:sym typeface="Calibri"/>
            </a:endParaRPr>
          </a:p>
          <a:p>
            <a:pPr indent="0" lvl="0" marL="0" rtl="0" algn="l">
              <a:lnSpc>
                <a:spcPct val="95000"/>
              </a:lnSpc>
              <a:spcBef>
                <a:spcPts val="0"/>
              </a:spcBef>
              <a:spcAft>
                <a:spcPts val="0"/>
              </a:spcAft>
              <a:buSzPts val="2000"/>
              <a:buNone/>
            </a:pPr>
            <a:r>
              <a:rPr b="1" lang="en-US">
                <a:solidFill>
                  <a:srgbClr val="000000"/>
                </a:solidFill>
                <a:latin typeface="Calibri"/>
                <a:ea typeface="Calibri"/>
                <a:cs typeface="Calibri"/>
                <a:sym typeface="Calibri"/>
              </a:rPr>
              <a:t>Discharge plans that are not timely or appropriate could cause a readmission to PES</a:t>
            </a:r>
            <a:endParaRPr b="1" baseline="30000">
              <a:solidFill>
                <a:srgbClr val="000000"/>
              </a:solidFill>
              <a:latin typeface="Calibri"/>
              <a:ea typeface="Calibri"/>
              <a:cs typeface="Calibri"/>
              <a:sym typeface="Calibri"/>
            </a:endParaRPr>
          </a:p>
        </p:txBody>
      </p:sp>
      <p:pic>
        <p:nvPicPr>
          <p:cNvPr id="86" name="Google Shape;86;g16de9dd47b8_0_15"/>
          <p:cNvPicPr preferRelativeResize="0"/>
          <p:nvPr/>
        </p:nvPicPr>
        <p:blipFill rotWithShape="1">
          <a:blip r:embed="rId3">
            <a:alphaModFix/>
          </a:blip>
          <a:srcRect b="0" l="0" r="0" t="0"/>
          <a:stretch/>
        </p:blipFill>
        <p:spPr>
          <a:xfrm>
            <a:off x="6162650" y="1815900"/>
            <a:ext cx="5506451" cy="45558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g16de9dd47b8_0_54"/>
          <p:cNvSpPr txBox="1"/>
          <p:nvPr>
            <p:ph type="title"/>
          </p:nvPr>
        </p:nvSpPr>
        <p:spPr>
          <a:xfrm>
            <a:off x="838200" y="261607"/>
            <a:ext cx="105156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4000"/>
              <a:buNone/>
            </a:pPr>
            <a:r>
              <a:rPr lang="en-US" sz="3000"/>
              <a:t>Concern: </a:t>
            </a:r>
            <a:endParaRPr sz="3000"/>
          </a:p>
          <a:p>
            <a:pPr indent="0" lvl="0" marL="0" rtl="0" algn="ctr">
              <a:lnSpc>
                <a:spcPct val="90000"/>
              </a:lnSpc>
              <a:spcBef>
                <a:spcPts val="0"/>
              </a:spcBef>
              <a:spcAft>
                <a:spcPts val="0"/>
              </a:spcAft>
              <a:buSzPts val="4000"/>
              <a:buNone/>
            </a:pPr>
            <a:r>
              <a:rPr lang="en-US" sz="3000"/>
              <a:t>PES use/readmits rising among Youth of Color </a:t>
            </a:r>
            <a:endParaRPr sz="3000"/>
          </a:p>
        </p:txBody>
      </p:sp>
      <p:sp>
        <p:nvSpPr>
          <p:cNvPr id="93" name="Google Shape;93;g16de9dd47b8_0_54"/>
          <p:cNvSpPr txBox="1"/>
          <p:nvPr>
            <p:ph idx="1" type="body"/>
          </p:nvPr>
        </p:nvSpPr>
        <p:spPr>
          <a:xfrm>
            <a:off x="4740500" y="1892900"/>
            <a:ext cx="7235100" cy="4387500"/>
          </a:xfrm>
          <a:prstGeom prst="rect">
            <a:avLst/>
          </a:prstGeom>
          <a:noFill/>
          <a:ln>
            <a:noFill/>
          </a:ln>
        </p:spPr>
        <p:txBody>
          <a:bodyPr anchorCtr="0" anchor="t" bIns="45700" lIns="91425" spcFirstLastPara="1" rIns="91425" wrap="square" tIns="45700">
            <a:normAutofit/>
          </a:bodyPr>
          <a:lstStyle/>
          <a:p>
            <a:pPr indent="-368300" lvl="0" marL="457200" rtl="0" algn="l">
              <a:lnSpc>
                <a:spcPct val="100000"/>
              </a:lnSpc>
              <a:spcBef>
                <a:spcPts val="1200"/>
              </a:spcBef>
              <a:spcAft>
                <a:spcPts val="0"/>
              </a:spcAft>
              <a:buClr>
                <a:srgbClr val="000000"/>
              </a:buClr>
              <a:buSzPts val="2200"/>
              <a:buFont typeface="Calibri"/>
              <a:buChar char="•"/>
            </a:pPr>
            <a:r>
              <a:rPr b="1" lang="en-US" sz="2200">
                <a:solidFill>
                  <a:srgbClr val="000000"/>
                </a:solidFill>
                <a:latin typeface="Calibri"/>
                <a:ea typeface="Calibri"/>
                <a:cs typeface="Calibri"/>
                <a:sym typeface="Calibri"/>
              </a:rPr>
              <a:t>Before the Pandemic</a:t>
            </a:r>
            <a:endParaRPr b="1" sz="2200">
              <a:solidFill>
                <a:srgbClr val="000000"/>
              </a:solidFill>
              <a:latin typeface="Calibri"/>
              <a:ea typeface="Calibri"/>
              <a:cs typeface="Calibri"/>
              <a:sym typeface="Calibri"/>
            </a:endParaRPr>
          </a:p>
          <a:p>
            <a:pPr indent="-368300" lvl="1" marL="914400" rtl="0" algn="l">
              <a:lnSpc>
                <a:spcPct val="100000"/>
              </a:lnSpc>
              <a:spcBef>
                <a:spcPts val="1200"/>
              </a:spcBef>
              <a:spcAft>
                <a:spcPts val="0"/>
              </a:spcAft>
              <a:buClr>
                <a:srgbClr val="000000"/>
              </a:buClr>
              <a:buSzPts val="2200"/>
              <a:buFont typeface="Calibri"/>
              <a:buChar char="•"/>
            </a:pPr>
            <a:r>
              <a:rPr b="1" lang="en-US" sz="2200">
                <a:solidFill>
                  <a:srgbClr val="000000"/>
                </a:solidFill>
                <a:latin typeface="Calibri"/>
                <a:ea typeface="Calibri"/>
                <a:cs typeface="Calibri"/>
                <a:sym typeface="Calibri"/>
              </a:rPr>
              <a:t>PES visits rose by over 50% for youth of color (YOC) </a:t>
            </a:r>
            <a:r>
              <a:rPr lang="en-US" sz="2200">
                <a:solidFill>
                  <a:srgbClr val="000000"/>
                </a:solidFill>
                <a:latin typeface="Calibri"/>
                <a:ea typeface="Calibri"/>
                <a:cs typeface="Calibri"/>
                <a:sym typeface="Calibri"/>
              </a:rPr>
              <a:t>between 2011 and 2015</a:t>
            </a:r>
            <a:r>
              <a:rPr baseline="30000" lang="en-US" sz="2200">
                <a:solidFill>
                  <a:srgbClr val="000000"/>
                </a:solidFill>
                <a:latin typeface="Calibri"/>
                <a:ea typeface="Calibri"/>
                <a:cs typeface="Calibri"/>
                <a:sym typeface="Calibri"/>
              </a:rPr>
              <a:t>3</a:t>
            </a:r>
            <a:endParaRPr baseline="30000" sz="2200">
              <a:solidFill>
                <a:srgbClr val="000000"/>
              </a:solidFill>
              <a:latin typeface="Calibri"/>
              <a:ea typeface="Calibri"/>
              <a:cs typeface="Calibri"/>
              <a:sym typeface="Calibri"/>
            </a:endParaRPr>
          </a:p>
          <a:p>
            <a:pPr indent="-368300" lvl="1" marL="914400" rtl="0" algn="l">
              <a:lnSpc>
                <a:spcPct val="100000"/>
              </a:lnSpc>
              <a:spcBef>
                <a:spcPts val="1200"/>
              </a:spcBef>
              <a:spcAft>
                <a:spcPts val="0"/>
              </a:spcAft>
              <a:buClr>
                <a:srgbClr val="000000"/>
              </a:buClr>
              <a:buSzPts val="2200"/>
              <a:buFont typeface="Calibri"/>
              <a:buChar char="•"/>
            </a:pPr>
            <a:r>
              <a:rPr lang="en-US" sz="2200">
                <a:solidFill>
                  <a:srgbClr val="000000"/>
                </a:solidFill>
                <a:latin typeface="Calibri"/>
                <a:ea typeface="Calibri"/>
                <a:cs typeface="Calibri"/>
                <a:sym typeface="Calibri"/>
              </a:rPr>
              <a:t>PES visits for youth w/ </a:t>
            </a:r>
            <a:r>
              <a:rPr b="1" lang="en-US" sz="2200">
                <a:solidFill>
                  <a:srgbClr val="000000"/>
                </a:solidFill>
                <a:latin typeface="Calibri"/>
                <a:ea typeface="Calibri"/>
                <a:cs typeface="Calibri"/>
                <a:sym typeface="Calibri"/>
              </a:rPr>
              <a:t>suicidal behaviors and self-harm doubled</a:t>
            </a:r>
            <a:r>
              <a:rPr lang="en-US" sz="2200">
                <a:solidFill>
                  <a:srgbClr val="000000"/>
                </a:solidFill>
                <a:latin typeface="Calibri"/>
                <a:ea typeface="Calibri"/>
                <a:cs typeface="Calibri"/>
                <a:sym typeface="Calibri"/>
              </a:rPr>
              <a:t> (2007-2016)</a:t>
            </a:r>
            <a:r>
              <a:rPr baseline="30000" lang="en-US" sz="2200">
                <a:solidFill>
                  <a:srgbClr val="000000"/>
                </a:solidFill>
                <a:latin typeface="Calibri"/>
                <a:ea typeface="Calibri"/>
                <a:cs typeface="Calibri"/>
                <a:sym typeface="Calibri"/>
              </a:rPr>
              <a:t>4</a:t>
            </a:r>
            <a:endParaRPr baseline="30000" sz="2200">
              <a:solidFill>
                <a:srgbClr val="000000"/>
              </a:solidFill>
              <a:latin typeface="Calibri"/>
              <a:ea typeface="Calibri"/>
              <a:cs typeface="Calibri"/>
              <a:sym typeface="Calibri"/>
            </a:endParaRPr>
          </a:p>
          <a:p>
            <a:pPr indent="-368300" lvl="1" marL="914400" rtl="0" algn="l">
              <a:lnSpc>
                <a:spcPct val="100000"/>
              </a:lnSpc>
              <a:spcBef>
                <a:spcPts val="1000"/>
              </a:spcBef>
              <a:spcAft>
                <a:spcPts val="0"/>
              </a:spcAft>
              <a:buClr>
                <a:srgbClr val="000000"/>
              </a:buClr>
              <a:buSzPts val="2200"/>
              <a:buFont typeface="Calibri"/>
              <a:buChar char="•"/>
            </a:pPr>
            <a:r>
              <a:rPr b="1" lang="en-US" sz="2200">
                <a:solidFill>
                  <a:srgbClr val="000000"/>
                </a:solidFill>
                <a:latin typeface="Calibri"/>
                <a:ea typeface="Calibri"/>
                <a:cs typeface="Calibri"/>
                <a:sym typeface="Calibri"/>
              </a:rPr>
              <a:t>19% to 62% of youth seen in PES readmit</a:t>
            </a:r>
            <a:r>
              <a:rPr lang="en-US" sz="2200">
                <a:solidFill>
                  <a:srgbClr val="000000"/>
                </a:solidFill>
                <a:latin typeface="Calibri"/>
                <a:ea typeface="Calibri"/>
                <a:cs typeface="Calibri"/>
                <a:sym typeface="Calibri"/>
              </a:rPr>
              <a:t> in 6 months</a:t>
            </a:r>
            <a:r>
              <a:rPr baseline="30000" lang="en-US" sz="2200">
                <a:solidFill>
                  <a:srgbClr val="000000"/>
                </a:solidFill>
                <a:latin typeface="Calibri"/>
                <a:ea typeface="Calibri"/>
                <a:cs typeface="Calibri"/>
                <a:sym typeface="Calibri"/>
              </a:rPr>
              <a:t>5</a:t>
            </a:r>
            <a:endParaRPr baseline="30000" sz="2200">
              <a:solidFill>
                <a:srgbClr val="000000"/>
              </a:solidFill>
              <a:latin typeface="Calibri"/>
              <a:ea typeface="Calibri"/>
              <a:cs typeface="Calibri"/>
              <a:sym typeface="Calibri"/>
            </a:endParaRPr>
          </a:p>
          <a:p>
            <a:pPr indent="-368300" lvl="1" marL="914400" rtl="0" algn="l">
              <a:lnSpc>
                <a:spcPct val="100000"/>
              </a:lnSpc>
              <a:spcBef>
                <a:spcPts val="1000"/>
              </a:spcBef>
              <a:spcAft>
                <a:spcPts val="0"/>
              </a:spcAft>
              <a:buClr>
                <a:srgbClr val="000000"/>
              </a:buClr>
              <a:buSzPts val="2200"/>
              <a:buFont typeface="Calibri"/>
              <a:buChar char="•"/>
            </a:pPr>
            <a:r>
              <a:rPr b="1" lang="en-US" sz="2200">
                <a:solidFill>
                  <a:srgbClr val="000000"/>
                </a:solidFill>
                <a:latin typeface="Calibri"/>
                <a:ea typeface="Calibri"/>
                <a:cs typeface="Calibri"/>
                <a:sym typeface="Calibri"/>
              </a:rPr>
              <a:t>Black youth 150 times more likely than White youth</a:t>
            </a:r>
            <a:r>
              <a:rPr lang="en-US" sz="2200">
                <a:solidFill>
                  <a:srgbClr val="000000"/>
                </a:solidFill>
                <a:latin typeface="Calibri"/>
                <a:ea typeface="Calibri"/>
                <a:cs typeface="Calibri"/>
                <a:sym typeface="Calibri"/>
              </a:rPr>
              <a:t> to have 4+ PES visits in 9 months</a:t>
            </a:r>
            <a:r>
              <a:rPr baseline="30000" lang="en-US" sz="2200">
                <a:solidFill>
                  <a:srgbClr val="000000"/>
                </a:solidFill>
                <a:latin typeface="Calibri"/>
                <a:ea typeface="Calibri"/>
                <a:cs typeface="Calibri"/>
                <a:sym typeface="Calibri"/>
              </a:rPr>
              <a:t>6</a:t>
            </a:r>
            <a:endParaRPr baseline="30000" sz="2200">
              <a:solidFill>
                <a:srgbClr val="000000"/>
              </a:solidFill>
              <a:latin typeface="Calibri"/>
              <a:ea typeface="Calibri"/>
              <a:cs typeface="Calibri"/>
              <a:sym typeface="Calibri"/>
            </a:endParaRPr>
          </a:p>
          <a:p>
            <a:pPr indent="-368300" lvl="0" marL="457200" rtl="0" algn="l">
              <a:lnSpc>
                <a:spcPct val="100000"/>
              </a:lnSpc>
              <a:spcBef>
                <a:spcPts val="1000"/>
              </a:spcBef>
              <a:spcAft>
                <a:spcPts val="1000"/>
              </a:spcAft>
              <a:buClr>
                <a:srgbClr val="000000"/>
              </a:buClr>
              <a:buSzPts val="2200"/>
              <a:buFont typeface="Calibri"/>
              <a:buChar char="•"/>
            </a:pPr>
            <a:r>
              <a:rPr b="1" lang="en-US" sz="2200">
                <a:solidFill>
                  <a:srgbClr val="000000"/>
                </a:solidFill>
                <a:latin typeface="Calibri"/>
                <a:ea typeface="Calibri"/>
                <a:cs typeface="Calibri"/>
                <a:sym typeface="Calibri"/>
              </a:rPr>
              <a:t>Effects of pandemic on PES use still being investigated</a:t>
            </a:r>
            <a:endParaRPr baseline="30000" sz="2200">
              <a:solidFill>
                <a:srgbClr val="000000"/>
              </a:solidFill>
              <a:latin typeface="Calibri"/>
              <a:ea typeface="Calibri"/>
              <a:cs typeface="Calibri"/>
              <a:sym typeface="Calibri"/>
            </a:endParaRPr>
          </a:p>
        </p:txBody>
      </p:sp>
      <p:pic>
        <p:nvPicPr>
          <p:cNvPr id="94" name="Google Shape;94;g16de9dd47b8_0_54"/>
          <p:cNvPicPr preferRelativeResize="0"/>
          <p:nvPr/>
        </p:nvPicPr>
        <p:blipFill rotWithShape="1">
          <a:blip r:embed="rId3">
            <a:alphaModFix/>
          </a:blip>
          <a:srcRect b="0" l="0" r="0" t="0"/>
          <a:stretch/>
        </p:blipFill>
        <p:spPr>
          <a:xfrm>
            <a:off x="914400" y="1892897"/>
            <a:ext cx="3502475" cy="3210050"/>
          </a:xfrm>
          <a:prstGeom prst="rect">
            <a:avLst/>
          </a:prstGeom>
          <a:noFill/>
          <a:ln cap="flat" cmpd="sng" w="38100">
            <a:solidFill>
              <a:srgbClr val="9E9E9E"/>
            </a:solidFill>
            <a:prstDash val="solid"/>
            <a:round/>
            <a:headEnd len="sm" w="sm" type="none"/>
            <a:tailEnd len="sm" w="sm" type="none"/>
          </a:ln>
        </p:spPr>
      </p:pic>
      <p:sp>
        <p:nvSpPr>
          <p:cNvPr id="95" name="Google Shape;95;g16de9dd47b8_0_54"/>
          <p:cNvSpPr txBox="1"/>
          <p:nvPr/>
        </p:nvSpPr>
        <p:spPr>
          <a:xfrm>
            <a:off x="761900" y="5293450"/>
            <a:ext cx="3721200" cy="923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1200"/>
              </a:spcBef>
              <a:spcAft>
                <a:spcPts val="1200"/>
              </a:spcAft>
              <a:buClr>
                <a:srgbClr val="000000"/>
              </a:buClr>
              <a:buSzPts val="1000"/>
              <a:buFont typeface="Arial"/>
              <a:buNone/>
            </a:pPr>
            <a:r>
              <a:rPr b="0" i="0" lang="en-US" sz="1000" u="none" cap="none" strike="noStrike">
                <a:solidFill>
                  <a:srgbClr val="000000"/>
                </a:solidFill>
                <a:latin typeface="Arial"/>
                <a:ea typeface="Arial"/>
                <a:cs typeface="Arial"/>
                <a:sym typeface="Arial"/>
              </a:rPr>
              <a:t>Source: </a:t>
            </a:r>
            <a:r>
              <a:rPr b="0" i="0" lang="en-US" sz="1200" u="none" cap="none" strike="noStrike">
                <a:solidFill>
                  <a:srgbClr val="212121"/>
                </a:solidFill>
                <a:highlight>
                  <a:srgbClr val="FFFFFF"/>
                </a:highlight>
                <a:latin typeface="Roboto"/>
                <a:ea typeface="Roboto"/>
                <a:cs typeface="Roboto"/>
                <a:sym typeface="Roboto"/>
              </a:rPr>
              <a:t>Kalb LG, Stapp EK, Ballard ED, Holingue C, Keefer A, Riley A. Trends in Psychiatric Emergency Department Visits Among Youth and Young Adults in the US. </a:t>
            </a:r>
            <a:r>
              <a:rPr b="0" i="1" lang="en-US" sz="1200" u="none" cap="none" strike="noStrike">
                <a:solidFill>
                  <a:srgbClr val="212121"/>
                </a:solidFill>
                <a:highlight>
                  <a:srgbClr val="FFFFFF"/>
                </a:highlight>
                <a:latin typeface="Roboto"/>
                <a:ea typeface="Roboto"/>
                <a:cs typeface="Roboto"/>
                <a:sym typeface="Roboto"/>
              </a:rPr>
              <a:t>Pediatrics</a:t>
            </a:r>
            <a:r>
              <a:rPr b="0" i="0" lang="en-US" sz="1200" u="none" cap="none" strike="noStrike">
                <a:solidFill>
                  <a:srgbClr val="212121"/>
                </a:solidFill>
                <a:highlight>
                  <a:srgbClr val="FFFFFF"/>
                </a:highlight>
                <a:latin typeface="Roboto"/>
                <a:ea typeface="Roboto"/>
                <a:cs typeface="Roboto"/>
                <a:sym typeface="Roboto"/>
              </a:rPr>
              <a:t>. 2019;143(4)</a:t>
            </a:r>
            <a:endParaRPr b="0" i="0" sz="10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g17521ace8ca_0_0"/>
          <p:cNvSpPr txBox="1"/>
          <p:nvPr>
            <p:ph type="title"/>
          </p:nvPr>
        </p:nvSpPr>
        <p:spPr>
          <a:xfrm>
            <a:off x="838200" y="261607"/>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4000"/>
              <a:buNone/>
            </a:pPr>
            <a:r>
              <a:rPr lang="en-US" sz="3000"/>
              <a:t>Timely and appropriate care requires negotiation through Shared Decision Making (SDM)</a:t>
            </a:r>
            <a:endParaRPr sz="3000"/>
          </a:p>
        </p:txBody>
      </p:sp>
      <p:sp>
        <p:nvSpPr>
          <p:cNvPr id="102" name="Google Shape;102;g17521ace8ca_0_0"/>
          <p:cNvSpPr txBox="1"/>
          <p:nvPr>
            <p:ph idx="1" type="body"/>
          </p:nvPr>
        </p:nvSpPr>
        <p:spPr>
          <a:xfrm>
            <a:off x="5561875" y="1771925"/>
            <a:ext cx="6630300" cy="43605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000"/>
              </a:spcBef>
              <a:spcAft>
                <a:spcPts val="0"/>
              </a:spcAft>
              <a:buSzPts val="2000"/>
              <a:buNone/>
            </a:pPr>
            <a:r>
              <a:rPr b="1" lang="en-US">
                <a:solidFill>
                  <a:schemeClr val="dk1"/>
                </a:solidFill>
                <a:latin typeface="Calibri"/>
                <a:ea typeface="Calibri"/>
                <a:cs typeface="Calibri"/>
                <a:sym typeface="Calibri"/>
              </a:rPr>
              <a:t>Treatment Decisions</a:t>
            </a:r>
            <a:endParaRPr b="1">
              <a:solidFill>
                <a:schemeClr val="dk1"/>
              </a:solidFill>
              <a:latin typeface="Calibri"/>
              <a:ea typeface="Calibri"/>
              <a:cs typeface="Calibri"/>
              <a:sym typeface="Calibri"/>
            </a:endParaRPr>
          </a:p>
          <a:p>
            <a:pPr indent="-355600" lvl="0" marL="457200" rtl="0" algn="l">
              <a:lnSpc>
                <a:spcPct val="115000"/>
              </a:lnSpc>
              <a:spcBef>
                <a:spcPts val="1000"/>
              </a:spcBef>
              <a:spcAft>
                <a:spcPts val="0"/>
              </a:spcAft>
              <a:buClr>
                <a:schemeClr val="dk1"/>
              </a:buClr>
              <a:buSzPts val="2000"/>
              <a:buFont typeface="Calibri"/>
              <a:buChar char="•"/>
            </a:pPr>
            <a:r>
              <a:rPr lang="en-US">
                <a:solidFill>
                  <a:schemeClr val="dk1"/>
                </a:solidFill>
                <a:latin typeface="Calibri"/>
                <a:ea typeface="Calibri"/>
                <a:cs typeface="Calibri"/>
                <a:sym typeface="Calibri"/>
              </a:rPr>
              <a:t>Involves clinical judgement and resources</a:t>
            </a:r>
            <a:endParaRPr>
              <a:solidFill>
                <a:schemeClr val="dk1"/>
              </a:solidFill>
              <a:latin typeface="Calibri"/>
              <a:ea typeface="Calibri"/>
              <a:cs typeface="Calibri"/>
              <a:sym typeface="Calibri"/>
            </a:endParaRPr>
          </a:p>
          <a:p>
            <a:pPr indent="-355600" lvl="0" marL="457200" rtl="0" algn="l">
              <a:lnSpc>
                <a:spcPct val="115000"/>
              </a:lnSpc>
              <a:spcBef>
                <a:spcPts val="1000"/>
              </a:spcBef>
              <a:spcAft>
                <a:spcPts val="0"/>
              </a:spcAft>
              <a:buClr>
                <a:schemeClr val="dk1"/>
              </a:buClr>
              <a:buSzPts val="2000"/>
              <a:buFont typeface="Calibri"/>
              <a:buChar char="•"/>
            </a:pPr>
            <a:r>
              <a:rPr lang="en-US">
                <a:solidFill>
                  <a:schemeClr val="dk1"/>
                </a:solidFill>
                <a:latin typeface="Calibri"/>
                <a:ea typeface="Calibri"/>
                <a:cs typeface="Calibri"/>
                <a:sym typeface="Calibri"/>
              </a:rPr>
              <a:t>Decisions should take into account patients’ lifestyle, life circumstance, and ability to access and maintain care</a:t>
            </a:r>
            <a:r>
              <a:rPr baseline="30000" lang="en-US">
                <a:solidFill>
                  <a:schemeClr val="dk1"/>
                </a:solidFill>
                <a:latin typeface="Calibri"/>
                <a:ea typeface="Calibri"/>
                <a:cs typeface="Calibri"/>
                <a:sym typeface="Calibri"/>
              </a:rPr>
              <a:t>1,2</a:t>
            </a:r>
            <a:endParaRPr>
              <a:solidFill>
                <a:schemeClr val="dk1"/>
              </a:solidFill>
              <a:latin typeface="Calibri"/>
              <a:ea typeface="Calibri"/>
              <a:cs typeface="Calibri"/>
              <a:sym typeface="Calibri"/>
            </a:endParaRPr>
          </a:p>
          <a:p>
            <a:pPr indent="0" lvl="0" marL="0" rtl="0" algn="l">
              <a:lnSpc>
                <a:spcPct val="115000"/>
              </a:lnSpc>
              <a:spcBef>
                <a:spcPts val="1000"/>
              </a:spcBef>
              <a:spcAft>
                <a:spcPts val="0"/>
              </a:spcAft>
              <a:buSzPts val="2000"/>
              <a:buNone/>
            </a:pPr>
            <a:r>
              <a:rPr b="1" lang="en-US">
                <a:solidFill>
                  <a:schemeClr val="accent3"/>
                </a:solidFill>
                <a:latin typeface="Calibri"/>
                <a:ea typeface="Calibri"/>
                <a:cs typeface="Calibri"/>
                <a:sym typeface="Calibri"/>
              </a:rPr>
              <a:t>Shared Decision making (SDM) </a:t>
            </a:r>
            <a:endParaRPr b="1">
              <a:solidFill>
                <a:schemeClr val="accent3"/>
              </a:solidFill>
              <a:latin typeface="Calibri"/>
              <a:ea typeface="Calibri"/>
              <a:cs typeface="Calibri"/>
              <a:sym typeface="Calibri"/>
            </a:endParaRPr>
          </a:p>
          <a:p>
            <a:pPr indent="-355600" lvl="0" marL="457200" rtl="0" algn="l">
              <a:lnSpc>
                <a:spcPct val="115000"/>
              </a:lnSpc>
              <a:spcBef>
                <a:spcPts val="1000"/>
              </a:spcBef>
              <a:spcAft>
                <a:spcPts val="0"/>
              </a:spcAft>
              <a:buClr>
                <a:schemeClr val="dk1"/>
              </a:buClr>
              <a:buSzPts val="2000"/>
              <a:buFont typeface="Calibri"/>
              <a:buChar char="●"/>
            </a:pPr>
            <a:r>
              <a:rPr lang="en-US">
                <a:solidFill>
                  <a:schemeClr val="dk1"/>
                </a:solidFill>
                <a:latin typeface="Calibri"/>
                <a:ea typeface="Calibri"/>
                <a:cs typeface="Calibri"/>
                <a:sym typeface="Calibri"/>
              </a:rPr>
              <a:t>Joint communication, deliberation, and agreement on care and treatment for a patient. </a:t>
            </a:r>
            <a:endParaRPr>
              <a:solidFill>
                <a:schemeClr val="dk1"/>
              </a:solidFill>
              <a:latin typeface="Calibri"/>
              <a:ea typeface="Calibri"/>
              <a:cs typeface="Calibri"/>
              <a:sym typeface="Calibri"/>
            </a:endParaRPr>
          </a:p>
          <a:p>
            <a:pPr indent="-355600" lvl="0" marL="457200" rtl="0" algn="l">
              <a:lnSpc>
                <a:spcPct val="115000"/>
              </a:lnSpc>
              <a:spcBef>
                <a:spcPts val="1000"/>
              </a:spcBef>
              <a:spcAft>
                <a:spcPts val="0"/>
              </a:spcAft>
              <a:buClr>
                <a:schemeClr val="dk1"/>
              </a:buClr>
              <a:buSzPts val="2000"/>
              <a:buFont typeface="Calibri"/>
              <a:buChar char="●"/>
            </a:pPr>
            <a:r>
              <a:rPr lang="en-US">
                <a:solidFill>
                  <a:schemeClr val="dk1"/>
                </a:solidFill>
                <a:latin typeface="Calibri"/>
                <a:ea typeface="Calibri"/>
                <a:cs typeface="Calibri"/>
                <a:sym typeface="Calibri"/>
              </a:rPr>
              <a:t>These negotiations have not been previously characterized in PES</a:t>
            </a:r>
            <a:endParaRPr>
              <a:solidFill>
                <a:schemeClr val="dk1"/>
              </a:solidFill>
              <a:latin typeface="Calibri"/>
              <a:ea typeface="Calibri"/>
              <a:cs typeface="Calibri"/>
              <a:sym typeface="Calibri"/>
            </a:endParaRPr>
          </a:p>
          <a:p>
            <a:pPr indent="0" lvl="0" marL="0" rtl="0" algn="l">
              <a:lnSpc>
                <a:spcPct val="115000"/>
              </a:lnSpc>
              <a:spcBef>
                <a:spcPts val="1000"/>
              </a:spcBef>
              <a:spcAft>
                <a:spcPts val="0"/>
              </a:spcAft>
              <a:buSzPts val="2000"/>
              <a:buNone/>
            </a:pPr>
            <a:r>
              <a:t/>
            </a:r>
            <a:endParaRPr>
              <a:solidFill>
                <a:schemeClr val="dk1"/>
              </a:solidFill>
              <a:latin typeface="Calibri"/>
              <a:ea typeface="Calibri"/>
              <a:cs typeface="Calibri"/>
              <a:sym typeface="Calibri"/>
            </a:endParaRPr>
          </a:p>
          <a:p>
            <a:pPr indent="0" lvl="0" marL="0" rtl="0" algn="l">
              <a:lnSpc>
                <a:spcPct val="115000"/>
              </a:lnSpc>
              <a:spcBef>
                <a:spcPts val="1000"/>
              </a:spcBef>
              <a:spcAft>
                <a:spcPts val="0"/>
              </a:spcAft>
              <a:buSzPts val="2000"/>
              <a:buNone/>
            </a:pPr>
            <a:r>
              <a:t/>
            </a:r>
            <a:endParaRPr>
              <a:solidFill>
                <a:schemeClr val="dk1"/>
              </a:solidFill>
              <a:latin typeface="Calibri"/>
              <a:ea typeface="Calibri"/>
              <a:cs typeface="Calibri"/>
              <a:sym typeface="Calibri"/>
            </a:endParaRPr>
          </a:p>
        </p:txBody>
      </p:sp>
      <p:pic>
        <p:nvPicPr>
          <p:cNvPr id="103" name="Google Shape;103;g17521ace8ca_0_0"/>
          <p:cNvPicPr preferRelativeResize="0"/>
          <p:nvPr/>
        </p:nvPicPr>
        <p:blipFill rotWithShape="1">
          <a:blip r:embed="rId3">
            <a:alphaModFix/>
          </a:blip>
          <a:srcRect b="0" l="7544" r="0" t="0"/>
          <a:stretch/>
        </p:blipFill>
        <p:spPr>
          <a:xfrm>
            <a:off x="152400" y="1881575"/>
            <a:ext cx="5230126" cy="3770202"/>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g170b75b49ff_0_19"/>
          <p:cNvSpPr txBox="1"/>
          <p:nvPr>
            <p:ph type="title"/>
          </p:nvPr>
        </p:nvSpPr>
        <p:spPr>
          <a:xfrm>
            <a:off x="838200" y="261607"/>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115000"/>
              </a:lnSpc>
              <a:spcBef>
                <a:spcPts val="0"/>
              </a:spcBef>
              <a:spcAft>
                <a:spcPts val="1000"/>
              </a:spcAft>
              <a:buSzPts val="4400"/>
              <a:buNone/>
            </a:pPr>
            <a:r>
              <a:rPr lang="en-US" sz="3000"/>
              <a:t>Research Objectives </a:t>
            </a:r>
            <a:endParaRPr sz="3000"/>
          </a:p>
        </p:txBody>
      </p:sp>
      <p:sp>
        <p:nvSpPr>
          <p:cNvPr id="110" name="Google Shape;110;g170b75b49ff_0_19"/>
          <p:cNvSpPr txBox="1"/>
          <p:nvPr>
            <p:ph idx="4294967295" type="body"/>
          </p:nvPr>
        </p:nvSpPr>
        <p:spPr>
          <a:xfrm>
            <a:off x="838375" y="1775650"/>
            <a:ext cx="10515600" cy="4345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000"/>
              </a:spcBef>
              <a:spcAft>
                <a:spcPts val="0"/>
              </a:spcAft>
              <a:buSzPts val="2000"/>
              <a:buNone/>
            </a:pPr>
            <a:r>
              <a:rPr b="1" lang="en-US">
                <a:solidFill>
                  <a:schemeClr val="accent3"/>
                </a:solidFill>
                <a:latin typeface="Calibri"/>
                <a:ea typeface="Calibri"/>
                <a:cs typeface="Calibri"/>
                <a:sym typeface="Calibri"/>
              </a:rPr>
              <a:t>We sought to characterize shared decision making in PES </a:t>
            </a:r>
            <a:endParaRPr b="1">
              <a:solidFill>
                <a:schemeClr val="accent3"/>
              </a:solidFill>
              <a:latin typeface="Calibri"/>
              <a:ea typeface="Calibri"/>
              <a:cs typeface="Calibri"/>
              <a:sym typeface="Calibri"/>
            </a:endParaRPr>
          </a:p>
          <a:p>
            <a:pPr indent="-355600" lvl="1" marL="914400" rtl="0" algn="l">
              <a:lnSpc>
                <a:spcPct val="100000"/>
              </a:lnSpc>
              <a:spcBef>
                <a:spcPts val="1000"/>
              </a:spcBef>
              <a:spcAft>
                <a:spcPts val="0"/>
              </a:spcAft>
              <a:buClr>
                <a:schemeClr val="dk1"/>
              </a:buClr>
              <a:buSzPts val="2000"/>
              <a:buFont typeface="Calibri"/>
              <a:buChar char="•"/>
            </a:pPr>
            <a:r>
              <a:rPr lang="en-US">
                <a:solidFill>
                  <a:schemeClr val="dk1"/>
                </a:solidFill>
                <a:latin typeface="Calibri"/>
                <a:ea typeface="Calibri"/>
                <a:cs typeface="Calibri"/>
                <a:sym typeface="Calibri"/>
              </a:rPr>
              <a:t>Explore how decisions are negotiated</a:t>
            </a:r>
            <a:endParaRPr>
              <a:solidFill>
                <a:schemeClr val="dk1"/>
              </a:solidFill>
              <a:latin typeface="Calibri"/>
              <a:ea typeface="Calibri"/>
              <a:cs typeface="Calibri"/>
              <a:sym typeface="Calibri"/>
            </a:endParaRPr>
          </a:p>
          <a:p>
            <a:pPr indent="-355600" lvl="1" marL="914400" rtl="0" algn="l">
              <a:lnSpc>
                <a:spcPct val="100000"/>
              </a:lnSpc>
              <a:spcBef>
                <a:spcPts val="1200"/>
              </a:spcBef>
              <a:spcAft>
                <a:spcPts val="0"/>
              </a:spcAft>
              <a:buClr>
                <a:schemeClr val="dk1"/>
              </a:buClr>
              <a:buSzPts val="2000"/>
              <a:buFont typeface="Calibri"/>
              <a:buChar char="•"/>
            </a:pPr>
            <a:r>
              <a:rPr lang="en-US">
                <a:solidFill>
                  <a:schemeClr val="dk1"/>
                </a:solidFill>
                <a:latin typeface="Calibri"/>
                <a:ea typeface="Calibri"/>
                <a:cs typeface="Calibri"/>
                <a:sym typeface="Calibri"/>
              </a:rPr>
              <a:t>Elicit YOC, guardians, and clinicians perspectives on their role in decision making</a:t>
            </a:r>
            <a:endParaRPr>
              <a:solidFill>
                <a:schemeClr val="dk1"/>
              </a:solidFill>
              <a:latin typeface="Calibri"/>
              <a:ea typeface="Calibri"/>
              <a:cs typeface="Calibri"/>
              <a:sym typeface="Calibri"/>
            </a:endParaRPr>
          </a:p>
          <a:p>
            <a:pPr indent="-355600" lvl="1" marL="914400" rtl="0" algn="l">
              <a:lnSpc>
                <a:spcPct val="100000"/>
              </a:lnSpc>
              <a:spcBef>
                <a:spcPts val="1200"/>
              </a:spcBef>
              <a:spcAft>
                <a:spcPts val="0"/>
              </a:spcAft>
              <a:buClr>
                <a:schemeClr val="dk1"/>
              </a:buClr>
              <a:buSzPts val="2000"/>
              <a:buFont typeface="Calibri"/>
              <a:buChar char="•"/>
            </a:pPr>
            <a:r>
              <a:rPr lang="en-US">
                <a:solidFill>
                  <a:schemeClr val="dk1"/>
                </a:solidFill>
                <a:latin typeface="Calibri"/>
                <a:ea typeface="Calibri"/>
                <a:cs typeface="Calibri"/>
                <a:sym typeface="Calibri"/>
              </a:rPr>
              <a:t>Identify any inhibitions or strategies to support SDM in PES</a:t>
            </a:r>
            <a:endParaRPr>
              <a:solidFill>
                <a:schemeClr val="dk1"/>
              </a:solidFill>
              <a:latin typeface="Calibri"/>
              <a:ea typeface="Calibri"/>
              <a:cs typeface="Calibri"/>
              <a:sym typeface="Calibri"/>
            </a:endParaRPr>
          </a:p>
          <a:p>
            <a:pPr indent="0" lvl="0" marL="0" rtl="0" algn="l">
              <a:lnSpc>
                <a:spcPct val="115000"/>
              </a:lnSpc>
              <a:spcBef>
                <a:spcPts val="1200"/>
              </a:spcBef>
              <a:spcAft>
                <a:spcPts val="1200"/>
              </a:spcAft>
              <a:buSzPts val="2000"/>
              <a:buNone/>
            </a:pPr>
            <a:r>
              <a:t/>
            </a:r>
            <a:endParaRPr sz="2400">
              <a:solidFill>
                <a:schemeClr val="dk2"/>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g16de9dd47b8_0_20"/>
          <p:cNvSpPr txBox="1"/>
          <p:nvPr>
            <p:ph type="title"/>
          </p:nvPr>
        </p:nvSpPr>
        <p:spPr>
          <a:xfrm>
            <a:off x="838200" y="261607"/>
            <a:ext cx="10515600" cy="13257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accent2"/>
              </a:buClr>
              <a:buSzPts val="4000"/>
              <a:buFont typeface="Arial Black"/>
              <a:buNone/>
            </a:pPr>
            <a:r>
              <a:rPr lang="en-US" sz="3000"/>
              <a:t>Approach</a:t>
            </a:r>
            <a:endParaRPr sz="3000"/>
          </a:p>
        </p:txBody>
      </p:sp>
      <p:sp>
        <p:nvSpPr>
          <p:cNvPr id="116" name="Google Shape;116;g16de9dd47b8_0_20"/>
          <p:cNvSpPr txBox="1"/>
          <p:nvPr>
            <p:ph idx="1" type="body"/>
          </p:nvPr>
        </p:nvSpPr>
        <p:spPr>
          <a:xfrm>
            <a:off x="490900" y="1674800"/>
            <a:ext cx="11348100" cy="4605600"/>
          </a:xfrm>
          <a:prstGeom prst="rect">
            <a:avLst/>
          </a:prstGeom>
          <a:noFill/>
          <a:ln>
            <a:noFill/>
          </a:ln>
        </p:spPr>
        <p:txBody>
          <a:bodyPr anchorCtr="0" anchor="t" bIns="45700" lIns="91425" spcFirstLastPara="1" rIns="91425" wrap="square" tIns="45700">
            <a:noAutofit/>
          </a:bodyPr>
          <a:lstStyle/>
          <a:p>
            <a:pPr indent="-228600" lvl="0" marL="228600" rtl="0" algn="l">
              <a:lnSpc>
                <a:spcPct val="100000"/>
              </a:lnSpc>
              <a:spcBef>
                <a:spcPts val="1000"/>
              </a:spcBef>
              <a:spcAft>
                <a:spcPts val="0"/>
              </a:spcAft>
              <a:buSzPts val="2000"/>
              <a:buChar char="•"/>
            </a:pPr>
            <a:r>
              <a:rPr b="1" lang="en-US">
                <a:solidFill>
                  <a:srgbClr val="000000"/>
                </a:solidFill>
                <a:latin typeface="Calibri"/>
                <a:ea typeface="Calibri"/>
                <a:cs typeface="Calibri"/>
                <a:sym typeface="Calibri"/>
              </a:rPr>
              <a:t>Recruited: </a:t>
            </a:r>
            <a:endParaRPr b="1">
              <a:solidFill>
                <a:srgbClr val="000000"/>
              </a:solidFill>
              <a:latin typeface="Calibri"/>
              <a:ea typeface="Calibri"/>
              <a:cs typeface="Calibri"/>
              <a:sym typeface="Calibri"/>
            </a:endParaRPr>
          </a:p>
          <a:p>
            <a:pPr indent="-228600" lvl="1" marL="685800" rtl="0" algn="l">
              <a:lnSpc>
                <a:spcPct val="100000"/>
              </a:lnSpc>
              <a:spcBef>
                <a:spcPts val="1000"/>
              </a:spcBef>
              <a:spcAft>
                <a:spcPts val="0"/>
              </a:spcAft>
              <a:buSzPts val="2000"/>
              <a:buAutoNum type="alphaLcPeriod"/>
            </a:pPr>
            <a:r>
              <a:rPr lang="en-US">
                <a:solidFill>
                  <a:srgbClr val="000000"/>
                </a:solidFill>
                <a:latin typeface="Calibri"/>
                <a:ea typeface="Calibri"/>
                <a:cs typeface="Calibri"/>
                <a:sym typeface="Calibri"/>
              </a:rPr>
              <a:t>Clinicians from Boston Emergency Services Team (BEST) and staff at Boston Medical Center, a public safety net hospital </a:t>
            </a:r>
            <a:endParaRPr>
              <a:solidFill>
                <a:srgbClr val="000000"/>
              </a:solidFill>
              <a:latin typeface="Calibri"/>
              <a:ea typeface="Calibri"/>
              <a:cs typeface="Calibri"/>
              <a:sym typeface="Calibri"/>
            </a:endParaRPr>
          </a:p>
          <a:p>
            <a:pPr indent="-228600" lvl="1" marL="685800" rtl="0" algn="l">
              <a:lnSpc>
                <a:spcPct val="90000"/>
              </a:lnSpc>
              <a:spcBef>
                <a:spcPts val="1000"/>
              </a:spcBef>
              <a:spcAft>
                <a:spcPts val="0"/>
              </a:spcAft>
              <a:buClr>
                <a:srgbClr val="000000"/>
              </a:buClr>
              <a:buSzPts val="2000"/>
              <a:buFont typeface="Calibri"/>
              <a:buAutoNum type="alphaLcPeriod"/>
            </a:pPr>
            <a:r>
              <a:rPr lang="en-US">
                <a:solidFill>
                  <a:schemeClr val="dk1"/>
                </a:solidFill>
                <a:latin typeface="Calibri"/>
                <a:ea typeface="Calibri"/>
                <a:cs typeface="Calibri"/>
                <a:sym typeface="Calibri"/>
              </a:rPr>
              <a:t>Recruited 15 dyads of YOC/guardians </a:t>
            </a:r>
            <a:endParaRPr>
              <a:solidFill>
                <a:srgbClr val="000000"/>
              </a:solidFill>
              <a:latin typeface="Calibri"/>
              <a:ea typeface="Calibri"/>
              <a:cs typeface="Calibri"/>
              <a:sym typeface="Calibri"/>
            </a:endParaRPr>
          </a:p>
          <a:p>
            <a:pPr indent="-228600" lvl="2" marL="1143000" rtl="0" algn="l">
              <a:lnSpc>
                <a:spcPct val="90000"/>
              </a:lnSpc>
              <a:spcBef>
                <a:spcPts val="0"/>
              </a:spcBef>
              <a:spcAft>
                <a:spcPts val="0"/>
              </a:spcAft>
              <a:buClr>
                <a:srgbClr val="000000"/>
              </a:buClr>
              <a:buSzPts val="2000"/>
              <a:buFont typeface="Calibri"/>
              <a:buChar char="•"/>
            </a:pPr>
            <a:r>
              <a:rPr lang="en-US">
                <a:solidFill>
                  <a:srgbClr val="000000"/>
                </a:solidFill>
                <a:latin typeface="Calibri"/>
                <a:ea typeface="Calibri"/>
                <a:cs typeface="Calibri"/>
                <a:sym typeface="Calibri"/>
              </a:rPr>
              <a:t>Youth of color (e.g., non-White, non-European American identifying)</a:t>
            </a:r>
            <a:endParaRPr>
              <a:solidFill>
                <a:srgbClr val="000000"/>
              </a:solidFill>
              <a:latin typeface="Calibri"/>
              <a:ea typeface="Calibri"/>
              <a:cs typeface="Calibri"/>
              <a:sym typeface="Calibri"/>
            </a:endParaRPr>
          </a:p>
          <a:p>
            <a:pPr indent="-228600" lvl="2" marL="1143000" rtl="0" algn="l">
              <a:lnSpc>
                <a:spcPct val="100000"/>
              </a:lnSpc>
              <a:spcBef>
                <a:spcPts val="0"/>
              </a:spcBef>
              <a:spcAft>
                <a:spcPts val="0"/>
              </a:spcAft>
              <a:buClr>
                <a:srgbClr val="000000"/>
              </a:buClr>
              <a:buSzPts val="2000"/>
              <a:buFont typeface="Calibri"/>
              <a:buChar char="•"/>
            </a:pPr>
            <a:r>
              <a:rPr lang="en-US">
                <a:solidFill>
                  <a:srgbClr val="000000"/>
                </a:solidFill>
                <a:latin typeface="Calibri"/>
                <a:ea typeface="Calibri"/>
                <a:cs typeface="Calibri"/>
                <a:sym typeface="Calibri"/>
              </a:rPr>
              <a:t>English or Spanish-speaking</a:t>
            </a:r>
            <a:endParaRPr>
              <a:solidFill>
                <a:srgbClr val="000000"/>
              </a:solidFill>
              <a:latin typeface="Calibri"/>
              <a:ea typeface="Calibri"/>
              <a:cs typeface="Calibri"/>
              <a:sym typeface="Calibri"/>
            </a:endParaRPr>
          </a:p>
          <a:p>
            <a:pPr indent="-228600" lvl="2" marL="1143000" rtl="0" algn="l">
              <a:lnSpc>
                <a:spcPct val="100000"/>
              </a:lnSpc>
              <a:spcBef>
                <a:spcPts val="0"/>
              </a:spcBef>
              <a:spcAft>
                <a:spcPts val="0"/>
              </a:spcAft>
              <a:buClr>
                <a:srgbClr val="000000"/>
              </a:buClr>
              <a:buSzPts val="2000"/>
              <a:buFont typeface="Calibri"/>
              <a:buChar char="•"/>
            </a:pPr>
            <a:r>
              <a:rPr lang="en-US">
                <a:solidFill>
                  <a:srgbClr val="000000"/>
                </a:solidFill>
                <a:latin typeface="Calibri"/>
                <a:ea typeface="Calibri"/>
                <a:cs typeface="Calibri"/>
                <a:sym typeface="Calibri"/>
              </a:rPr>
              <a:t>Stabilized and capable of consent</a:t>
            </a:r>
            <a:endParaRPr>
              <a:solidFill>
                <a:srgbClr val="000000"/>
              </a:solidFill>
              <a:latin typeface="Calibri"/>
              <a:ea typeface="Calibri"/>
              <a:cs typeface="Calibri"/>
              <a:sym typeface="Calibri"/>
            </a:endParaRPr>
          </a:p>
          <a:p>
            <a:pPr indent="-228600" lvl="2" marL="1143000" rtl="0" algn="l">
              <a:lnSpc>
                <a:spcPct val="100000"/>
              </a:lnSpc>
              <a:spcBef>
                <a:spcPts val="0"/>
              </a:spcBef>
              <a:spcAft>
                <a:spcPts val="0"/>
              </a:spcAft>
              <a:buClr>
                <a:srgbClr val="000000"/>
              </a:buClr>
              <a:buSzPts val="2000"/>
              <a:buFont typeface="Calibri"/>
              <a:buChar char="•"/>
            </a:pPr>
            <a:r>
              <a:rPr lang="en-US">
                <a:solidFill>
                  <a:srgbClr val="000000"/>
                </a:solidFill>
                <a:latin typeface="Calibri"/>
                <a:ea typeface="Calibri"/>
                <a:cs typeface="Calibri"/>
                <a:sym typeface="Calibri"/>
              </a:rPr>
              <a:t>Excluded primary dx of substance use or psychosis</a:t>
            </a:r>
            <a:endParaRPr>
              <a:solidFill>
                <a:srgbClr val="000000"/>
              </a:solidFill>
              <a:latin typeface="Calibri"/>
              <a:ea typeface="Calibri"/>
              <a:cs typeface="Calibri"/>
              <a:sym typeface="Calibri"/>
            </a:endParaRPr>
          </a:p>
          <a:p>
            <a:pPr indent="-228600" lvl="0" marL="228600" rtl="0" algn="l">
              <a:lnSpc>
                <a:spcPct val="100000"/>
              </a:lnSpc>
              <a:spcBef>
                <a:spcPts val="1000"/>
              </a:spcBef>
              <a:spcAft>
                <a:spcPts val="0"/>
              </a:spcAft>
              <a:buClr>
                <a:srgbClr val="000000"/>
              </a:buClr>
              <a:buSzPts val="2000"/>
              <a:buFont typeface="Calibri"/>
              <a:buChar char="•"/>
            </a:pPr>
            <a:r>
              <a:rPr b="1" lang="en-US">
                <a:solidFill>
                  <a:srgbClr val="000000"/>
                </a:solidFill>
                <a:latin typeface="Calibri"/>
                <a:ea typeface="Calibri"/>
                <a:cs typeface="Calibri"/>
                <a:sym typeface="Calibri"/>
              </a:rPr>
              <a:t>Recorded interviews and observations in English and Spanish</a:t>
            </a:r>
            <a:endParaRPr b="1">
              <a:solidFill>
                <a:srgbClr val="000000"/>
              </a:solidFill>
              <a:latin typeface="Calibri"/>
              <a:ea typeface="Calibri"/>
              <a:cs typeface="Calibri"/>
              <a:sym typeface="Calibri"/>
            </a:endParaRPr>
          </a:p>
          <a:p>
            <a:pPr indent="-228600" lvl="0" marL="228600" rtl="0" algn="l">
              <a:lnSpc>
                <a:spcPct val="100000"/>
              </a:lnSpc>
              <a:spcBef>
                <a:spcPts val="1000"/>
              </a:spcBef>
              <a:spcAft>
                <a:spcPts val="0"/>
              </a:spcAft>
              <a:buClr>
                <a:srgbClr val="000000"/>
              </a:buClr>
              <a:buSzPts val="2000"/>
              <a:buFont typeface="Calibri"/>
              <a:buChar char="•"/>
            </a:pPr>
            <a:r>
              <a:rPr b="1" lang="en-US">
                <a:solidFill>
                  <a:srgbClr val="000000"/>
                </a:solidFill>
                <a:latin typeface="Calibri"/>
                <a:ea typeface="Calibri"/>
                <a:cs typeface="Calibri"/>
                <a:sym typeface="Calibri"/>
              </a:rPr>
              <a:t>Translated Spanish interviews into English</a:t>
            </a:r>
            <a:endParaRPr b="1">
              <a:solidFill>
                <a:srgbClr val="000000"/>
              </a:solidFill>
              <a:latin typeface="Calibri"/>
              <a:ea typeface="Calibri"/>
              <a:cs typeface="Calibri"/>
              <a:sym typeface="Calibri"/>
            </a:endParaRPr>
          </a:p>
          <a:p>
            <a:pPr indent="-228600" lvl="0" marL="228600" rtl="0" algn="l">
              <a:lnSpc>
                <a:spcPct val="100000"/>
              </a:lnSpc>
              <a:spcBef>
                <a:spcPts val="1000"/>
              </a:spcBef>
              <a:spcAft>
                <a:spcPts val="0"/>
              </a:spcAft>
              <a:buClr>
                <a:srgbClr val="000000"/>
              </a:buClr>
              <a:buSzPts val="2000"/>
              <a:buChar char="•"/>
            </a:pPr>
            <a:r>
              <a:rPr b="1" lang="en-US">
                <a:solidFill>
                  <a:srgbClr val="000000"/>
                </a:solidFill>
                <a:latin typeface="Calibri"/>
                <a:ea typeface="Calibri"/>
                <a:cs typeface="Calibri"/>
                <a:sym typeface="Calibri"/>
              </a:rPr>
              <a:t>Performed inductive and deductive coding</a:t>
            </a:r>
            <a:endParaRPr b="1">
              <a:solidFill>
                <a:srgbClr val="000000"/>
              </a:solidFill>
              <a:latin typeface="Calibri"/>
              <a:ea typeface="Calibri"/>
              <a:cs typeface="Calibri"/>
              <a:sym typeface="Calibri"/>
            </a:endParaRPr>
          </a:p>
          <a:p>
            <a:pPr indent="-228600" lvl="0" marL="228600" rtl="0" algn="l">
              <a:lnSpc>
                <a:spcPct val="100000"/>
              </a:lnSpc>
              <a:spcBef>
                <a:spcPts val="1000"/>
              </a:spcBef>
              <a:spcAft>
                <a:spcPts val="0"/>
              </a:spcAft>
              <a:buClr>
                <a:srgbClr val="000000"/>
              </a:buClr>
              <a:buSzPts val="2000"/>
              <a:buChar char="•"/>
            </a:pPr>
            <a:r>
              <a:rPr b="1" lang="en-US">
                <a:solidFill>
                  <a:srgbClr val="000000"/>
                </a:solidFill>
                <a:latin typeface="Calibri"/>
                <a:ea typeface="Calibri"/>
                <a:cs typeface="Calibri"/>
                <a:sym typeface="Calibri"/>
              </a:rPr>
              <a:t>Themes were identified through consensus</a:t>
            </a:r>
            <a:endParaRPr b="1">
              <a:solidFill>
                <a:srgbClr val="000000"/>
              </a:solidFill>
              <a:latin typeface="Calibri"/>
              <a:ea typeface="Calibri"/>
              <a:cs typeface="Calibri"/>
              <a:sym typeface="Calibri"/>
            </a:endParaRPr>
          </a:p>
          <a:p>
            <a:pPr indent="0" lvl="0" marL="0" rtl="0" algn="l">
              <a:lnSpc>
                <a:spcPct val="100000"/>
              </a:lnSpc>
              <a:spcBef>
                <a:spcPts val="1000"/>
              </a:spcBef>
              <a:spcAft>
                <a:spcPts val="1000"/>
              </a:spcAft>
              <a:buSzPts val="2000"/>
              <a:buNone/>
            </a:pPr>
            <a:r>
              <a:t/>
            </a:r>
            <a:endParaRPr>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g17a883e5d16_1_15"/>
          <p:cNvSpPr txBox="1"/>
          <p:nvPr>
            <p:ph idx="4294967295" type="title"/>
          </p:nvPr>
        </p:nvSpPr>
        <p:spPr>
          <a:xfrm>
            <a:off x="838200" y="1853401"/>
            <a:ext cx="5265300" cy="28353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4400"/>
              <a:buNone/>
            </a:pPr>
            <a:r>
              <a:rPr i="1" lang="en-US" sz="4000"/>
              <a:t>Activation</a:t>
            </a:r>
            <a:endParaRPr i="1" sz="4000"/>
          </a:p>
          <a:p>
            <a:pPr indent="0" lvl="0" marL="0" rtl="0" algn="ctr">
              <a:lnSpc>
                <a:spcPct val="150000"/>
              </a:lnSpc>
              <a:spcBef>
                <a:spcPts val="1000"/>
              </a:spcBef>
              <a:spcAft>
                <a:spcPts val="0"/>
              </a:spcAft>
              <a:buSzPts val="4400"/>
              <a:buNone/>
            </a:pPr>
            <a:r>
              <a:rPr lang="en-US" sz="2000">
                <a:solidFill>
                  <a:schemeClr val="accent3"/>
                </a:solidFill>
                <a:latin typeface="Calibri"/>
                <a:ea typeface="Calibri"/>
                <a:cs typeface="Calibri"/>
                <a:sym typeface="Calibri"/>
              </a:rPr>
              <a:t>Knowledge, skills, and confidence in clinical management (applicable to guardians and clinicians</a:t>
            </a:r>
            <a:r>
              <a:rPr b="0" lang="en-US" sz="2000">
                <a:solidFill>
                  <a:schemeClr val="accent3"/>
                </a:solidFill>
                <a:latin typeface="Calibri"/>
                <a:ea typeface="Calibri"/>
                <a:cs typeface="Calibri"/>
                <a:sym typeface="Calibri"/>
              </a:rPr>
              <a:t>) </a:t>
            </a:r>
            <a:endParaRPr i="1" sz="4000">
              <a:solidFill>
                <a:schemeClr val="accent3"/>
              </a:solidFill>
            </a:endParaRPr>
          </a:p>
        </p:txBody>
      </p:sp>
      <p:sp>
        <p:nvSpPr>
          <p:cNvPr id="123" name="Google Shape;123;g17a883e5d16_1_15"/>
          <p:cNvSpPr txBox="1"/>
          <p:nvPr>
            <p:ph idx="4294967295" type="body"/>
          </p:nvPr>
        </p:nvSpPr>
        <p:spPr>
          <a:xfrm>
            <a:off x="6227525" y="1029300"/>
            <a:ext cx="5250300" cy="47994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1000"/>
              </a:spcBef>
              <a:spcAft>
                <a:spcPts val="0"/>
              </a:spcAft>
              <a:buSzPts val="2000"/>
              <a:buNone/>
            </a:pPr>
            <a:r>
              <a:t/>
            </a:r>
            <a:endParaRPr b="1">
              <a:solidFill>
                <a:schemeClr val="dk1"/>
              </a:solidFill>
              <a:latin typeface="Calibri"/>
              <a:ea typeface="Calibri"/>
              <a:cs typeface="Calibri"/>
              <a:sym typeface="Calibri"/>
            </a:endParaRPr>
          </a:p>
          <a:p>
            <a:pPr indent="0" lvl="0" marL="457200" rtl="0" algn="l">
              <a:lnSpc>
                <a:spcPct val="150000"/>
              </a:lnSpc>
              <a:spcBef>
                <a:spcPts val="1000"/>
              </a:spcBef>
              <a:spcAft>
                <a:spcPts val="0"/>
              </a:spcAft>
              <a:buSzPts val="2000"/>
              <a:buNone/>
            </a:pPr>
            <a:r>
              <a:rPr b="1" lang="en-US" sz="2000">
                <a:solidFill>
                  <a:schemeClr val="dk1"/>
                </a:solidFill>
                <a:latin typeface="Calibri"/>
                <a:ea typeface="Calibri"/>
                <a:cs typeface="Calibri"/>
                <a:sym typeface="Calibri"/>
              </a:rPr>
              <a:t>For SDM to be successful, patients or their guardians must be </a:t>
            </a:r>
            <a:r>
              <a:rPr b="1" lang="en-US" sz="2000">
                <a:solidFill>
                  <a:schemeClr val="accent3"/>
                </a:solidFill>
                <a:latin typeface="Calibri"/>
                <a:ea typeface="Calibri"/>
                <a:cs typeface="Calibri"/>
                <a:sym typeface="Calibri"/>
              </a:rPr>
              <a:t>activated</a:t>
            </a:r>
            <a:r>
              <a:rPr b="1" lang="en-US" sz="2000">
                <a:solidFill>
                  <a:schemeClr val="dk1"/>
                </a:solidFill>
                <a:latin typeface="Calibri"/>
                <a:ea typeface="Calibri"/>
                <a:cs typeface="Calibri"/>
                <a:sym typeface="Calibri"/>
              </a:rPr>
              <a:t>: </a:t>
            </a:r>
            <a:endParaRPr b="1" sz="2000">
              <a:solidFill>
                <a:schemeClr val="dk1"/>
              </a:solidFill>
              <a:latin typeface="Calibri"/>
              <a:ea typeface="Calibri"/>
              <a:cs typeface="Calibri"/>
              <a:sym typeface="Calibri"/>
            </a:endParaRPr>
          </a:p>
          <a:p>
            <a:pPr indent="-355600" lvl="1" marL="914400" rtl="0" algn="l">
              <a:lnSpc>
                <a:spcPct val="150000"/>
              </a:lnSpc>
              <a:spcBef>
                <a:spcPts val="500"/>
              </a:spcBef>
              <a:spcAft>
                <a:spcPts val="0"/>
              </a:spcAft>
              <a:buClr>
                <a:schemeClr val="dk1"/>
              </a:buClr>
              <a:buSzPts val="2000"/>
              <a:buFont typeface="Calibri"/>
              <a:buChar char="•"/>
            </a:pPr>
            <a:r>
              <a:rPr lang="en-US">
                <a:solidFill>
                  <a:schemeClr val="dk1"/>
                </a:solidFill>
                <a:latin typeface="Calibri"/>
                <a:ea typeface="Calibri"/>
                <a:cs typeface="Calibri"/>
                <a:sym typeface="Calibri"/>
              </a:rPr>
              <a:t>Have confidence in their knowledge about treatments and diagnoses and engage in the decision making process</a:t>
            </a:r>
            <a:endParaRPr>
              <a:solidFill>
                <a:schemeClr val="dk1"/>
              </a:solidFill>
              <a:latin typeface="Calibri"/>
              <a:ea typeface="Calibri"/>
              <a:cs typeface="Calibri"/>
              <a:sym typeface="Calibri"/>
            </a:endParaRPr>
          </a:p>
          <a:p>
            <a:pPr indent="-355600" lvl="1" marL="914400" rtl="0" algn="l">
              <a:lnSpc>
                <a:spcPct val="150000"/>
              </a:lnSpc>
              <a:spcBef>
                <a:spcPts val="500"/>
              </a:spcBef>
              <a:spcAft>
                <a:spcPts val="0"/>
              </a:spcAft>
              <a:buClr>
                <a:schemeClr val="dk1"/>
              </a:buClr>
              <a:buSzPts val="2000"/>
              <a:buFont typeface="Calibri"/>
              <a:buChar char="•"/>
            </a:pPr>
            <a:r>
              <a:rPr lang="en-US">
                <a:solidFill>
                  <a:schemeClr val="dk1"/>
                </a:solidFill>
                <a:latin typeface="Calibri"/>
                <a:ea typeface="Calibri"/>
                <a:cs typeface="Calibri"/>
                <a:sym typeface="Calibri"/>
              </a:rPr>
              <a:t>precursor to SDM that may reveal ways to  improve the knowledge and skills that inform clinical management </a:t>
            </a:r>
            <a:endParaRPr sz="20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g1798596ffde_2_3"/>
          <p:cNvSpPr txBox="1"/>
          <p:nvPr>
            <p:ph type="title"/>
          </p:nvPr>
        </p:nvSpPr>
        <p:spPr>
          <a:xfrm>
            <a:off x="839788"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4400"/>
              <a:buNone/>
            </a:pPr>
            <a:r>
              <a:rPr lang="en-US" sz="3000"/>
              <a:t>Activation: YOC informants but not active participants in discharge discussions</a:t>
            </a:r>
            <a:endParaRPr sz="3000"/>
          </a:p>
        </p:txBody>
      </p:sp>
      <p:sp>
        <p:nvSpPr>
          <p:cNvPr id="130" name="Google Shape;130;g1798596ffde_2_3"/>
          <p:cNvSpPr txBox="1"/>
          <p:nvPr>
            <p:ph idx="1" type="body"/>
          </p:nvPr>
        </p:nvSpPr>
        <p:spPr>
          <a:xfrm>
            <a:off x="4491731" y="1529600"/>
            <a:ext cx="6767700" cy="823800"/>
          </a:xfrm>
          <a:prstGeom prst="rect">
            <a:avLst/>
          </a:prstGeom>
          <a:noFill/>
          <a:ln>
            <a:noFill/>
          </a:ln>
        </p:spPr>
        <p:txBody>
          <a:bodyPr anchorCtr="0" anchor="b" bIns="45700" lIns="91425" spcFirstLastPara="1" rIns="91425" wrap="square" tIns="45700">
            <a:normAutofit/>
          </a:bodyPr>
          <a:lstStyle/>
          <a:p>
            <a:pPr indent="0" lvl="0" marL="0" rtl="0" algn="r">
              <a:lnSpc>
                <a:spcPct val="150000"/>
              </a:lnSpc>
              <a:spcBef>
                <a:spcPts val="1000"/>
              </a:spcBef>
              <a:spcAft>
                <a:spcPts val="0"/>
              </a:spcAft>
              <a:buSzPts val="2400"/>
              <a:buNone/>
            </a:pPr>
            <a:r>
              <a:rPr b="1" lang="en-US" sz="2000">
                <a:solidFill>
                  <a:schemeClr val="dk1"/>
                </a:solidFill>
                <a:latin typeface="Calibri"/>
                <a:ea typeface="Calibri"/>
                <a:cs typeface="Calibri"/>
                <a:sym typeface="Calibri"/>
              </a:rPr>
              <a:t>Quotes from Black youth</a:t>
            </a:r>
            <a:endParaRPr b="1" sz="2000">
              <a:solidFill>
                <a:schemeClr val="dk1"/>
              </a:solidFill>
              <a:latin typeface="Calibri"/>
              <a:ea typeface="Calibri"/>
              <a:cs typeface="Calibri"/>
              <a:sym typeface="Calibri"/>
            </a:endParaRPr>
          </a:p>
        </p:txBody>
      </p:sp>
      <p:sp>
        <p:nvSpPr>
          <p:cNvPr id="131" name="Google Shape;131;g1798596ffde_2_3"/>
          <p:cNvSpPr txBox="1"/>
          <p:nvPr>
            <p:ph idx="2" type="body"/>
          </p:nvPr>
        </p:nvSpPr>
        <p:spPr>
          <a:xfrm>
            <a:off x="839788" y="2505075"/>
            <a:ext cx="5157900" cy="3684600"/>
          </a:xfrm>
          <a:prstGeom prst="rect">
            <a:avLst/>
          </a:prstGeom>
          <a:noFill/>
          <a:ln>
            <a:noFill/>
          </a:ln>
        </p:spPr>
        <p:txBody>
          <a:bodyPr anchorCtr="0" anchor="t" bIns="45700" lIns="91425" spcFirstLastPara="1" rIns="91425" wrap="square" tIns="45700">
            <a:normAutofit fontScale="92500"/>
          </a:bodyPr>
          <a:lstStyle/>
          <a:p>
            <a:pPr indent="0" lvl="0" marL="0" rtl="0" algn="l">
              <a:lnSpc>
                <a:spcPct val="150000"/>
              </a:lnSpc>
              <a:spcBef>
                <a:spcPts val="1000"/>
              </a:spcBef>
              <a:spcAft>
                <a:spcPts val="0"/>
              </a:spcAft>
              <a:buSzPct val="108108"/>
              <a:buNone/>
            </a:pPr>
            <a:r>
              <a:rPr i="1" lang="en-US">
                <a:solidFill>
                  <a:schemeClr val="dk1"/>
                </a:solidFill>
                <a:latin typeface="Calibri"/>
                <a:ea typeface="Calibri"/>
                <a:cs typeface="Calibri"/>
                <a:sym typeface="Calibri"/>
              </a:rPr>
              <a:t>“I feel like my voice is heard when I'm talking to the doctors, especially like the psych team. Like, I feel like they're really like, they really do listen, when like, because these past times that I've been here, they've actually like, listen to what I've said. And they have taken the right measures when it comes to like, getting the help I need.”</a:t>
            </a:r>
            <a:endParaRPr i="1">
              <a:solidFill>
                <a:schemeClr val="dk1"/>
              </a:solidFill>
              <a:latin typeface="Calibri"/>
              <a:ea typeface="Calibri"/>
              <a:cs typeface="Calibri"/>
              <a:sym typeface="Calibri"/>
            </a:endParaRPr>
          </a:p>
          <a:p>
            <a:pPr indent="0" lvl="0" marL="0" rtl="0" algn="l">
              <a:lnSpc>
                <a:spcPct val="150000"/>
              </a:lnSpc>
              <a:spcBef>
                <a:spcPts val="1000"/>
              </a:spcBef>
              <a:spcAft>
                <a:spcPts val="0"/>
              </a:spcAft>
              <a:buSzPct val="108108"/>
              <a:buNone/>
            </a:pPr>
            <a:r>
              <a:t/>
            </a:r>
            <a:endParaRPr i="1">
              <a:solidFill>
                <a:schemeClr val="dk1"/>
              </a:solidFill>
              <a:latin typeface="Calibri"/>
              <a:ea typeface="Calibri"/>
              <a:cs typeface="Calibri"/>
              <a:sym typeface="Calibri"/>
            </a:endParaRPr>
          </a:p>
        </p:txBody>
      </p:sp>
      <p:sp>
        <p:nvSpPr>
          <p:cNvPr id="132" name="Google Shape;132;g1798596ffde_2_3"/>
          <p:cNvSpPr txBox="1"/>
          <p:nvPr>
            <p:ph idx="4" type="body"/>
          </p:nvPr>
        </p:nvSpPr>
        <p:spPr>
          <a:xfrm>
            <a:off x="6172200" y="2505075"/>
            <a:ext cx="5183100" cy="3684600"/>
          </a:xfrm>
          <a:prstGeom prst="rect">
            <a:avLst/>
          </a:prstGeom>
          <a:noFill/>
          <a:ln>
            <a:noFill/>
          </a:ln>
        </p:spPr>
        <p:txBody>
          <a:bodyPr anchorCtr="0" anchor="t" bIns="45700" lIns="91425" spcFirstLastPara="1" rIns="91425" wrap="square" tIns="45700">
            <a:normAutofit/>
          </a:bodyPr>
          <a:lstStyle/>
          <a:p>
            <a:pPr indent="0" lvl="0" marL="0" rtl="0" algn="l">
              <a:lnSpc>
                <a:spcPct val="150000"/>
              </a:lnSpc>
              <a:spcBef>
                <a:spcPts val="1000"/>
              </a:spcBef>
              <a:spcAft>
                <a:spcPts val="0"/>
              </a:spcAft>
              <a:buSzPts val="2000"/>
              <a:buNone/>
            </a:pPr>
            <a:r>
              <a:rPr i="1" lang="en-US">
                <a:solidFill>
                  <a:schemeClr val="dk1"/>
                </a:solidFill>
                <a:latin typeface="Calibri"/>
                <a:ea typeface="Calibri"/>
                <a:cs typeface="Calibri"/>
                <a:sym typeface="Calibri"/>
              </a:rPr>
              <a:t>“I talked to psych already. And I guess, I don't know, they haven't really told me anything yet. So I'm kind of just waiting for them to come talk to me again, to see, like, what what we're doing, like what's gonna happen, whether they're gonna place me somewhere else or whether you're gonna go home? I really don't know. But we'll wait and see what happens.”</a:t>
            </a:r>
            <a:endParaRPr i="1">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g1798596ffde_0_22"/>
          <p:cNvSpPr txBox="1"/>
          <p:nvPr>
            <p:ph type="title"/>
          </p:nvPr>
        </p:nvSpPr>
        <p:spPr>
          <a:xfrm>
            <a:off x="839788"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1000"/>
              </a:spcBef>
              <a:spcAft>
                <a:spcPts val="0"/>
              </a:spcAft>
              <a:buSzPts val="4400"/>
              <a:buNone/>
            </a:pPr>
            <a:r>
              <a:rPr lang="en-US" sz="3000"/>
              <a:t>Activation: Guardians unprepared and unsupported</a:t>
            </a:r>
            <a:endParaRPr/>
          </a:p>
        </p:txBody>
      </p:sp>
      <p:sp>
        <p:nvSpPr>
          <p:cNvPr id="139" name="Google Shape;139;g1798596ffde_0_22"/>
          <p:cNvSpPr txBox="1"/>
          <p:nvPr>
            <p:ph idx="2" type="body"/>
          </p:nvPr>
        </p:nvSpPr>
        <p:spPr>
          <a:xfrm>
            <a:off x="554225" y="2514425"/>
            <a:ext cx="3395400" cy="3684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000"/>
              </a:spcBef>
              <a:spcAft>
                <a:spcPts val="0"/>
              </a:spcAft>
              <a:buSzPts val="2000"/>
              <a:buNone/>
            </a:pPr>
            <a:r>
              <a:rPr i="1" lang="en-US">
                <a:solidFill>
                  <a:schemeClr val="dk1"/>
                </a:solidFill>
                <a:latin typeface="Calibri"/>
                <a:ea typeface="Calibri"/>
                <a:cs typeface="Calibri"/>
                <a:sym typeface="Calibri"/>
              </a:rPr>
              <a:t>“They told my mom to schedule an appointment with my doctor so they could, like refer me to a therapist or psychiatrist. And they just like left her places where she could call and they didn’t do much to…get us a therapist or get us the help we needed. They just told us what to do and left it like that.”</a:t>
            </a:r>
            <a:r>
              <a:rPr lang="en-US">
                <a:solidFill>
                  <a:schemeClr val="dk1"/>
                </a:solidFill>
                <a:latin typeface="Calibri"/>
                <a:ea typeface="Calibri"/>
                <a:cs typeface="Calibri"/>
                <a:sym typeface="Calibri"/>
              </a:rPr>
              <a:t> </a:t>
            </a:r>
            <a:endParaRPr>
              <a:latin typeface="Calibri"/>
              <a:ea typeface="Calibri"/>
              <a:cs typeface="Calibri"/>
              <a:sym typeface="Calibri"/>
            </a:endParaRPr>
          </a:p>
          <a:p>
            <a:pPr indent="0" lvl="0" marL="0" rtl="0" algn="l">
              <a:lnSpc>
                <a:spcPct val="115000"/>
              </a:lnSpc>
              <a:spcBef>
                <a:spcPts val="1000"/>
              </a:spcBef>
              <a:spcAft>
                <a:spcPts val="0"/>
              </a:spcAft>
              <a:buSzPts val="2000"/>
              <a:buNone/>
            </a:pPr>
            <a:r>
              <a:t/>
            </a:r>
            <a:endParaRPr>
              <a:latin typeface="Calibri"/>
              <a:ea typeface="Calibri"/>
              <a:cs typeface="Calibri"/>
              <a:sym typeface="Calibri"/>
            </a:endParaRPr>
          </a:p>
        </p:txBody>
      </p:sp>
      <p:sp>
        <p:nvSpPr>
          <p:cNvPr id="140" name="Google Shape;140;g1798596ffde_0_22"/>
          <p:cNvSpPr txBox="1"/>
          <p:nvPr>
            <p:ph idx="4" type="body"/>
          </p:nvPr>
        </p:nvSpPr>
        <p:spPr>
          <a:xfrm>
            <a:off x="4155750" y="2849050"/>
            <a:ext cx="3572100" cy="33405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000"/>
              </a:spcBef>
              <a:spcAft>
                <a:spcPts val="0"/>
              </a:spcAft>
              <a:buSzPts val="2000"/>
              <a:buNone/>
            </a:pPr>
            <a:r>
              <a:rPr i="1" lang="en-US">
                <a:solidFill>
                  <a:schemeClr val="dk1"/>
                </a:solidFill>
                <a:latin typeface="Calibri"/>
                <a:ea typeface="Calibri"/>
                <a:cs typeface="Calibri"/>
                <a:sym typeface="Calibri"/>
              </a:rPr>
              <a:t>“They have not offered anything. I’ve said, can we have a social worker to help us manage this? You know, the placement, the situation on the fifth floor? Any of it? No, no there’s not support. No support.” </a:t>
            </a:r>
            <a:endParaRPr b="1">
              <a:solidFill>
                <a:schemeClr val="dk1"/>
              </a:solidFill>
              <a:latin typeface="Calibri"/>
              <a:ea typeface="Calibri"/>
              <a:cs typeface="Calibri"/>
              <a:sym typeface="Calibri"/>
            </a:endParaRPr>
          </a:p>
          <a:p>
            <a:pPr indent="0" lvl="0" marL="0" rtl="0" algn="l">
              <a:lnSpc>
                <a:spcPct val="115000"/>
              </a:lnSpc>
              <a:spcBef>
                <a:spcPts val="1000"/>
              </a:spcBef>
              <a:spcAft>
                <a:spcPts val="0"/>
              </a:spcAft>
              <a:buSzPts val="2000"/>
              <a:buNone/>
            </a:pPr>
            <a:r>
              <a:t/>
            </a:r>
            <a:endParaRPr>
              <a:latin typeface="Calibri"/>
              <a:ea typeface="Calibri"/>
              <a:cs typeface="Calibri"/>
              <a:sym typeface="Calibri"/>
            </a:endParaRPr>
          </a:p>
        </p:txBody>
      </p:sp>
      <p:sp>
        <p:nvSpPr>
          <p:cNvPr id="141" name="Google Shape;141;g1798596ffde_0_22"/>
          <p:cNvSpPr txBox="1"/>
          <p:nvPr>
            <p:ph idx="4" type="body"/>
          </p:nvPr>
        </p:nvSpPr>
        <p:spPr>
          <a:xfrm>
            <a:off x="8023225" y="2604675"/>
            <a:ext cx="3572100" cy="32772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000"/>
              </a:spcBef>
              <a:spcAft>
                <a:spcPts val="0"/>
              </a:spcAft>
              <a:buClr>
                <a:srgbClr val="000000"/>
              </a:buClr>
              <a:buSzPts val="1018"/>
              <a:buFont typeface="Arial"/>
              <a:buNone/>
            </a:pPr>
            <a:r>
              <a:rPr i="1" lang="en-US">
                <a:solidFill>
                  <a:schemeClr val="dk1"/>
                </a:solidFill>
                <a:latin typeface="Calibri"/>
                <a:ea typeface="Calibri"/>
                <a:cs typeface="Calibri"/>
                <a:sym typeface="Calibri"/>
              </a:rPr>
              <a:t>“And the rules are not universal in the hospital. And the information is not universal. And they're definitely over run with responsibility….There's no, Mom, what do you need from us? What what kind of information can I share with you? Can I give you a little overview of these different facilities?”  </a:t>
            </a:r>
            <a:endParaRPr>
              <a:latin typeface="Calibri"/>
              <a:ea typeface="Calibri"/>
              <a:cs typeface="Calibri"/>
              <a:sym typeface="Calibri"/>
            </a:endParaRPr>
          </a:p>
        </p:txBody>
      </p:sp>
      <p:sp>
        <p:nvSpPr>
          <p:cNvPr id="142" name="Google Shape;142;g1798596ffde_0_22"/>
          <p:cNvSpPr txBox="1"/>
          <p:nvPr/>
        </p:nvSpPr>
        <p:spPr>
          <a:xfrm>
            <a:off x="554225" y="1958175"/>
            <a:ext cx="32691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1000"/>
              </a:spcBef>
              <a:spcAft>
                <a:spcPts val="0"/>
              </a:spcAft>
              <a:buClr>
                <a:srgbClr val="000000"/>
              </a:buClr>
              <a:buSzPts val="2000"/>
              <a:buFont typeface="Arial"/>
              <a:buNone/>
            </a:pPr>
            <a:r>
              <a:rPr b="1" i="0" lang="en-US" sz="2000" u="none" cap="none" strike="noStrike">
                <a:solidFill>
                  <a:schemeClr val="dk1"/>
                </a:solidFill>
                <a:latin typeface="Calibri"/>
                <a:ea typeface="Calibri"/>
                <a:cs typeface="Calibri"/>
                <a:sym typeface="Calibri"/>
              </a:rPr>
              <a:t>Latinx youth </a:t>
            </a:r>
            <a:endParaRPr b="0" i="0" sz="2000" u="none" cap="none" strike="noStrike">
              <a:solidFill>
                <a:srgbClr val="000000"/>
              </a:solidFill>
              <a:latin typeface="Calibri"/>
              <a:ea typeface="Calibri"/>
              <a:cs typeface="Calibri"/>
              <a:sym typeface="Calibri"/>
            </a:endParaRPr>
          </a:p>
        </p:txBody>
      </p:sp>
      <p:sp>
        <p:nvSpPr>
          <p:cNvPr id="143" name="Google Shape;143;g1798596ffde_0_22"/>
          <p:cNvSpPr txBox="1"/>
          <p:nvPr/>
        </p:nvSpPr>
        <p:spPr>
          <a:xfrm>
            <a:off x="4155738" y="1804275"/>
            <a:ext cx="3572100" cy="8004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1000"/>
              </a:spcBef>
              <a:spcAft>
                <a:spcPts val="0"/>
              </a:spcAft>
              <a:buClr>
                <a:srgbClr val="000000"/>
              </a:buClr>
              <a:buSzPts val="2000"/>
              <a:buFont typeface="Arial"/>
              <a:buNone/>
            </a:pPr>
            <a:r>
              <a:rPr b="1" i="0" lang="en-US" sz="2000" u="none" cap="none" strike="noStrike">
                <a:solidFill>
                  <a:schemeClr val="dk1"/>
                </a:solidFill>
                <a:latin typeface="Calibri"/>
                <a:ea typeface="Calibri"/>
                <a:cs typeface="Calibri"/>
                <a:sym typeface="Calibri"/>
              </a:rPr>
              <a:t>Guardian of Asian American youth</a:t>
            </a:r>
            <a:endParaRPr b="0" i="0" sz="2000" u="none" cap="none" strike="noStrike">
              <a:solidFill>
                <a:srgbClr val="000000"/>
              </a:solidFill>
              <a:latin typeface="Calibri"/>
              <a:ea typeface="Calibri"/>
              <a:cs typeface="Calibri"/>
              <a:sym typeface="Calibri"/>
            </a:endParaRPr>
          </a:p>
        </p:txBody>
      </p:sp>
      <p:sp>
        <p:nvSpPr>
          <p:cNvPr id="144" name="Google Shape;144;g1798596ffde_0_22"/>
          <p:cNvSpPr txBox="1"/>
          <p:nvPr/>
        </p:nvSpPr>
        <p:spPr>
          <a:xfrm>
            <a:off x="8060275" y="1804275"/>
            <a:ext cx="3498000" cy="8004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1000"/>
              </a:spcBef>
              <a:spcAft>
                <a:spcPts val="0"/>
              </a:spcAft>
              <a:buClr>
                <a:srgbClr val="000000"/>
              </a:buClr>
              <a:buSzPts val="2000"/>
              <a:buFont typeface="Arial"/>
              <a:buNone/>
            </a:pPr>
            <a:r>
              <a:rPr b="1" i="0" lang="en-US" sz="2000" u="none" cap="none" strike="noStrike">
                <a:solidFill>
                  <a:schemeClr val="dk1"/>
                </a:solidFill>
                <a:latin typeface="Calibri"/>
                <a:ea typeface="Calibri"/>
                <a:cs typeface="Calibri"/>
                <a:sym typeface="Calibri"/>
              </a:rPr>
              <a:t>Guardian of Asian American youth</a:t>
            </a:r>
            <a:endParaRPr b="0" i="0" sz="2000" u="none" cap="none" strike="noStrike">
              <a:solidFill>
                <a:srgbClr val="000000"/>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g12b78c03100_0_1"/>
          <p:cNvSpPr txBox="1"/>
          <p:nvPr>
            <p:ph type="title"/>
          </p:nvPr>
        </p:nvSpPr>
        <p:spPr>
          <a:xfrm>
            <a:off x="839788" y="365125"/>
            <a:ext cx="10515600" cy="1325700"/>
          </a:xfrm>
          <a:prstGeom prst="rect">
            <a:avLst/>
          </a:prstGeom>
          <a:noFill/>
          <a:ln>
            <a:noFill/>
          </a:ln>
        </p:spPr>
        <p:txBody>
          <a:bodyPr anchorCtr="0" anchor="ctr" bIns="45700" lIns="91425" spcFirstLastPara="1" rIns="91425" wrap="square" tIns="45700">
            <a:noAutofit/>
          </a:bodyPr>
          <a:lstStyle/>
          <a:p>
            <a:pPr indent="0" lvl="0" marL="228600" rtl="0" algn="l">
              <a:lnSpc>
                <a:spcPct val="100000"/>
              </a:lnSpc>
              <a:spcBef>
                <a:spcPts val="1000"/>
              </a:spcBef>
              <a:spcAft>
                <a:spcPts val="0"/>
              </a:spcAft>
              <a:buSzPts val="4400"/>
              <a:buNone/>
            </a:pPr>
            <a:r>
              <a:rPr lang="en-US" sz="3000"/>
              <a:t>Activation: LEP guardians at significant disadvantage due to systemic barriers</a:t>
            </a:r>
            <a:endParaRPr sz="3000"/>
          </a:p>
        </p:txBody>
      </p:sp>
      <p:sp>
        <p:nvSpPr>
          <p:cNvPr id="151" name="Google Shape;151;g12b78c03100_0_1"/>
          <p:cNvSpPr txBox="1"/>
          <p:nvPr>
            <p:ph idx="3" type="body"/>
          </p:nvPr>
        </p:nvSpPr>
        <p:spPr>
          <a:xfrm>
            <a:off x="6172300" y="4100946"/>
            <a:ext cx="5183100" cy="575400"/>
          </a:xfrm>
          <a:prstGeom prst="rect">
            <a:avLst/>
          </a:prstGeom>
          <a:noFill/>
          <a:ln>
            <a:noFill/>
          </a:ln>
        </p:spPr>
        <p:txBody>
          <a:bodyPr anchorCtr="0" anchor="b" bIns="45700" lIns="91425" spcFirstLastPara="1" rIns="91425" wrap="square" tIns="45700">
            <a:normAutofit/>
          </a:bodyPr>
          <a:lstStyle/>
          <a:p>
            <a:pPr indent="0" lvl="0" marL="0" rtl="0" algn="l">
              <a:lnSpc>
                <a:spcPct val="130000"/>
              </a:lnSpc>
              <a:spcBef>
                <a:spcPts val="1000"/>
              </a:spcBef>
              <a:spcAft>
                <a:spcPts val="0"/>
              </a:spcAft>
              <a:buSzPts val="2400"/>
              <a:buNone/>
            </a:pPr>
            <a:r>
              <a:rPr b="1" lang="en-US" sz="2000">
                <a:solidFill>
                  <a:srgbClr val="000000"/>
                </a:solidFill>
                <a:latin typeface="Calibri"/>
                <a:ea typeface="Calibri"/>
                <a:cs typeface="Calibri"/>
                <a:sym typeface="Calibri"/>
              </a:rPr>
              <a:t>Translated quote, Guardian of Latinx youth</a:t>
            </a:r>
            <a:endParaRPr b="1" sz="2000">
              <a:latin typeface="Calibri"/>
              <a:ea typeface="Calibri"/>
              <a:cs typeface="Calibri"/>
              <a:sym typeface="Calibri"/>
            </a:endParaRPr>
          </a:p>
        </p:txBody>
      </p:sp>
      <p:sp>
        <p:nvSpPr>
          <p:cNvPr id="152" name="Google Shape;152;g12b78c03100_0_1"/>
          <p:cNvSpPr txBox="1"/>
          <p:nvPr>
            <p:ph idx="4" type="body"/>
          </p:nvPr>
        </p:nvSpPr>
        <p:spPr>
          <a:xfrm>
            <a:off x="793000" y="2294825"/>
            <a:ext cx="10609200" cy="3602100"/>
          </a:xfrm>
          <a:prstGeom prst="rect">
            <a:avLst/>
          </a:prstGeom>
          <a:noFill/>
          <a:ln>
            <a:noFill/>
          </a:ln>
        </p:spPr>
        <p:txBody>
          <a:bodyPr anchorCtr="0" anchor="t" bIns="45700" lIns="91425" spcFirstLastPara="1" rIns="91425" wrap="square" tIns="45700">
            <a:normAutofit/>
          </a:bodyPr>
          <a:lstStyle/>
          <a:p>
            <a:pPr indent="0" lvl="0" marL="0" rtl="0" algn="l">
              <a:lnSpc>
                <a:spcPct val="130000"/>
              </a:lnSpc>
              <a:spcBef>
                <a:spcPts val="1000"/>
              </a:spcBef>
              <a:spcAft>
                <a:spcPts val="0"/>
              </a:spcAft>
              <a:buClr>
                <a:srgbClr val="000000"/>
              </a:buClr>
              <a:buSzPts val="770"/>
              <a:buFont typeface="Arial"/>
              <a:buNone/>
            </a:pPr>
            <a:r>
              <a:rPr i="1" lang="en-US">
                <a:solidFill>
                  <a:srgbClr val="000000"/>
                </a:solidFill>
                <a:latin typeface="Calibri"/>
                <a:ea typeface="Calibri"/>
                <a:cs typeface="Calibri"/>
                <a:sym typeface="Calibri"/>
              </a:rPr>
              <a:t>		</a:t>
            </a:r>
            <a:endParaRPr i="1">
              <a:solidFill>
                <a:srgbClr val="000000"/>
              </a:solidFill>
              <a:latin typeface="Calibri"/>
              <a:ea typeface="Calibri"/>
              <a:cs typeface="Calibri"/>
              <a:sym typeface="Calibri"/>
            </a:endParaRPr>
          </a:p>
          <a:p>
            <a:pPr indent="0" lvl="0" marL="0" rtl="0" algn="l">
              <a:lnSpc>
                <a:spcPct val="130000"/>
              </a:lnSpc>
              <a:spcBef>
                <a:spcPts val="1000"/>
              </a:spcBef>
              <a:spcAft>
                <a:spcPts val="0"/>
              </a:spcAft>
              <a:buClr>
                <a:srgbClr val="000000"/>
              </a:buClr>
              <a:buSzPts val="770"/>
              <a:buFont typeface="Arial"/>
              <a:buNone/>
            </a:pPr>
            <a:r>
              <a:rPr i="1" lang="en-US">
                <a:solidFill>
                  <a:srgbClr val="000000"/>
                </a:solidFill>
                <a:latin typeface="Calibri"/>
                <a:ea typeface="Calibri"/>
                <a:cs typeface="Calibri"/>
                <a:sym typeface="Calibri"/>
              </a:rPr>
              <a:t>“I don’t know English. How am I going to understand what they are talking about? And he [clinician] took her out, that he didn’t want me to hear anything. And just like that, he folded his folder and left, bye-bye. I mean, he didn’t give me any explanation.” </a:t>
            </a:r>
            <a:endParaRPr i="1">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g12b78c03100_0_13"/>
          <p:cNvSpPr txBox="1"/>
          <p:nvPr>
            <p:ph type="title"/>
          </p:nvPr>
        </p:nvSpPr>
        <p:spPr>
          <a:xfrm>
            <a:off x="839788" y="365125"/>
            <a:ext cx="10515600" cy="13257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1000"/>
              </a:spcBef>
              <a:spcAft>
                <a:spcPts val="0"/>
              </a:spcAft>
              <a:buSzPts val="4400"/>
              <a:buNone/>
            </a:pPr>
            <a:r>
              <a:rPr lang="en-US" sz="3000"/>
              <a:t>Activation: But some clinicians supported guardians’ activation </a:t>
            </a:r>
            <a:endParaRPr sz="3000"/>
          </a:p>
        </p:txBody>
      </p:sp>
      <p:sp>
        <p:nvSpPr>
          <p:cNvPr id="159" name="Google Shape;159;g12b78c03100_0_13"/>
          <p:cNvSpPr txBox="1"/>
          <p:nvPr>
            <p:ph idx="1" type="body"/>
          </p:nvPr>
        </p:nvSpPr>
        <p:spPr>
          <a:xfrm>
            <a:off x="839788" y="1681163"/>
            <a:ext cx="5157900" cy="823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1000"/>
              </a:spcBef>
              <a:spcAft>
                <a:spcPts val="0"/>
              </a:spcAft>
              <a:buSzPts val="2400"/>
              <a:buNone/>
            </a:pPr>
            <a:r>
              <a:rPr b="1" lang="en-US" sz="2000">
                <a:latin typeface="Calibri"/>
                <a:ea typeface="Calibri"/>
                <a:cs typeface="Calibri"/>
                <a:sym typeface="Calibri"/>
              </a:rPr>
              <a:t>Translated Quote, </a:t>
            </a:r>
            <a:r>
              <a:rPr b="1" lang="en-US" sz="1900">
                <a:latin typeface="Calibri"/>
                <a:ea typeface="Calibri"/>
                <a:cs typeface="Calibri"/>
                <a:sym typeface="Calibri"/>
                <a:extLst>
                  <a:ext uri="http://customooxmlschemas.google.com/">
                    <go:slidesCustomData xmlns:go="http://customooxmlschemas.google.com/" textRoundtripDataId="0"/>
                  </a:ext>
                </a:extLst>
              </a:rPr>
              <a:t>Guardian</a:t>
            </a:r>
            <a:r>
              <a:rPr b="1" lang="en-US" sz="2000">
                <a:latin typeface="Calibri"/>
                <a:ea typeface="Calibri"/>
                <a:cs typeface="Calibri"/>
                <a:sym typeface="Calibri"/>
              </a:rPr>
              <a:t> of Latinx youth</a:t>
            </a:r>
            <a:endParaRPr sz="2000">
              <a:latin typeface="Calibri"/>
              <a:ea typeface="Calibri"/>
              <a:cs typeface="Calibri"/>
              <a:sym typeface="Calibri"/>
            </a:endParaRPr>
          </a:p>
        </p:txBody>
      </p:sp>
      <p:sp>
        <p:nvSpPr>
          <p:cNvPr id="160" name="Google Shape;160;g12b78c03100_0_13"/>
          <p:cNvSpPr txBox="1"/>
          <p:nvPr>
            <p:ph idx="2" type="body"/>
          </p:nvPr>
        </p:nvSpPr>
        <p:spPr>
          <a:xfrm>
            <a:off x="839788" y="2505075"/>
            <a:ext cx="5157900" cy="3684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000"/>
              </a:spcBef>
              <a:spcAft>
                <a:spcPts val="0"/>
              </a:spcAft>
              <a:buSzPts val="2000"/>
              <a:buNone/>
            </a:pPr>
            <a:r>
              <a:rPr i="1" lang="en-US">
                <a:solidFill>
                  <a:schemeClr val="dk1"/>
                </a:solidFill>
                <a:latin typeface="Calibri"/>
                <a:ea typeface="Calibri"/>
                <a:cs typeface="Calibri"/>
                <a:sym typeface="Calibri"/>
              </a:rPr>
              <a:t>“ [The PES clinician] tries to clear my doubts and he speaks Spanish so that helps me a lot. And if I have doubts, he asked him, he tries to get rid of all the doubts I have…the one who is directly in charge of the [de-identified] case is the one who calls me directly. He speaks Spanish then as it is one more piece of information.” </a:t>
            </a:r>
            <a:endParaRPr i="1">
              <a:solidFill>
                <a:schemeClr val="dk1"/>
              </a:solidFill>
              <a:latin typeface="Calibri"/>
              <a:ea typeface="Calibri"/>
              <a:cs typeface="Calibri"/>
              <a:sym typeface="Calibri"/>
            </a:endParaRPr>
          </a:p>
          <a:p>
            <a:pPr indent="0" lvl="0" marL="0" rtl="0" algn="l">
              <a:lnSpc>
                <a:spcPct val="150000"/>
              </a:lnSpc>
              <a:spcBef>
                <a:spcPts val="1000"/>
              </a:spcBef>
              <a:spcAft>
                <a:spcPts val="0"/>
              </a:spcAft>
              <a:buSzPts val="2000"/>
              <a:buNone/>
            </a:pPr>
            <a:r>
              <a:t/>
            </a:r>
            <a:endParaRPr/>
          </a:p>
        </p:txBody>
      </p:sp>
      <p:sp>
        <p:nvSpPr>
          <p:cNvPr id="161" name="Google Shape;161;g12b78c03100_0_13"/>
          <p:cNvSpPr txBox="1"/>
          <p:nvPr>
            <p:ph idx="3" type="body"/>
          </p:nvPr>
        </p:nvSpPr>
        <p:spPr>
          <a:xfrm>
            <a:off x="6879175" y="1681175"/>
            <a:ext cx="4339800" cy="8238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1000"/>
              </a:spcBef>
              <a:spcAft>
                <a:spcPts val="0"/>
              </a:spcAft>
              <a:buSzPts val="2400"/>
              <a:buNone/>
            </a:pPr>
            <a:r>
              <a:rPr b="1" lang="en-US" sz="2000">
                <a:solidFill>
                  <a:srgbClr val="000000"/>
                </a:solidFill>
                <a:latin typeface="Calibri"/>
                <a:ea typeface="Calibri"/>
                <a:cs typeface="Calibri"/>
                <a:sym typeface="Calibri"/>
              </a:rPr>
              <a:t>Clinician</a:t>
            </a:r>
            <a:endParaRPr sz="2000"/>
          </a:p>
        </p:txBody>
      </p:sp>
      <p:sp>
        <p:nvSpPr>
          <p:cNvPr id="162" name="Google Shape;162;g12b78c03100_0_13"/>
          <p:cNvSpPr txBox="1"/>
          <p:nvPr>
            <p:ph idx="4" type="body"/>
          </p:nvPr>
        </p:nvSpPr>
        <p:spPr>
          <a:xfrm>
            <a:off x="6742675" y="2505075"/>
            <a:ext cx="4612800" cy="36846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1000"/>
              </a:spcBef>
              <a:spcAft>
                <a:spcPts val="0"/>
              </a:spcAft>
              <a:buSzPts val="2000"/>
              <a:buNone/>
            </a:pPr>
            <a:r>
              <a:rPr i="1" lang="en-US">
                <a:solidFill>
                  <a:srgbClr val="000000"/>
                </a:solidFill>
                <a:latin typeface="Calibri"/>
                <a:ea typeface="Calibri"/>
                <a:cs typeface="Calibri"/>
                <a:sym typeface="Calibri"/>
              </a:rPr>
              <a:t>“I find that particularly Latino parents, where they’re actually very involved and engaged, but they don’t speak English, or isn’t their primary language, they don’t feel confident making proactive calls to providers.” </a:t>
            </a:r>
            <a:endParaRPr i="1">
              <a:solidFill>
                <a:srgbClr val="000000"/>
              </a:solidFill>
              <a:latin typeface="Calibri"/>
              <a:ea typeface="Calibri"/>
              <a:cs typeface="Calibri"/>
              <a:sym typeface="Calibri"/>
            </a:endParaRPr>
          </a:p>
          <a:p>
            <a:pPr indent="0" lvl="0" marL="0" rtl="0" algn="l">
              <a:lnSpc>
                <a:spcPct val="150000"/>
              </a:lnSpc>
              <a:spcBef>
                <a:spcPts val="1000"/>
              </a:spcBef>
              <a:spcAft>
                <a:spcPts val="0"/>
              </a:spcAft>
              <a:buSzPts val="2000"/>
              <a:buNone/>
            </a:pPr>
            <a:r>
              <a:t/>
            </a:r>
            <a:endParaRPr i="1"/>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g17a883e5d16_1_21"/>
          <p:cNvSpPr txBox="1"/>
          <p:nvPr>
            <p:ph idx="4294967295" type="body"/>
          </p:nvPr>
        </p:nvSpPr>
        <p:spPr>
          <a:xfrm>
            <a:off x="6560350" y="1367600"/>
            <a:ext cx="4880400" cy="38028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1000"/>
              </a:spcBef>
              <a:spcAft>
                <a:spcPts val="0"/>
              </a:spcAft>
              <a:buSzPts val="2000"/>
              <a:buNone/>
            </a:pPr>
            <a:r>
              <a:rPr b="1" lang="en-US">
                <a:solidFill>
                  <a:schemeClr val="dk2"/>
                </a:solidFill>
                <a:latin typeface="Calibri"/>
                <a:ea typeface="Calibri"/>
                <a:cs typeface="Calibri"/>
                <a:sym typeface="Calibri"/>
              </a:rPr>
              <a:t> </a:t>
            </a:r>
            <a:endParaRPr b="1">
              <a:solidFill>
                <a:schemeClr val="dk2"/>
              </a:solidFill>
              <a:latin typeface="Calibri"/>
              <a:ea typeface="Calibri"/>
              <a:cs typeface="Calibri"/>
              <a:sym typeface="Calibri"/>
            </a:endParaRPr>
          </a:p>
          <a:p>
            <a:pPr indent="0" lvl="0" marL="0" rtl="0" algn="l">
              <a:lnSpc>
                <a:spcPct val="100000"/>
              </a:lnSpc>
              <a:spcBef>
                <a:spcPts val="1000"/>
              </a:spcBef>
              <a:spcAft>
                <a:spcPts val="0"/>
              </a:spcAft>
              <a:buSzPts val="2000"/>
              <a:buNone/>
            </a:pPr>
            <a:r>
              <a:t/>
            </a:r>
            <a:endParaRPr b="1">
              <a:solidFill>
                <a:schemeClr val="dk2"/>
              </a:solidFill>
              <a:latin typeface="Calibri"/>
              <a:ea typeface="Calibri"/>
              <a:cs typeface="Calibri"/>
              <a:sym typeface="Calibri"/>
            </a:endParaRPr>
          </a:p>
          <a:p>
            <a:pPr indent="0" lvl="0" marL="457200" rtl="0" algn="l">
              <a:lnSpc>
                <a:spcPct val="100000"/>
              </a:lnSpc>
              <a:spcBef>
                <a:spcPts val="1000"/>
              </a:spcBef>
              <a:spcAft>
                <a:spcPts val="0"/>
              </a:spcAft>
              <a:buSzPts val="2000"/>
              <a:buNone/>
            </a:pPr>
            <a:r>
              <a:rPr b="1" lang="en-US">
                <a:solidFill>
                  <a:schemeClr val="dk1"/>
                </a:solidFill>
                <a:latin typeface="Calibri"/>
                <a:ea typeface="Calibri"/>
                <a:cs typeface="Calibri"/>
                <a:sym typeface="Calibri"/>
              </a:rPr>
              <a:t>For SDM to be successful, patients or their guardians must have </a:t>
            </a:r>
            <a:r>
              <a:rPr b="1" lang="en-US">
                <a:solidFill>
                  <a:schemeClr val="accent3"/>
                </a:solidFill>
                <a:latin typeface="Calibri"/>
                <a:ea typeface="Calibri"/>
                <a:cs typeface="Calibri"/>
                <a:sym typeface="Calibri"/>
              </a:rPr>
              <a:t>power</a:t>
            </a:r>
            <a:endParaRPr b="1">
              <a:solidFill>
                <a:schemeClr val="accent3"/>
              </a:solidFill>
              <a:latin typeface="Calibri"/>
              <a:ea typeface="Calibri"/>
              <a:cs typeface="Calibri"/>
              <a:sym typeface="Calibri"/>
            </a:endParaRPr>
          </a:p>
          <a:p>
            <a:pPr indent="-355600" lvl="1" marL="914400" rtl="0" algn="l">
              <a:lnSpc>
                <a:spcPct val="100000"/>
              </a:lnSpc>
              <a:spcBef>
                <a:spcPts val="1000"/>
              </a:spcBef>
              <a:spcAft>
                <a:spcPts val="0"/>
              </a:spcAft>
              <a:buClr>
                <a:schemeClr val="dk1"/>
              </a:buClr>
              <a:buSzPts val="2000"/>
              <a:buFont typeface="Calibri"/>
              <a:buChar char="•"/>
            </a:pPr>
            <a:r>
              <a:rPr lang="en-US">
                <a:solidFill>
                  <a:schemeClr val="dk1"/>
                </a:solidFill>
                <a:latin typeface="Calibri"/>
                <a:ea typeface="Calibri"/>
                <a:cs typeface="Calibri"/>
                <a:sym typeface="Calibri"/>
              </a:rPr>
              <a:t>influence over care decisions based on </a:t>
            </a:r>
            <a:r>
              <a:rPr lang="en-US">
                <a:solidFill>
                  <a:schemeClr val="dk1"/>
                </a:solidFill>
                <a:latin typeface="Calibri"/>
                <a:ea typeface="Calibri"/>
                <a:cs typeface="Calibri"/>
                <a:sym typeface="Calibri"/>
              </a:rPr>
              <a:t>preference 8</a:t>
            </a:r>
            <a:endParaRPr baseline="30000">
              <a:solidFill>
                <a:schemeClr val="dk1"/>
              </a:solidFill>
              <a:latin typeface="Calibri"/>
              <a:ea typeface="Calibri"/>
              <a:cs typeface="Calibri"/>
              <a:sym typeface="Calibri"/>
            </a:endParaRPr>
          </a:p>
          <a:p>
            <a:pPr indent="-355600" lvl="1" marL="914400" rtl="0" algn="l">
              <a:lnSpc>
                <a:spcPct val="100000"/>
              </a:lnSpc>
              <a:spcBef>
                <a:spcPts val="1000"/>
              </a:spcBef>
              <a:spcAft>
                <a:spcPts val="1000"/>
              </a:spcAft>
              <a:buClr>
                <a:schemeClr val="dk1"/>
              </a:buClr>
              <a:buSzPts val="2000"/>
              <a:buFont typeface="Calibri"/>
              <a:buChar char="•"/>
            </a:pPr>
            <a:r>
              <a:rPr lang="en-US">
                <a:solidFill>
                  <a:schemeClr val="dk1"/>
                </a:solidFill>
                <a:latin typeface="Calibri"/>
                <a:ea typeface="Calibri"/>
                <a:cs typeface="Calibri"/>
                <a:sym typeface="Calibri"/>
              </a:rPr>
              <a:t>This power is shared primarily between guardians and clinicians for patients who are youth and have limited legal and medical autonomy </a:t>
            </a:r>
            <a:endParaRPr>
              <a:latin typeface="Calibri"/>
              <a:ea typeface="Calibri"/>
              <a:cs typeface="Calibri"/>
              <a:sym typeface="Calibri"/>
            </a:endParaRPr>
          </a:p>
        </p:txBody>
      </p:sp>
      <p:sp>
        <p:nvSpPr>
          <p:cNvPr id="169" name="Google Shape;169;g17a883e5d16_1_21"/>
          <p:cNvSpPr txBox="1"/>
          <p:nvPr>
            <p:ph idx="4294967295" type="title"/>
          </p:nvPr>
        </p:nvSpPr>
        <p:spPr>
          <a:xfrm>
            <a:off x="689350" y="1522700"/>
            <a:ext cx="5871000" cy="34926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4400"/>
              <a:buNone/>
            </a:pPr>
            <a:r>
              <a:rPr i="1" lang="en-US" sz="5000"/>
              <a:t>Power</a:t>
            </a:r>
            <a:endParaRPr i="1" sz="5000"/>
          </a:p>
          <a:p>
            <a:pPr indent="0" lvl="0" marL="0" rtl="0" algn="ctr">
              <a:lnSpc>
                <a:spcPct val="100000"/>
              </a:lnSpc>
              <a:spcBef>
                <a:spcPts val="1000"/>
              </a:spcBef>
              <a:spcAft>
                <a:spcPts val="1000"/>
              </a:spcAft>
              <a:buSzPts val="4400"/>
              <a:buNone/>
            </a:pPr>
            <a:r>
              <a:rPr lang="en-US" sz="2000">
                <a:solidFill>
                  <a:schemeClr val="dk2"/>
                </a:solidFill>
                <a:latin typeface="Calibri"/>
                <a:ea typeface="Calibri"/>
                <a:cs typeface="Calibri"/>
                <a:sym typeface="Calibri"/>
              </a:rPr>
              <a:t>The extent to which </a:t>
            </a:r>
            <a:r>
              <a:rPr lang="en-US" sz="2000">
                <a:latin typeface="Calibri"/>
                <a:ea typeface="Calibri"/>
                <a:cs typeface="Calibri"/>
                <a:sym typeface="Calibri"/>
              </a:rPr>
              <a:t>patient preferences influence decisions</a:t>
            </a:r>
            <a:r>
              <a:rPr lang="en-US" sz="2000">
                <a:solidFill>
                  <a:schemeClr val="dk2"/>
                </a:solidFill>
                <a:latin typeface="Calibri"/>
                <a:ea typeface="Calibri"/>
                <a:cs typeface="Calibri"/>
                <a:sym typeface="Calibri"/>
              </a:rPr>
              <a:t> </a:t>
            </a:r>
            <a:endParaRPr i="1" sz="50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g16de9dd47b8_0_35"/>
          <p:cNvSpPr txBox="1"/>
          <p:nvPr>
            <p:ph type="title"/>
          </p:nvPr>
        </p:nvSpPr>
        <p:spPr>
          <a:xfrm>
            <a:off x="839788"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1000"/>
              </a:spcBef>
              <a:spcAft>
                <a:spcPts val="0"/>
              </a:spcAft>
              <a:buSzPts val="4400"/>
              <a:buNone/>
            </a:pPr>
            <a:r>
              <a:rPr lang="en-US" sz="3000"/>
              <a:t>Power: YOC were unable to assert themselves in the decision-making process</a:t>
            </a:r>
            <a:endParaRPr sz="3000"/>
          </a:p>
        </p:txBody>
      </p:sp>
      <p:sp>
        <p:nvSpPr>
          <p:cNvPr id="175" name="Google Shape;175;g16de9dd47b8_0_35"/>
          <p:cNvSpPr txBox="1"/>
          <p:nvPr>
            <p:ph idx="1" type="body"/>
          </p:nvPr>
        </p:nvSpPr>
        <p:spPr>
          <a:xfrm>
            <a:off x="839788" y="1681163"/>
            <a:ext cx="5157900" cy="823800"/>
          </a:xfrm>
          <a:prstGeom prst="rect">
            <a:avLst/>
          </a:prstGeom>
          <a:noFill/>
          <a:ln>
            <a:noFill/>
          </a:ln>
        </p:spPr>
        <p:txBody>
          <a:bodyPr anchorCtr="0" anchor="ctr" bIns="45700" lIns="91425" spcFirstLastPara="1" rIns="91425" wrap="square" tIns="45700">
            <a:noAutofit/>
          </a:bodyPr>
          <a:lstStyle/>
          <a:p>
            <a:pPr indent="0" lvl="0" marL="0" rtl="0" algn="l">
              <a:lnSpc>
                <a:spcPct val="150000"/>
              </a:lnSpc>
              <a:spcBef>
                <a:spcPts val="1000"/>
              </a:spcBef>
              <a:spcAft>
                <a:spcPts val="0"/>
              </a:spcAft>
              <a:buSzPts val="2400"/>
              <a:buNone/>
            </a:pPr>
            <a:r>
              <a:rPr b="1" lang="en-US" sz="2000"/>
              <a:t>Latinx youth</a:t>
            </a:r>
            <a:endParaRPr b="1" sz="2000"/>
          </a:p>
        </p:txBody>
      </p:sp>
      <p:sp>
        <p:nvSpPr>
          <p:cNvPr id="176" name="Google Shape;176;g16de9dd47b8_0_35"/>
          <p:cNvSpPr txBox="1"/>
          <p:nvPr>
            <p:ph idx="2" type="body"/>
          </p:nvPr>
        </p:nvSpPr>
        <p:spPr>
          <a:xfrm>
            <a:off x="839788" y="2505075"/>
            <a:ext cx="5157900" cy="3684600"/>
          </a:xfrm>
          <a:prstGeom prst="rect">
            <a:avLst/>
          </a:prstGeom>
          <a:noFill/>
          <a:ln>
            <a:noFill/>
          </a:ln>
        </p:spPr>
        <p:txBody>
          <a:bodyPr anchorCtr="0" anchor="t" bIns="45700" lIns="91425" spcFirstLastPara="1" rIns="91425" wrap="square" tIns="45700">
            <a:normAutofit/>
          </a:bodyPr>
          <a:lstStyle/>
          <a:p>
            <a:pPr indent="0" lvl="0" marL="0" rtl="0" algn="l">
              <a:lnSpc>
                <a:spcPct val="115000"/>
              </a:lnSpc>
              <a:spcBef>
                <a:spcPts val="1000"/>
              </a:spcBef>
              <a:spcAft>
                <a:spcPts val="0"/>
              </a:spcAft>
              <a:buSzPts val="2000"/>
              <a:buNone/>
            </a:pPr>
            <a:r>
              <a:rPr i="1" lang="en-US" sz="2400">
                <a:solidFill>
                  <a:srgbClr val="000000"/>
                </a:solidFill>
                <a:latin typeface="Calibri"/>
                <a:ea typeface="Calibri"/>
                <a:cs typeface="Calibri"/>
                <a:sym typeface="Calibri"/>
              </a:rPr>
              <a:t>“They just wanted to me to get more pills and more pills, like I ended up here because of pills. I’m like, I don’t want to take any. But they keep insisting that they need to see me getting better, or I’m not leaving anytime soon”</a:t>
            </a:r>
            <a:r>
              <a:rPr b="1" lang="en-US" sz="2400">
                <a:solidFill>
                  <a:srgbClr val="000000"/>
                </a:solidFill>
                <a:latin typeface="Calibri"/>
                <a:ea typeface="Calibri"/>
                <a:cs typeface="Calibri"/>
                <a:sym typeface="Calibri"/>
              </a:rPr>
              <a:t>  </a:t>
            </a:r>
            <a:endParaRPr i="1" sz="2400">
              <a:solidFill>
                <a:srgbClr val="000000"/>
              </a:solidFill>
              <a:latin typeface="Calibri"/>
              <a:ea typeface="Calibri"/>
              <a:cs typeface="Calibri"/>
              <a:sym typeface="Calibri"/>
            </a:endParaRPr>
          </a:p>
        </p:txBody>
      </p:sp>
      <p:sp>
        <p:nvSpPr>
          <p:cNvPr id="177" name="Google Shape;177;g16de9dd47b8_0_35"/>
          <p:cNvSpPr txBox="1"/>
          <p:nvPr>
            <p:ph idx="3" type="body"/>
          </p:nvPr>
        </p:nvSpPr>
        <p:spPr>
          <a:xfrm>
            <a:off x="6172200" y="1681163"/>
            <a:ext cx="5183100" cy="823800"/>
          </a:xfrm>
          <a:prstGeom prst="rect">
            <a:avLst/>
          </a:prstGeom>
          <a:noFill/>
          <a:ln>
            <a:noFill/>
          </a:ln>
        </p:spPr>
        <p:txBody>
          <a:bodyPr anchorCtr="0" anchor="ctr" bIns="45700" lIns="91425" spcFirstLastPara="1" rIns="91425" wrap="square" tIns="45700">
            <a:normAutofit/>
          </a:bodyPr>
          <a:lstStyle/>
          <a:p>
            <a:pPr indent="0" lvl="0" marL="0" rtl="0" algn="l">
              <a:lnSpc>
                <a:spcPct val="150000"/>
              </a:lnSpc>
              <a:spcBef>
                <a:spcPts val="1000"/>
              </a:spcBef>
              <a:spcAft>
                <a:spcPts val="0"/>
              </a:spcAft>
              <a:buSzPts val="2400"/>
              <a:buNone/>
            </a:pPr>
            <a:r>
              <a:rPr b="1" lang="en-US" sz="2000">
                <a:solidFill>
                  <a:srgbClr val="000000"/>
                </a:solidFill>
                <a:latin typeface="Calibri"/>
                <a:ea typeface="Calibri"/>
                <a:cs typeface="Calibri"/>
                <a:sym typeface="Calibri"/>
              </a:rPr>
              <a:t>Clinician</a:t>
            </a:r>
            <a:endParaRPr sz="2000"/>
          </a:p>
        </p:txBody>
      </p:sp>
      <p:sp>
        <p:nvSpPr>
          <p:cNvPr id="178" name="Google Shape;178;g16de9dd47b8_0_35"/>
          <p:cNvSpPr txBox="1"/>
          <p:nvPr>
            <p:ph idx="4" type="body"/>
          </p:nvPr>
        </p:nvSpPr>
        <p:spPr>
          <a:xfrm>
            <a:off x="6172200" y="2505075"/>
            <a:ext cx="5183100" cy="3684600"/>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115000"/>
              </a:lnSpc>
              <a:spcBef>
                <a:spcPts val="1000"/>
              </a:spcBef>
              <a:spcAft>
                <a:spcPts val="0"/>
              </a:spcAft>
              <a:buSzPts val="2000"/>
              <a:buNone/>
            </a:pPr>
            <a:r>
              <a:rPr i="1" lang="en-US" sz="2400">
                <a:solidFill>
                  <a:srgbClr val="000000"/>
                </a:solidFill>
                <a:latin typeface="Calibri"/>
                <a:ea typeface="Calibri"/>
                <a:cs typeface="Calibri"/>
                <a:sym typeface="Calibri"/>
              </a:rPr>
              <a:t>“I’ve been following up on [de-identified] for over a week. And even though she had told me that, if it is by her will, she wouldn’t be here. But you know, because she has to, because it is her mother’s wishes and the medical team. She doesn’t have any choice to, to do it.” </a:t>
            </a:r>
            <a:endParaRPr b="1" sz="2400">
              <a:solidFill>
                <a:srgbClr val="000000"/>
              </a:solidFill>
              <a:latin typeface="Calibri"/>
              <a:ea typeface="Calibri"/>
              <a:cs typeface="Calibri"/>
              <a:sym typeface="Calibri"/>
            </a:endParaRPr>
          </a:p>
          <a:p>
            <a:pPr indent="0" lvl="0" marL="0" rtl="0" algn="l">
              <a:lnSpc>
                <a:spcPct val="150000"/>
              </a:lnSpc>
              <a:spcBef>
                <a:spcPts val="1000"/>
              </a:spcBef>
              <a:spcAft>
                <a:spcPts val="0"/>
              </a:spcAft>
              <a:buSzPts val="2000"/>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g16de9dd47b8_0_30"/>
          <p:cNvSpPr txBox="1"/>
          <p:nvPr>
            <p:ph type="title"/>
          </p:nvPr>
        </p:nvSpPr>
        <p:spPr>
          <a:xfrm>
            <a:off x="839788" y="365125"/>
            <a:ext cx="10515600" cy="13257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1000"/>
              </a:spcBef>
              <a:spcAft>
                <a:spcPts val="0"/>
              </a:spcAft>
              <a:buSzPts val="4400"/>
              <a:buNone/>
            </a:pPr>
            <a:r>
              <a:rPr lang="en-US" sz="3000"/>
              <a:t>Power: Some guardians learned how to negotiate with clinicians after multiple visits</a:t>
            </a:r>
            <a:endParaRPr sz="3000"/>
          </a:p>
        </p:txBody>
      </p:sp>
      <p:sp>
        <p:nvSpPr>
          <p:cNvPr id="184" name="Google Shape;184;g16de9dd47b8_0_30"/>
          <p:cNvSpPr txBox="1"/>
          <p:nvPr>
            <p:ph idx="1" type="body"/>
          </p:nvPr>
        </p:nvSpPr>
        <p:spPr>
          <a:xfrm>
            <a:off x="839812" y="1681175"/>
            <a:ext cx="10515600" cy="823800"/>
          </a:xfrm>
          <a:prstGeom prst="rect">
            <a:avLst/>
          </a:prstGeom>
          <a:noFill/>
          <a:ln>
            <a:noFill/>
          </a:ln>
        </p:spPr>
        <p:txBody>
          <a:bodyPr anchorCtr="0" anchor="ctr" bIns="45700" lIns="91425" spcFirstLastPara="1" rIns="91425" wrap="square" tIns="45700">
            <a:noAutofit/>
          </a:bodyPr>
          <a:lstStyle/>
          <a:p>
            <a:pPr indent="0" lvl="0" marL="0" rtl="0" algn="r">
              <a:lnSpc>
                <a:spcPct val="150000"/>
              </a:lnSpc>
              <a:spcBef>
                <a:spcPts val="1000"/>
              </a:spcBef>
              <a:spcAft>
                <a:spcPts val="0"/>
              </a:spcAft>
              <a:buSzPts val="2400"/>
              <a:buNone/>
            </a:pPr>
            <a:r>
              <a:rPr b="1" lang="en-US" sz="2000">
                <a:solidFill>
                  <a:srgbClr val="1E1919"/>
                </a:solidFill>
                <a:latin typeface="Calibri"/>
                <a:ea typeface="Calibri"/>
                <a:cs typeface="Calibri"/>
                <a:sym typeface="Calibri"/>
              </a:rPr>
              <a:t>Guardian of multiracial youth </a:t>
            </a:r>
            <a:endParaRPr b="1" sz="2000">
              <a:solidFill>
                <a:schemeClr val="dk1"/>
              </a:solidFill>
              <a:latin typeface="Calibri"/>
              <a:ea typeface="Calibri"/>
              <a:cs typeface="Calibri"/>
              <a:sym typeface="Calibri"/>
            </a:endParaRPr>
          </a:p>
        </p:txBody>
      </p:sp>
      <p:sp>
        <p:nvSpPr>
          <p:cNvPr id="185" name="Google Shape;185;g16de9dd47b8_0_30"/>
          <p:cNvSpPr txBox="1"/>
          <p:nvPr>
            <p:ph idx="2" type="body"/>
          </p:nvPr>
        </p:nvSpPr>
        <p:spPr>
          <a:xfrm>
            <a:off x="1335850" y="2380325"/>
            <a:ext cx="3624600" cy="3684600"/>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150000"/>
              </a:lnSpc>
              <a:spcBef>
                <a:spcPts val="1000"/>
              </a:spcBef>
              <a:spcAft>
                <a:spcPts val="0"/>
              </a:spcAft>
              <a:buSzPts val="2000"/>
              <a:buNone/>
            </a:pPr>
            <a:r>
              <a:rPr i="1" lang="en-US" sz="2400">
                <a:solidFill>
                  <a:schemeClr val="dk1"/>
                </a:solidFill>
                <a:latin typeface="Calibri"/>
                <a:ea typeface="Calibri"/>
                <a:cs typeface="Calibri"/>
                <a:sym typeface="Calibri"/>
              </a:rPr>
              <a:t>“...</a:t>
            </a:r>
            <a:r>
              <a:rPr i="1" lang="en-US" sz="2400">
                <a:solidFill>
                  <a:srgbClr val="1E1919"/>
                </a:solidFill>
                <a:latin typeface="Calibri"/>
                <a:ea typeface="Calibri"/>
                <a:cs typeface="Calibri"/>
                <a:sym typeface="Calibri"/>
              </a:rPr>
              <a:t>There are specific words that you have to use in order for them to keep them [from being sent home from the ED]. And I did exactly that.”  </a:t>
            </a:r>
            <a:endParaRPr i="1" sz="2400">
              <a:solidFill>
                <a:schemeClr val="dk1"/>
              </a:solidFill>
              <a:latin typeface="Calibri"/>
              <a:ea typeface="Calibri"/>
              <a:cs typeface="Calibri"/>
              <a:sym typeface="Calibri"/>
            </a:endParaRPr>
          </a:p>
          <a:p>
            <a:pPr indent="0" lvl="0" marL="0" rtl="0" algn="l">
              <a:lnSpc>
                <a:spcPct val="150000"/>
              </a:lnSpc>
              <a:spcBef>
                <a:spcPts val="1000"/>
              </a:spcBef>
              <a:spcAft>
                <a:spcPts val="0"/>
              </a:spcAft>
              <a:buSzPts val="2000"/>
              <a:buNone/>
            </a:pPr>
            <a:r>
              <a:t/>
            </a:r>
            <a:endParaRPr b="1" sz="2400">
              <a:solidFill>
                <a:schemeClr val="dk1"/>
              </a:solidFill>
            </a:endParaRPr>
          </a:p>
        </p:txBody>
      </p:sp>
      <p:sp>
        <p:nvSpPr>
          <p:cNvPr id="186" name="Google Shape;186;g16de9dd47b8_0_30"/>
          <p:cNvSpPr txBox="1"/>
          <p:nvPr>
            <p:ph idx="4" type="body"/>
          </p:nvPr>
        </p:nvSpPr>
        <p:spPr>
          <a:xfrm>
            <a:off x="5531025" y="2380325"/>
            <a:ext cx="5546100" cy="36846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1000"/>
              </a:spcBef>
              <a:spcAft>
                <a:spcPts val="0"/>
              </a:spcAft>
              <a:buSzPts val="2000"/>
              <a:buNone/>
            </a:pPr>
            <a:r>
              <a:rPr i="1" lang="en-US">
                <a:solidFill>
                  <a:schemeClr val="dk1"/>
                </a:solidFill>
                <a:latin typeface="Calibri"/>
                <a:ea typeface="Calibri"/>
                <a:cs typeface="Calibri"/>
                <a:sym typeface="Calibri"/>
              </a:rPr>
              <a:t>“... the therapist was trying to help me try to get him a partial. But it's hard because there are no beds and there's nothing she can do…So she said mom next time he has a feeling like that, you have to fight for your rights. And I did that. I refuse to, for him to go back home…I put my foot down and said no…”</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g16de9dd47b8_0_40"/>
          <p:cNvSpPr txBox="1"/>
          <p:nvPr>
            <p:ph type="title"/>
          </p:nvPr>
        </p:nvSpPr>
        <p:spPr>
          <a:xfrm>
            <a:off x="838200" y="261607"/>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accent2"/>
              </a:buClr>
              <a:buSzPts val="4000"/>
              <a:buFont typeface="Arial Black"/>
              <a:buNone/>
            </a:pPr>
            <a:r>
              <a:rPr lang="en-US"/>
              <a:t>Discussion</a:t>
            </a:r>
            <a:endParaRPr/>
          </a:p>
        </p:txBody>
      </p:sp>
      <p:sp>
        <p:nvSpPr>
          <p:cNvPr id="192" name="Google Shape;192;g16de9dd47b8_0_40"/>
          <p:cNvSpPr txBox="1"/>
          <p:nvPr>
            <p:ph idx="1" type="body"/>
          </p:nvPr>
        </p:nvSpPr>
        <p:spPr>
          <a:xfrm>
            <a:off x="838200" y="1917793"/>
            <a:ext cx="10515600" cy="4351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2000"/>
              <a:buNone/>
            </a:pPr>
            <a:r>
              <a:rPr b="1" lang="en-US">
                <a:solidFill>
                  <a:schemeClr val="dk1"/>
                </a:solidFill>
                <a:latin typeface="Calibri"/>
                <a:ea typeface="Calibri"/>
                <a:cs typeface="Calibri"/>
                <a:sym typeface="Calibri"/>
              </a:rPr>
              <a:t>SDM occurred  inconsistently during PES visits</a:t>
            </a:r>
            <a:endParaRPr>
              <a:solidFill>
                <a:schemeClr val="accent2"/>
              </a:solidFill>
              <a:latin typeface="Calibri"/>
              <a:ea typeface="Calibri"/>
              <a:cs typeface="Calibri"/>
              <a:sym typeface="Calibri"/>
            </a:endParaRPr>
          </a:p>
          <a:p>
            <a:pPr indent="-228600" lvl="0" marL="685800" rtl="0" algn="l">
              <a:lnSpc>
                <a:spcPct val="100000"/>
              </a:lnSpc>
              <a:spcBef>
                <a:spcPts val="0"/>
              </a:spcBef>
              <a:spcAft>
                <a:spcPts val="0"/>
              </a:spcAft>
              <a:buClr>
                <a:schemeClr val="accent2"/>
              </a:buClr>
              <a:buSzPts val="2000"/>
              <a:buFont typeface="Calibri"/>
              <a:buChar char="•"/>
            </a:pPr>
            <a:r>
              <a:rPr lang="en-US">
                <a:solidFill>
                  <a:schemeClr val="accent2"/>
                </a:solidFill>
                <a:latin typeface="Calibri"/>
                <a:ea typeface="Calibri"/>
                <a:cs typeface="Calibri"/>
                <a:sym typeface="Calibri"/>
              </a:rPr>
              <a:t>Culture, power, and knowledge all play a role in affecting a patient’s ability to assert their needs and a provider’s ability to communicate clinical judgments. </a:t>
            </a:r>
            <a:endParaRPr>
              <a:solidFill>
                <a:schemeClr val="accent2"/>
              </a:solidFill>
              <a:latin typeface="Calibri"/>
              <a:ea typeface="Calibri"/>
              <a:cs typeface="Calibri"/>
              <a:sym typeface="Calibri"/>
            </a:endParaRPr>
          </a:p>
          <a:p>
            <a:pPr indent="0" lvl="0" marL="0" rtl="0" algn="l">
              <a:lnSpc>
                <a:spcPct val="100000"/>
              </a:lnSpc>
              <a:spcBef>
                <a:spcPts val="0"/>
              </a:spcBef>
              <a:spcAft>
                <a:spcPts val="0"/>
              </a:spcAft>
              <a:buSzPts val="2000"/>
              <a:buNone/>
            </a:pPr>
            <a:r>
              <a:t/>
            </a:r>
            <a:endParaRPr b="1">
              <a:solidFill>
                <a:srgbClr val="000000"/>
              </a:solidFill>
              <a:latin typeface="Calibri"/>
              <a:ea typeface="Calibri"/>
              <a:cs typeface="Calibri"/>
              <a:sym typeface="Calibri"/>
            </a:endParaRPr>
          </a:p>
          <a:p>
            <a:pPr indent="0" lvl="0" marL="0" rtl="0" algn="l">
              <a:lnSpc>
                <a:spcPct val="100000"/>
              </a:lnSpc>
              <a:spcBef>
                <a:spcPts val="0"/>
              </a:spcBef>
              <a:spcAft>
                <a:spcPts val="0"/>
              </a:spcAft>
              <a:buSzPts val="2000"/>
              <a:buNone/>
            </a:pPr>
            <a:r>
              <a:rPr b="1" lang="en-US">
                <a:solidFill>
                  <a:srgbClr val="000000"/>
                </a:solidFill>
                <a:latin typeface="Calibri"/>
                <a:ea typeface="Calibri"/>
                <a:cs typeface="Calibri"/>
                <a:sym typeface="Calibri"/>
              </a:rPr>
              <a:t>YOC and guardians want to be part of the treatment and discharge decision making process </a:t>
            </a:r>
            <a:endParaRPr b="1">
              <a:solidFill>
                <a:srgbClr val="000000"/>
              </a:solidFill>
              <a:latin typeface="Calibri"/>
              <a:ea typeface="Calibri"/>
              <a:cs typeface="Calibri"/>
              <a:sym typeface="Calibri"/>
            </a:endParaRPr>
          </a:p>
          <a:p>
            <a:pPr indent="-228600" lvl="1" marL="685800" rtl="0" algn="l">
              <a:lnSpc>
                <a:spcPct val="100000"/>
              </a:lnSpc>
              <a:spcBef>
                <a:spcPts val="0"/>
              </a:spcBef>
              <a:spcAft>
                <a:spcPts val="0"/>
              </a:spcAft>
              <a:buClr>
                <a:srgbClr val="000000"/>
              </a:buClr>
              <a:buSzPts val="2000"/>
              <a:buFont typeface="Calibri"/>
              <a:buChar char="•"/>
            </a:pPr>
            <a:r>
              <a:rPr lang="en-US">
                <a:solidFill>
                  <a:srgbClr val="000000"/>
                </a:solidFill>
                <a:latin typeface="Calibri"/>
                <a:ea typeface="Calibri"/>
                <a:cs typeface="Calibri"/>
                <a:sym typeface="Calibri"/>
              </a:rPr>
              <a:t>Youth felt they were </a:t>
            </a:r>
            <a:r>
              <a:rPr lang="en-US">
                <a:solidFill>
                  <a:schemeClr val="accent2"/>
                </a:solidFill>
                <a:latin typeface="Calibri"/>
                <a:ea typeface="Calibri"/>
                <a:cs typeface="Calibri"/>
                <a:sym typeface="Calibri"/>
              </a:rPr>
              <a:t>informants, but not collaborators </a:t>
            </a:r>
            <a:r>
              <a:rPr lang="en-US">
                <a:solidFill>
                  <a:srgbClr val="000000"/>
                </a:solidFill>
                <a:latin typeface="Calibri"/>
                <a:ea typeface="Calibri"/>
                <a:cs typeface="Calibri"/>
                <a:sym typeface="Calibri"/>
              </a:rPr>
              <a:t>in decision making</a:t>
            </a:r>
            <a:endParaRPr>
              <a:solidFill>
                <a:srgbClr val="000000"/>
              </a:solidFill>
              <a:latin typeface="Calibri"/>
              <a:ea typeface="Calibri"/>
              <a:cs typeface="Calibri"/>
              <a:sym typeface="Calibri"/>
            </a:endParaRPr>
          </a:p>
          <a:p>
            <a:pPr indent="-228600" lvl="1" marL="685800" rtl="0" algn="l">
              <a:lnSpc>
                <a:spcPct val="100000"/>
              </a:lnSpc>
              <a:spcBef>
                <a:spcPts val="0"/>
              </a:spcBef>
              <a:spcAft>
                <a:spcPts val="0"/>
              </a:spcAft>
              <a:buClr>
                <a:srgbClr val="000000"/>
              </a:buClr>
              <a:buSzPts val="2000"/>
              <a:buFont typeface="Calibri"/>
              <a:buChar char="•"/>
            </a:pPr>
            <a:r>
              <a:rPr lang="en-US">
                <a:solidFill>
                  <a:srgbClr val="000000"/>
                </a:solidFill>
                <a:latin typeface="Calibri"/>
                <a:ea typeface="Calibri"/>
                <a:cs typeface="Calibri"/>
                <a:sym typeface="Calibri"/>
              </a:rPr>
              <a:t>Many guardians navigated discharge decisions with </a:t>
            </a:r>
            <a:r>
              <a:rPr lang="en-US">
                <a:solidFill>
                  <a:schemeClr val="accent2"/>
                </a:solidFill>
                <a:latin typeface="Calibri"/>
                <a:ea typeface="Calibri"/>
                <a:cs typeface="Calibri"/>
                <a:sym typeface="Calibri"/>
              </a:rPr>
              <a:t>minimal support</a:t>
            </a:r>
            <a:r>
              <a:rPr lang="en-US">
                <a:solidFill>
                  <a:srgbClr val="000000"/>
                </a:solidFill>
                <a:latin typeface="Calibri"/>
                <a:ea typeface="Calibri"/>
                <a:cs typeface="Calibri"/>
                <a:sym typeface="Calibri"/>
              </a:rPr>
              <a:t> or confidence </a:t>
            </a:r>
            <a:endParaRPr>
              <a:solidFill>
                <a:srgbClr val="000000"/>
              </a:solidFill>
              <a:latin typeface="Calibri"/>
              <a:ea typeface="Calibri"/>
              <a:cs typeface="Calibri"/>
              <a:sym typeface="Calibri"/>
            </a:endParaRPr>
          </a:p>
          <a:p>
            <a:pPr indent="-228600" lvl="1" marL="685800" rtl="0" algn="l">
              <a:lnSpc>
                <a:spcPct val="100000"/>
              </a:lnSpc>
              <a:spcBef>
                <a:spcPts val="0"/>
              </a:spcBef>
              <a:spcAft>
                <a:spcPts val="0"/>
              </a:spcAft>
              <a:buClr>
                <a:srgbClr val="000000"/>
              </a:buClr>
              <a:buSzPts val="2000"/>
              <a:buFont typeface="Calibri"/>
              <a:buChar char="•"/>
            </a:pPr>
            <a:r>
              <a:rPr lang="en-US">
                <a:solidFill>
                  <a:srgbClr val="000000"/>
                </a:solidFill>
                <a:latin typeface="Calibri"/>
                <a:ea typeface="Calibri"/>
                <a:cs typeface="Calibri"/>
                <a:sym typeface="Calibri"/>
              </a:rPr>
              <a:t>Families with </a:t>
            </a:r>
            <a:r>
              <a:rPr lang="en-US">
                <a:solidFill>
                  <a:schemeClr val="accent2"/>
                </a:solidFill>
                <a:latin typeface="Calibri"/>
                <a:ea typeface="Calibri"/>
                <a:cs typeface="Calibri"/>
                <a:sym typeface="Calibri"/>
              </a:rPr>
              <a:t>repeated visits to PES were most successful </a:t>
            </a:r>
            <a:r>
              <a:rPr lang="en-US">
                <a:solidFill>
                  <a:srgbClr val="000000"/>
                </a:solidFill>
                <a:latin typeface="Calibri"/>
                <a:ea typeface="Calibri"/>
                <a:cs typeface="Calibri"/>
                <a:sym typeface="Calibri"/>
              </a:rPr>
              <a:t>in negotiation </a:t>
            </a:r>
            <a:endParaRPr>
              <a:solidFill>
                <a:srgbClr val="000000"/>
              </a:solidFill>
              <a:latin typeface="Calibri"/>
              <a:ea typeface="Calibri"/>
              <a:cs typeface="Calibri"/>
              <a:sym typeface="Calibri"/>
            </a:endParaRPr>
          </a:p>
          <a:p>
            <a:pPr indent="0" lvl="0" marL="0" rtl="0" algn="l">
              <a:lnSpc>
                <a:spcPct val="100000"/>
              </a:lnSpc>
              <a:spcBef>
                <a:spcPts val="0"/>
              </a:spcBef>
              <a:spcAft>
                <a:spcPts val="0"/>
              </a:spcAft>
              <a:buSzPts val="2000"/>
              <a:buNone/>
            </a:pPr>
            <a:r>
              <a:t/>
            </a:r>
            <a:endParaRPr b="1">
              <a:solidFill>
                <a:srgbClr val="000000"/>
              </a:solidFill>
              <a:latin typeface="Calibri"/>
              <a:ea typeface="Calibri"/>
              <a:cs typeface="Calibri"/>
              <a:sym typeface="Calibri"/>
            </a:endParaRPr>
          </a:p>
          <a:p>
            <a:pPr indent="0" lvl="0" marL="0" rtl="0" algn="l">
              <a:lnSpc>
                <a:spcPct val="100000"/>
              </a:lnSpc>
              <a:spcBef>
                <a:spcPts val="0"/>
              </a:spcBef>
              <a:spcAft>
                <a:spcPts val="0"/>
              </a:spcAft>
              <a:buSzPts val="2000"/>
              <a:buNone/>
            </a:pPr>
            <a:r>
              <a:rPr b="1" lang="en-US">
                <a:solidFill>
                  <a:srgbClr val="000000"/>
                </a:solidFill>
                <a:latin typeface="Calibri"/>
                <a:ea typeface="Calibri"/>
                <a:cs typeface="Calibri"/>
                <a:sym typeface="Calibri"/>
              </a:rPr>
              <a:t>Clinicians supplied some support for SDM but faced systemic barriers</a:t>
            </a:r>
            <a:endParaRPr>
              <a:solidFill>
                <a:srgbClr val="000000"/>
              </a:solidFill>
              <a:latin typeface="Calibri"/>
              <a:ea typeface="Calibri"/>
              <a:cs typeface="Calibri"/>
              <a:sym typeface="Calibri"/>
            </a:endParaRPr>
          </a:p>
          <a:p>
            <a:pPr indent="-228600" lvl="0" marL="685800" rtl="0" algn="l">
              <a:lnSpc>
                <a:spcPct val="100000"/>
              </a:lnSpc>
              <a:spcBef>
                <a:spcPts val="0"/>
              </a:spcBef>
              <a:spcAft>
                <a:spcPts val="0"/>
              </a:spcAft>
              <a:buClr>
                <a:srgbClr val="000000"/>
              </a:buClr>
              <a:buSzPts val="2000"/>
              <a:buFont typeface="Calibri"/>
              <a:buChar char="•"/>
            </a:pPr>
            <a:r>
              <a:rPr lang="en-US">
                <a:solidFill>
                  <a:srgbClr val="000000"/>
                </a:solidFill>
                <a:latin typeface="Calibri"/>
                <a:ea typeface="Calibri"/>
                <a:cs typeface="Calibri"/>
                <a:sym typeface="Calibri"/>
              </a:rPr>
              <a:t>Lack of time, understaffing, unequal access to appropriate care because of insurance status or geography or language barriers</a:t>
            </a:r>
            <a:endParaRPr>
              <a:solidFill>
                <a:srgbClr val="000000"/>
              </a:solidFill>
              <a:latin typeface="Calibri"/>
              <a:ea typeface="Calibri"/>
              <a:cs typeface="Calibri"/>
              <a:sym typeface="Calibri"/>
            </a:endParaRPr>
          </a:p>
          <a:p>
            <a:pPr indent="-228600" lvl="0" marL="685800" rtl="0" algn="l">
              <a:lnSpc>
                <a:spcPct val="100000"/>
              </a:lnSpc>
              <a:spcBef>
                <a:spcPts val="0"/>
              </a:spcBef>
              <a:spcAft>
                <a:spcPts val="0"/>
              </a:spcAft>
              <a:buClr>
                <a:srgbClr val="000000"/>
              </a:buClr>
              <a:buSzPts val="2000"/>
              <a:buFont typeface="Calibri"/>
              <a:buChar char="•"/>
            </a:pPr>
            <a:r>
              <a:rPr lang="en-US">
                <a:solidFill>
                  <a:srgbClr val="000000"/>
                </a:solidFill>
                <a:latin typeface="Calibri"/>
                <a:ea typeface="Calibri"/>
                <a:cs typeface="Calibri"/>
                <a:sym typeface="Calibri"/>
              </a:rPr>
              <a:t>Guardians and youth recognized when clinicians made extra effort to overcome barriers</a:t>
            </a:r>
            <a:endParaRPr>
              <a:solidFill>
                <a:srgbClr val="000000"/>
              </a:solidFill>
              <a:latin typeface="Calibri"/>
              <a:ea typeface="Calibri"/>
              <a:cs typeface="Calibri"/>
              <a:sym typeface="Calibri"/>
            </a:endParaRPr>
          </a:p>
          <a:p>
            <a:pPr indent="0" lvl="0" marL="685800" rtl="0" algn="l">
              <a:lnSpc>
                <a:spcPct val="100000"/>
              </a:lnSpc>
              <a:spcBef>
                <a:spcPts val="0"/>
              </a:spcBef>
              <a:spcAft>
                <a:spcPts val="0"/>
              </a:spcAft>
              <a:buSzPts val="2000"/>
              <a:buNone/>
            </a:pPr>
            <a:r>
              <a:t/>
            </a:r>
            <a:endParaRPr>
              <a:solidFill>
                <a:srgbClr val="000000"/>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g170b75b49ff_0_41"/>
          <p:cNvSpPr txBox="1"/>
          <p:nvPr>
            <p:ph type="title"/>
          </p:nvPr>
        </p:nvSpPr>
        <p:spPr>
          <a:xfrm>
            <a:off x="838200" y="261607"/>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4000"/>
              <a:buNone/>
            </a:pPr>
            <a:r>
              <a:rPr lang="en-US"/>
              <a:t>Limitations</a:t>
            </a:r>
            <a:endParaRPr/>
          </a:p>
        </p:txBody>
      </p:sp>
      <p:sp>
        <p:nvSpPr>
          <p:cNvPr id="199" name="Google Shape;199;g170b75b49ff_0_41"/>
          <p:cNvSpPr txBox="1"/>
          <p:nvPr>
            <p:ph idx="1" type="body"/>
          </p:nvPr>
        </p:nvSpPr>
        <p:spPr>
          <a:xfrm>
            <a:off x="838200" y="1929143"/>
            <a:ext cx="10515600" cy="4351200"/>
          </a:xfrm>
          <a:prstGeom prst="rect">
            <a:avLst/>
          </a:prstGeom>
          <a:noFill/>
          <a:ln>
            <a:noFill/>
          </a:ln>
        </p:spPr>
        <p:txBody>
          <a:bodyPr anchorCtr="0" anchor="t" bIns="45700" lIns="91425" spcFirstLastPara="1" rIns="91425" wrap="square" tIns="45700">
            <a:normAutofit/>
          </a:bodyPr>
          <a:lstStyle/>
          <a:p>
            <a:pPr indent="-355600" lvl="0" marL="457200" rtl="0" algn="l">
              <a:lnSpc>
                <a:spcPct val="100000"/>
              </a:lnSpc>
              <a:spcBef>
                <a:spcPts val="0"/>
              </a:spcBef>
              <a:spcAft>
                <a:spcPts val="0"/>
              </a:spcAft>
              <a:buClr>
                <a:schemeClr val="dk1"/>
              </a:buClr>
              <a:buSzPts val="2000"/>
              <a:buFont typeface="Calibri"/>
              <a:buChar char="•"/>
            </a:pPr>
            <a:r>
              <a:rPr lang="en-US">
                <a:solidFill>
                  <a:schemeClr val="dk1"/>
                </a:solidFill>
                <a:latin typeface="Calibri"/>
                <a:ea typeface="Calibri"/>
                <a:cs typeface="Calibri"/>
                <a:sym typeface="Calibri"/>
              </a:rPr>
              <a:t>Didn’t investigate YOC cultural identity beyond racial group/heritage (Black, Latinx, Asian, Indigenous, or Multiracial)</a:t>
            </a:r>
            <a:endParaRPr>
              <a:solidFill>
                <a:schemeClr val="dk1"/>
              </a:solidFill>
              <a:latin typeface="Calibri"/>
              <a:ea typeface="Calibri"/>
              <a:cs typeface="Calibri"/>
              <a:sym typeface="Calibri"/>
            </a:endParaRPr>
          </a:p>
          <a:p>
            <a:pPr indent="-355600" lvl="0" marL="457200" rtl="0" algn="l">
              <a:lnSpc>
                <a:spcPct val="100000"/>
              </a:lnSpc>
              <a:spcBef>
                <a:spcPts val="1000"/>
              </a:spcBef>
              <a:spcAft>
                <a:spcPts val="0"/>
              </a:spcAft>
              <a:buClr>
                <a:schemeClr val="dk1"/>
              </a:buClr>
              <a:buSzPts val="2000"/>
              <a:buFont typeface="Calibri"/>
              <a:buChar char="•"/>
            </a:pPr>
            <a:r>
              <a:rPr lang="en-US">
                <a:solidFill>
                  <a:schemeClr val="dk1"/>
                </a:solidFill>
                <a:latin typeface="Calibri"/>
                <a:ea typeface="Calibri"/>
                <a:cs typeface="Calibri"/>
                <a:sym typeface="Calibri"/>
              </a:rPr>
              <a:t>Guardians who did not speak English often declined to be a part of the study</a:t>
            </a:r>
            <a:endParaRPr>
              <a:solidFill>
                <a:schemeClr val="dk1"/>
              </a:solidFill>
              <a:latin typeface="Calibri"/>
              <a:ea typeface="Calibri"/>
              <a:cs typeface="Calibri"/>
              <a:sym typeface="Calibri"/>
            </a:endParaRPr>
          </a:p>
          <a:p>
            <a:pPr indent="-355600" lvl="0" marL="457200" rtl="0" algn="l">
              <a:lnSpc>
                <a:spcPct val="100000"/>
              </a:lnSpc>
              <a:spcBef>
                <a:spcPts val="1000"/>
              </a:spcBef>
              <a:spcAft>
                <a:spcPts val="0"/>
              </a:spcAft>
              <a:buClr>
                <a:schemeClr val="dk1"/>
              </a:buClr>
              <a:buSzPts val="2000"/>
              <a:buFont typeface="Calibri"/>
              <a:buChar char="•"/>
            </a:pPr>
            <a:r>
              <a:rPr lang="en-US">
                <a:solidFill>
                  <a:schemeClr val="dk1"/>
                </a:solidFill>
                <a:latin typeface="Calibri"/>
                <a:ea typeface="Calibri"/>
                <a:cs typeface="Calibri"/>
                <a:sym typeface="Calibri"/>
              </a:rPr>
              <a:t>Only one site was studied</a:t>
            </a:r>
            <a:endParaRPr>
              <a:solidFill>
                <a:schemeClr val="dk1"/>
              </a:solidFill>
              <a:latin typeface="Calibri"/>
              <a:ea typeface="Calibri"/>
              <a:cs typeface="Calibri"/>
              <a:sym typeface="Calibri"/>
            </a:endParaRPr>
          </a:p>
          <a:p>
            <a:pPr indent="-355600" lvl="0" marL="457200" rtl="0" algn="l">
              <a:lnSpc>
                <a:spcPct val="100000"/>
              </a:lnSpc>
              <a:spcBef>
                <a:spcPts val="1000"/>
              </a:spcBef>
              <a:spcAft>
                <a:spcPts val="1000"/>
              </a:spcAft>
              <a:buClr>
                <a:schemeClr val="dk1"/>
              </a:buClr>
              <a:buSzPts val="2000"/>
              <a:buFont typeface="Calibri"/>
              <a:buChar char="•"/>
            </a:pPr>
            <a:r>
              <a:rPr lang="en-US">
                <a:solidFill>
                  <a:schemeClr val="dk1"/>
                </a:solidFill>
                <a:latin typeface="Calibri"/>
                <a:ea typeface="Calibri"/>
                <a:cs typeface="Calibri"/>
                <a:sym typeface="Calibri"/>
              </a:rPr>
              <a:t>Clinician characteristics were not collected</a:t>
            </a:r>
            <a:endParaRPr>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g1798596ffde_2_33"/>
          <p:cNvSpPr txBox="1"/>
          <p:nvPr>
            <p:ph type="title"/>
          </p:nvPr>
        </p:nvSpPr>
        <p:spPr>
          <a:xfrm>
            <a:off x="838200" y="261607"/>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accent2"/>
              </a:buClr>
              <a:buSzPts val="4000"/>
              <a:buFont typeface="Arial Black"/>
              <a:buNone/>
            </a:pPr>
            <a:r>
              <a:rPr lang="en-US"/>
              <a:t>Implications</a:t>
            </a:r>
            <a:endParaRPr/>
          </a:p>
        </p:txBody>
      </p:sp>
      <p:sp>
        <p:nvSpPr>
          <p:cNvPr id="205" name="Google Shape;205;g1798596ffde_2_33"/>
          <p:cNvSpPr txBox="1"/>
          <p:nvPr>
            <p:ph idx="1" type="body"/>
          </p:nvPr>
        </p:nvSpPr>
        <p:spPr>
          <a:xfrm>
            <a:off x="838200" y="1917793"/>
            <a:ext cx="10515600" cy="4351200"/>
          </a:xfrm>
          <a:prstGeom prst="rect">
            <a:avLst/>
          </a:prstGeom>
          <a:noFill/>
          <a:ln>
            <a:noFill/>
          </a:ln>
        </p:spPr>
        <p:txBody>
          <a:bodyPr anchorCtr="0" anchor="t" bIns="45700" lIns="91425" spcFirstLastPara="1" rIns="91425" wrap="square" tIns="45700">
            <a:normAutofit/>
          </a:bodyPr>
          <a:lstStyle/>
          <a:p>
            <a:pPr indent="-228600" lvl="0" marL="228600" rtl="0" algn="l">
              <a:lnSpc>
                <a:spcPct val="115000"/>
              </a:lnSpc>
              <a:spcBef>
                <a:spcPts val="1200"/>
              </a:spcBef>
              <a:spcAft>
                <a:spcPts val="0"/>
              </a:spcAft>
              <a:buClr>
                <a:schemeClr val="dk1"/>
              </a:buClr>
              <a:buSzPts val="2000"/>
              <a:buFont typeface="Calibri"/>
              <a:buChar char="•"/>
            </a:pPr>
            <a:r>
              <a:rPr b="1" lang="en-US">
                <a:solidFill>
                  <a:schemeClr val="dk1"/>
                </a:solidFill>
                <a:latin typeface="Calibri"/>
                <a:ea typeface="Calibri"/>
                <a:cs typeface="Calibri"/>
                <a:sym typeface="Calibri"/>
              </a:rPr>
              <a:t>SDM is possible in PES emergency settings and desired by YOC and their guardians</a:t>
            </a:r>
            <a:endParaRPr b="1">
              <a:solidFill>
                <a:schemeClr val="dk1"/>
              </a:solidFill>
              <a:latin typeface="Calibri"/>
              <a:ea typeface="Calibri"/>
              <a:cs typeface="Calibri"/>
              <a:sym typeface="Calibri"/>
            </a:endParaRPr>
          </a:p>
          <a:p>
            <a:pPr indent="-228600" lvl="0" marL="228600" rtl="0" algn="l">
              <a:lnSpc>
                <a:spcPct val="115000"/>
              </a:lnSpc>
              <a:spcBef>
                <a:spcPts val="1200"/>
              </a:spcBef>
              <a:spcAft>
                <a:spcPts val="0"/>
              </a:spcAft>
              <a:buClr>
                <a:schemeClr val="dk1"/>
              </a:buClr>
              <a:buSzPts val="2000"/>
              <a:buFont typeface="Calibri"/>
              <a:buChar char="•"/>
            </a:pPr>
            <a:r>
              <a:rPr b="1" lang="en-US">
                <a:solidFill>
                  <a:schemeClr val="dk1"/>
                </a:solidFill>
                <a:latin typeface="Calibri"/>
                <a:ea typeface="Calibri"/>
                <a:cs typeface="Calibri"/>
                <a:sym typeface="Calibri"/>
              </a:rPr>
              <a:t>Our findings on inhibitions to SDM are consistent with work on pediatric SDM in non-PES settings</a:t>
            </a:r>
            <a:r>
              <a:rPr b="1" baseline="30000" lang="en-US">
                <a:solidFill>
                  <a:schemeClr val="dk1"/>
                </a:solidFill>
                <a:latin typeface="Calibri"/>
                <a:ea typeface="Calibri"/>
                <a:cs typeface="Calibri"/>
                <a:sym typeface="Calibri"/>
              </a:rPr>
              <a:t>8</a:t>
            </a:r>
            <a:endParaRPr b="1" baseline="30000">
              <a:solidFill>
                <a:schemeClr val="dk1"/>
              </a:solidFill>
              <a:latin typeface="Calibri"/>
              <a:ea typeface="Calibri"/>
              <a:cs typeface="Calibri"/>
              <a:sym typeface="Calibri"/>
            </a:endParaRPr>
          </a:p>
          <a:p>
            <a:pPr indent="-228600" lvl="0" marL="228600" rtl="0" algn="l">
              <a:lnSpc>
                <a:spcPct val="115000"/>
              </a:lnSpc>
              <a:spcBef>
                <a:spcPts val="1200"/>
              </a:spcBef>
              <a:spcAft>
                <a:spcPts val="0"/>
              </a:spcAft>
              <a:buClr>
                <a:schemeClr val="dk1"/>
              </a:buClr>
              <a:buSzPts val="2000"/>
              <a:buFont typeface="Calibri"/>
              <a:buChar char="•"/>
            </a:pPr>
            <a:r>
              <a:rPr b="1" lang="en-US">
                <a:solidFill>
                  <a:schemeClr val="dk1"/>
                </a:solidFill>
                <a:latin typeface="Calibri"/>
                <a:ea typeface="Calibri"/>
                <a:cs typeface="Calibri"/>
                <a:sym typeface="Calibri"/>
              </a:rPr>
              <a:t>Inconsistent SDM may be leading to friction in PES</a:t>
            </a:r>
            <a:endParaRPr b="1">
              <a:solidFill>
                <a:schemeClr val="dk1"/>
              </a:solidFill>
              <a:latin typeface="Calibri"/>
              <a:ea typeface="Calibri"/>
              <a:cs typeface="Calibri"/>
              <a:sym typeface="Calibri"/>
            </a:endParaRPr>
          </a:p>
          <a:p>
            <a:pPr indent="-228600" lvl="1" marL="685800" rtl="0" algn="l">
              <a:lnSpc>
                <a:spcPct val="115000"/>
              </a:lnSpc>
              <a:spcBef>
                <a:spcPts val="1200"/>
              </a:spcBef>
              <a:spcAft>
                <a:spcPts val="0"/>
              </a:spcAft>
              <a:buClr>
                <a:schemeClr val="dk1"/>
              </a:buClr>
              <a:buSzPts val="2000"/>
              <a:buFont typeface="Calibri"/>
              <a:buChar char="•"/>
            </a:pPr>
            <a:r>
              <a:rPr lang="en-US">
                <a:solidFill>
                  <a:srgbClr val="000000"/>
                </a:solidFill>
                <a:latin typeface="Calibri"/>
                <a:ea typeface="Calibri"/>
                <a:cs typeface="Calibri"/>
                <a:sym typeface="Calibri"/>
              </a:rPr>
              <a:t>Clinicians are in favor of SDM, but have limitations</a:t>
            </a:r>
            <a:endParaRPr>
              <a:solidFill>
                <a:srgbClr val="000000"/>
              </a:solidFill>
              <a:latin typeface="Calibri"/>
              <a:ea typeface="Calibri"/>
              <a:cs typeface="Calibri"/>
              <a:sym typeface="Calibri"/>
            </a:endParaRPr>
          </a:p>
          <a:p>
            <a:pPr indent="-228600" lvl="1" marL="685800" rtl="0" algn="l">
              <a:lnSpc>
                <a:spcPct val="115000"/>
              </a:lnSpc>
              <a:spcBef>
                <a:spcPts val="1200"/>
              </a:spcBef>
              <a:spcAft>
                <a:spcPts val="0"/>
              </a:spcAft>
              <a:buClr>
                <a:schemeClr val="dk1"/>
              </a:buClr>
              <a:buSzPts val="2000"/>
              <a:buFont typeface="Calibri"/>
              <a:buChar char="•"/>
            </a:pPr>
            <a:r>
              <a:rPr lang="en-US">
                <a:solidFill>
                  <a:srgbClr val="000000"/>
                </a:solidFill>
                <a:latin typeface="Calibri"/>
                <a:ea typeface="Calibri"/>
                <a:cs typeface="Calibri"/>
                <a:sym typeface="Calibri"/>
              </a:rPr>
              <a:t>Guardians of YOC in PES need more resources and emotional support to engage in SDM</a:t>
            </a:r>
            <a:endParaRPr>
              <a:solidFill>
                <a:srgbClr val="000000"/>
              </a:solidFill>
              <a:latin typeface="Calibri"/>
              <a:ea typeface="Calibri"/>
              <a:cs typeface="Calibri"/>
              <a:sym typeface="Calibri"/>
            </a:endParaRPr>
          </a:p>
          <a:p>
            <a:pPr indent="-228600" lvl="1" marL="685800" rtl="0" algn="l">
              <a:lnSpc>
                <a:spcPct val="115000"/>
              </a:lnSpc>
              <a:spcBef>
                <a:spcPts val="1200"/>
              </a:spcBef>
              <a:spcAft>
                <a:spcPts val="0"/>
              </a:spcAft>
              <a:buClr>
                <a:schemeClr val="dk1"/>
              </a:buClr>
              <a:buSzPts val="2000"/>
              <a:buFont typeface="Calibri"/>
              <a:buChar char="•"/>
            </a:pPr>
            <a:r>
              <a:rPr lang="en-US">
                <a:solidFill>
                  <a:srgbClr val="000000"/>
                </a:solidFill>
                <a:latin typeface="Calibri"/>
                <a:ea typeface="Calibri"/>
                <a:cs typeface="Calibri"/>
                <a:sym typeface="Calibri"/>
              </a:rPr>
              <a:t>Clinicians should not be the only resource for SDM support in PES settings</a:t>
            </a:r>
            <a:endParaRPr>
              <a:solidFill>
                <a:srgbClr val="000000"/>
              </a:solidFill>
              <a:latin typeface="Calibri"/>
              <a:ea typeface="Calibri"/>
              <a:cs typeface="Calibri"/>
              <a:sym typeface="Calibri"/>
            </a:endParaRPr>
          </a:p>
          <a:p>
            <a:pPr indent="-228600" lvl="0" marL="228600" rtl="0" algn="l">
              <a:lnSpc>
                <a:spcPct val="115000"/>
              </a:lnSpc>
              <a:spcBef>
                <a:spcPts val="1000"/>
              </a:spcBef>
              <a:spcAft>
                <a:spcPts val="1000"/>
              </a:spcAft>
              <a:buClr>
                <a:srgbClr val="000000"/>
              </a:buClr>
              <a:buSzPts val="2000"/>
              <a:buFont typeface="Calibri"/>
              <a:buChar char="•"/>
            </a:pPr>
            <a:r>
              <a:rPr b="1" lang="en-US">
                <a:solidFill>
                  <a:srgbClr val="000000"/>
                </a:solidFill>
                <a:latin typeface="Calibri"/>
                <a:ea typeface="Calibri"/>
                <a:cs typeface="Calibri"/>
                <a:sym typeface="Calibri"/>
              </a:rPr>
              <a:t>Future work should investigate the relationship between YOC and/or Guardians activation and discharge outcomes</a:t>
            </a:r>
            <a:endParaRPr b="1">
              <a:solidFill>
                <a:srgbClr val="000000"/>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g17521ace8ca_0_29"/>
          <p:cNvSpPr txBox="1"/>
          <p:nvPr>
            <p:ph idx="1" type="body"/>
          </p:nvPr>
        </p:nvSpPr>
        <p:spPr>
          <a:xfrm>
            <a:off x="943100" y="326718"/>
            <a:ext cx="10515600" cy="4351200"/>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SzPts val="2000"/>
              <a:buNone/>
            </a:pPr>
            <a:r>
              <a:rPr b="1" lang="en-US" sz="3300">
                <a:solidFill>
                  <a:schemeClr val="accent2"/>
                </a:solidFill>
              </a:rPr>
              <a:t>Shared decision making among youth of color, guardians, and care teams during a psychiatric emergency services visit</a:t>
            </a:r>
            <a:endParaRPr b="1" sz="3300">
              <a:solidFill>
                <a:schemeClr val="accent2"/>
              </a:solidFill>
            </a:endParaRPr>
          </a:p>
          <a:p>
            <a:pPr indent="0" lvl="0" marL="0" rtl="0" algn="ctr">
              <a:lnSpc>
                <a:spcPct val="90000"/>
              </a:lnSpc>
              <a:spcBef>
                <a:spcPts val="0"/>
              </a:spcBef>
              <a:spcAft>
                <a:spcPts val="0"/>
              </a:spcAft>
              <a:buSzPts val="2000"/>
              <a:buNone/>
            </a:pPr>
            <a:r>
              <a:t/>
            </a:r>
            <a:endParaRPr sz="3300">
              <a:solidFill>
                <a:schemeClr val="accent2"/>
              </a:solidFill>
            </a:endParaRPr>
          </a:p>
          <a:p>
            <a:pPr indent="0" lvl="0" marL="0" rtl="0" algn="ctr">
              <a:lnSpc>
                <a:spcPct val="90000"/>
              </a:lnSpc>
              <a:spcBef>
                <a:spcPts val="0"/>
              </a:spcBef>
              <a:spcAft>
                <a:spcPts val="0"/>
              </a:spcAft>
              <a:buSzPts val="2000"/>
              <a:buNone/>
            </a:pPr>
            <a:r>
              <a:rPr lang="en-US" sz="3300">
                <a:solidFill>
                  <a:schemeClr val="dk1"/>
                </a:solidFill>
              </a:rPr>
              <a:t>Sarah Syed</a:t>
            </a:r>
            <a:endParaRPr sz="3300">
              <a:solidFill>
                <a:schemeClr val="dk1"/>
              </a:solidFill>
            </a:endParaRPr>
          </a:p>
          <a:p>
            <a:pPr indent="0" lvl="0" marL="0" rtl="0" algn="ctr">
              <a:lnSpc>
                <a:spcPct val="90000"/>
              </a:lnSpc>
              <a:spcBef>
                <a:spcPts val="0"/>
              </a:spcBef>
              <a:spcAft>
                <a:spcPts val="0"/>
              </a:spcAft>
              <a:buSzPts val="2000"/>
              <a:buNone/>
            </a:pPr>
            <a:r>
              <a:rPr lang="en-US" sz="3300">
                <a:solidFill>
                  <a:schemeClr val="dk1"/>
                </a:solidFill>
              </a:rPr>
              <a:t>Sarah.syed@tufts.edu</a:t>
            </a:r>
            <a:endParaRPr sz="3300">
              <a:solidFill>
                <a:schemeClr val="dk1"/>
              </a:solidFill>
            </a:endParaRPr>
          </a:p>
          <a:p>
            <a:pPr indent="0" lvl="0" marL="0" rtl="0" algn="ctr">
              <a:lnSpc>
                <a:spcPct val="90000"/>
              </a:lnSpc>
              <a:spcBef>
                <a:spcPts val="0"/>
              </a:spcBef>
              <a:spcAft>
                <a:spcPts val="0"/>
              </a:spcAft>
              <a:buSzPts val="2000"/>
              <a:buNone/>
            </a:pPr>
            <a:r>
              <a:t/>
            </a:r>
            <a:endParaRPr sz="3300">
              <a:solidFill>
                <a:schemeClr val="accent2"/>
              </a:solidFill>
            </a:endParaRPr>
          </a:p>
          <a:p>
            <a:pPr indent="0" lvl="0" marL="0" rtl="0" algn="ctr">
              <a:lnSpc>
                <a:spcPct val="90000"/>
              </a:lnSpc>
              <a:spcBef>
                <a:spcPts val="0"/>
              </a:spcBef>
              <a:spcAft>
                <a:spcPts val="0"/>
              </a:spcAft>
              <a:buSzPts val="2000"/>
              <a:buNone/>
            </a:pPr>
            <a:r>
              <a:t/>
            </a:r>
            <a:endParaRPr sz="3300">
              <a:solidFill>
                <a:schemeClr val="accent2"/>
              </a:solidFill>
            </a:endParaRPr>
          </a:p>
          <a:p>
            <a:pPr indent="0" lvl="0" marL="0" rtl="0" algn="ctr">
              <a:lnSpc>
                <a:spcPct val="90000"/>
              </a:lnSpc>
              <a:spcBef>
                <a:spcPts val="0"/>
              </a:spcBef>
              <a:spcAft>
                <a:spcPts val="0"/>
              </a:spcAft>
              <a:buClr>
                <a:schemeClr val="accent1"/>
              </a:buClr>
              <a:buSzPts val="7200"/>
              <a:buFont typeface="Arial Black"/>
              <a:buNone/>
            </a:pPr>
            <a:r>
              <a:rPr lang="en-US" sz="3300">
                <a:solidFill>
                  <a:schemeClr val="accent2"/>
                </a:solidFill>
              </a:rPr>
              <a:t>THANK YOU</a:t>
            </a:r>
            <a:endParaRPr sz="3300">
              <a:solidFill>
                <a:schemeClr val="accent2"/>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g1798596ffde_2_53"/>
          <p:cNvSpPr txBox="1"/>
          <p:nvPr>
            <p:ph type="title"/>
          </p:nvPr>
        </p:nvSpPr>
        <p:spPr>
          <a:xfrm>
            <a:off x="838200" y="261607"/>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4000"/>
              <a:buNone/>
            </a:pPr>
            <a:r>
              <a:rPr lang="en-US"/>
              <a:t>Selected Citations</a:t>
            </a:r>
            <a:endParaRPr/>
          </a:p>
        </p:txBody>
      </p:sp>
      <p:sp>
        <p:nvSpPr>
          <p:cNvPr id="218" name="Google Shape;218;g1798596ffde_2_53"/>
          <p:cNvSpPr txBox="1"/>
          <p:nvPr>
            <p:ph idx="1" type="body"/>
          </p:nvPr>
        </p:nvSpPr>
        <p:spPr>
          <a:xfrm>
            <a:off x="838200" y="1929143"/>
            <a:ext cx="10515600" cy="4351200"/>
          </a:xfrm>
          <a:prstGeom prst="rect">
            <a:avLst/>
          </a:prstGeom>
          <a:noFill/>
          <a:ln>
            <a:noFill/>
          </a:ln>
        </p:spPr>
        <p:txBody>
          <a:bodyPr anchorCtr="0" anchor="t" bIns="45700" lIns="91425" spcFirstLastPara="1" rIns="91425" wrap="square" tIns="45700">
            <a:noAutofit/>
          </a:bodyPr>
          <a:lstStyle/>
          <a:p>
            <a:pPr indent="-304800" lvl="0" marL="457200" rtl="0" algn="l">
              <a:lnSpc>
                <a:spcPct val="100000"/>
              </a:lnSpc>
              <a:spcBef>
                <a:spcPts val="0"/>
              </a:spcBef>
              <a:spcAft>
                <a:spcPts val="0"/>
              </a:spcAft>
              <a:buSzPts val="1200"/>
              <a:buFont typeface="Arial Narrow"/>
              <a:buAutoNum type="arabicPeriod"/>
            </a:pPr>
            <a:r>
              <a:rPr lang="en-US" sz="1200">
                <a:solidFill>
                  <a:srgbClr val="000000"/>
                </a:solidFill>
                <a:latin typeface="Arial Narrow"/>
                <a:ea typeface="Arial Narrow"/>
                <a:cs typeface="Arial Narrow"/>
                <a:sym typeface="Arial Narrow"/>
              </a:rPr>
              <a:t>Brown, H. E., Feinstein, S., &amp; Henderson, D. C. (2020). Working With Patients With Impaired Insight. </a:t>
            </a:r>
            <a:r>
              <a:rPr i="1" lang="en-US" sz="1200">
                <a:solidFill>
                  <a:srgbClr val="000000"/>
                </a:solidFill>
                <a:latin typeface="Arial Narrow"/>
                <a:ea typeface="Arial Narrow"/>
                <a:cs typeface="Arial Narrow"/>
                <a:sym typeface="Arial Narrow"/>
              </a:rPr>
              <a:t>JAMA Psychiatry</a:t>
            </a:r>
            <a:r>
              <a:rPr lang="en-US" sz="1200">
                <a:solidFill>
                  <a:srgbClr val="000000"/>
                </a:solidFill>
                <a:latin typeface="Arial Narrow"/>
                <a:ea typeface="Arial Narrow"/>
                <a:cs typeface="Arial Narrow"/>
                <a:sym typeface="Arial Narrow"/>
              </a:rPr>
              <a:t>, </a:t>
            </a:r>
            <a:r>
              <a:rPr i="1" lang="en-US" sz="1200">
                <a:solidFill>
                  <a:srgbClr val="000000"/>
                </a:solidFill>
                <a:latin typeface="Arial Narrow"/>
                <a:ea typeface="Arial Narrow"/>
                <a:cs typeface="Arial Narrow"/>
                <a:sym typeface="Arial Narrow"/>
              </a:rPr>
              <a:t>77</a:t>
            </a:r>
            <a:r>
              <a:rPr lang="en-US" sz="1200">
                <a:solidFill>
                  <a:srgbClr val="000000"/>
                </a:solidFill>
                <a:latin typeface="Arial Narrow"/>
                <a:ea typeface="Arial Narrow"/>
                <a:cs typeface="Arial Narrow"/>
                <a:sym typeface="Arial Narrow"/>
              </a:rPr>
              <a:t>(7), 766–767. </a:t>
            </a:r>
            <a:r>
              <a:rPr lang="en-US" sz="1200" u="sng">
                <a:solidFill>
                  <a:schemeClr val="hlink"/>
                </a:solidFill>
                <a:latin typeface="Arial Narrow"/>
                <a:ea typeface="Arial Narrow"/>
                <a:cs typeface="Arial Narrow"/>
                <a:sym typeface="Arial Narrow"/>
                <a:hlinkClick r:id="rId3"/>
              </a:rPr>
              <a:t>https://doi.org/10.1001/JAMAPSYCHIATRY.2020.0767</a:t>
            </a:r>
            <a:endParaRPr sz="1200">
              <a:solidFill>
                <a:srgbClr val="000000"/>
              </a:solidFill>
              <a:latin typeface="Arial Narrow"/>
              <a:ea typeface="Arial Narrow"/>
              <a:cs typeface="Arial Narrow"/>
              <a:sym typeface="Arial Narrow"/>
            </a:endParaRPr>
          </a:p>
          <a:p>
            <a:pPr indent="-304800" lvl="0" marL="457200" rtl="0" algn="l">
              <a:lnSpc>
                <a:spcPct val="100000"/>
              </a:lnSpc>
              <a:spcBef>
                <a:spcPts val="0"/>
              </a:spcBef>
              <a:spcAft>
                <a:spcPts val="0"/>
              </a:spcAft>
              <a:buSzPts val="1200"/>
              <a:buFont typeface="Arial Narrow"/>
              <a:buAutoNum type="arabicPeriod"/>
            </a:pPr>
            <a:r>
              <a:rPr lang="en-US" sz="1200">
                <a:solidFill>
                  <a:srgbClr val="333333"/>
                </a:solidFill>
                <a:highlight>
                  <a:srgbClr val="FCFCFC"/>
                </a:highlight>
                <a:latin typeface="Arial Narrow"/>
                <a:ea typeface="Arial Narrow"/>
                <a:cs typeface="Arial Narrow"/>
                <a:sym typeface="Arial Narrow"/>
              </a:rPr>
              <a:t>Hayes, D., Edbrooke-Childs, J., Town, R. </a:t>
            </a:r>
            <a:r>
              <a:rPr i="1" lang="en-US" sz="1200">
                <a:solidFill>
                  <a:srgbClr val="333333"/>
                </a:solidFill>
                <a:highlight>
                  <a:srgbClr val="FCFCFC"/>
                </a:highlight>
                <a:latin typeface="Arial Narrow"/>
                <a:ea typeface="Arial Narrow"/>
                <a:cs typeface="Arial Narrow"/>
                <a:sym typeface="Arial Narrow"/>
              </a:rPr>
              <a:t>et al.</a:t>
            </a:r>
            <a:r>
              <a:rPr lang="en-US" sz="1200">
                <a:solidFill>
                  <a:srgbClr val="333333"/>
                </a:solidFill>
                <a:highlight>
                  <a:srgbClr val="FCFCFC"/>
                </a:highlight>
                <a:latin typeface="Arial Narrow"/>
                <a:ea typeface="Arial Narrow"/>
                <a:cs typeface="Arial Narrow"/>
                <a:sym typeface="Arial Narrow"/>
              </a:rPr>
              <a:t> A systematic review of shared decision making interventions in child and youth mental health: synthesising the use of theory, intervention functions, and behaviour change techniques. </a:t>
            </a:r>
            <a:r>
              <a:rPr i="1" lang="en-US" sz="1200">
                <a:solidFill>
                  <a:srgbClr val="333333"/>
                </a:solidFill>
                <a:highlight>
                  <a:srgbClr val="FCFCFC"/>
                </a:highlight>
                <a:latin typeface="Arial Narrow"/>
                <a:ea typeface="Arial Narrow"/>
                <a:cs typeface="Arial Narrow"/>
                <a:sym typeface="Arial Narrow"/>
              </a:rPr>
              <a:t>Eur Child Adolesc Psychiatry</a:t>
            </a:r>
            <a:r>
              <a:rPr lang="en-US" sz="1200">
                <a:solidFill>
                  <a:srgbClr val="333333"/>
                </a:solidFill>
                <a:highlight>
                  <a:srgbClr val="FCFCFC"/>
                </a:highlight>
                <a:latin typeface="Arial Narrow"/>
                <a:ea typeface="Arial Narrow"/>
                <a:cs typeface="Arial Narrow"/>
                <a:sym typeface="Arial Narrow"/>
              </a:rPr>
              <a:t> (2021). </a:t>
            </a:r>
            <a:r>
              <a:rPr lang="en-US" sz="1200" u="sng">
                <a:solidFill>
                  <a:schemeClr val="hlink"/>
                </a:solidFill>
                <a:highlight>
                  <a:srgbClr val="FCFCFC"/>
                </a:highlight>
                <a:latin typeface="Arial Narrow"/>
                <a:ea typeface="Arial Narrow"/>
                <a:cs typeface="Arial Narrow"/>
                <a:sym typeface="Arial Narrow"/>
                <a:hlinkClick r:id="rId4"/>
              </a:rPr>
              <a:t>https://doi.org/10.1007/s00787-021-01782</a:t>
            </a:r>
            <a:endParaRPr sz="1200">
              <a:solidFill>
                <a:srgbClr val="333333"/>
              </a:solidFill>
              <a:highlight>
                <a:srgbClr val="FCFCFC"/>
              </a:highlight>
              <a:latin typeface="Arial Narrow"/>
              <a:ea typeface="Arial Narrow"/>
              <a:cs typeface="Arial Narrow"/>
              <a:sym typeface="Arial Narrow"/>
            </a:endParaRPr>
          </a:p>
          <a:p>
            <a:pPr indent="-304800" lvl="0" marL="457200" rtl="0" algn="l">
              <a:lnSpc>
                <a:spcPct val="100000"/>
              </a:lnSpc>
              <a:spcBef>
                <a:spcPts val="0"/>
              </a:spcBef>
              <a:spcAft>
                <a:spcPts val="0"/>
              </a:spcAft>
              <a:buClr>
                <a:srgbClr val="000000"/>
              </a:buClr>
              <a:buSzPts val="1200"/>
              <a:buFont typeface="Arial Narrow"/>
              <a:buAutoNum type="arabicPeriod"/>
            </a:pPr>
            <a:r>
              <a:rPr lang="en-US" sz="1200">
                <a:latin typeface="Arial Narrow"/>
                <a:ea typeface="Arial Narrow"/>
                <a:cs typeface="Arial Narrow"/>
                <a:sym typeface="Arial Narrow"/>
              </a:rPr>
              <a:t>Kalb LG, Stapp EK, Ballard ED, Holingue C, Keefer A, Riley A. Trends in psychiatric emergency department visits among youth and young adults in the us. Pediatrics. 2019. doi:10.1542/peds.2018-2192</a:t>
            </a:r>
            <a:endParaRPr sz="1200">
              <a:latin typeface="Arial Narrow"/>
              <a:ea typeface="Arial Narrow"/>
              <a:cs typeface="Arial Narrow"/>
              <a:sym typeface="Arial Narrow"/>
            </a:endParaRPr>
          </a:p>
          <a:p>
            <a:pPr indent="-304800" lvl="0" marL="457200" rtl="0" algn="l">
              <a:lnSpc>
                <a:spcPct val="100000"/>
              </a:lnSpc>
              <a:spcBef>
                <a:spcPts val="0"/>
              </a:spcBef>
              <a:spcAft>
                <a:spcPts val="0"/>
              </a:spcAft>
              <a:buSzPts val="1200"/>
              <a:buFont typeface="Arial Narrow"/>
              <a:buAutoNum type="arabicPeriod"/>
            </a:pPr>
            <a:r>
              <a:rPr lang="en-US" sz="1200">
                <a:solidFill>
                  <a:srgbClr val="000000"/>
                </a:solidFill>
                <a:latin typeface="Arial Narrow"/>
                <a:ea typeface="Arial Narrow"/>
                <a:cs typeface="Arial Narrow"/>
                <a:sym typeface="Arial Narrow"/>
              </a:rPr>
              <a:t>Lo, C. B., Bridge, J. A., Bridge, J. A., Bridge, J. A., Shi, J., Shi, J., Ludwig, L., Stanley, R. M., &amp; Stanley, R. M. (2020). Children’s mental health emergency department visits: 2007-2016. </a:t>
            </a:r>
            <a:r>
              <a:rPr i="1" lang="en-US" sz="1200">
                <a:solidFill>
                  <a:srgbClr val="000000"/>
                </a:solidFill>
                <a:latin typeface="Arial Narrow"/>
                <a:ea typeface="Arial Narrow"/>
                <a:cs typeface="Arial Narrow"/>
                <a:sym typeface="Arial Narrow"/>
              </a:rPr>
              <a:t>Pediatrics</a:t>
            </a:r>
            <a:r>
              <a:rPr lang="en-US" sz="1200">
                <a:solidFill>
                  <a:srgbClr val="000000"/>
                </a:solidFill>
                <a:latin typeface="Arial Narrow"/>
                <a:ea typeface="Arial Narrow"/>
                <a:cs typeface="Arial Narrow"/>
                <a:sym typeface="Arial Narrow"/>
              </a:rPr>
              <a:t>, </a:t>
            </a:r>
            <a:r>
              <a:rPr i="1" lang="en-US" sz="1200">
                <a:solidFill>
                  <a:srgbClr val="000000"/>
                </a:solidFill>
                <a:latin typeface="Arial Narrow"/>
                <a:ea typeface="Arial Narrow"/>
                <a:cs typeface="Arial Narrow"/>
                <a:sym typeface="Arial Narrow"/>
              </a:rPr>
              <a:t>145</a:t>
            </a:r>
            <a:r>
              <a:rPr lang="en-US" sz="1200">
                <a:solidFill>
                  <a:srgbClr val="000000"/>
                </a:solidFill>
                <a:latin typeface="Arial Narrow"/>
                <a:ea typeface="Arial Narrow"/>
                <a:cs typeface="Arial Narrow"/>
                <a:sym typeface="Arial Narrow"/>
              </a:rPr>
              <a:t>(6). </a:t>
            </a:r>
            <a:r>
              <a:rPr lang="en-US" sz="1200" u="sng">
                <a:solidFill>
                  <a:schemeClr val="hlink"/>
                </a:solidFill>
                <a:latin typeface="Arial Narrow"/>
                <a:ea typeface="Arial Narrow"/>
                <a:cs typeface="Arial Narrow"/>
                <a:sym typeface="Arial Narrow"/>
                <a:hlinkClick r:id="rId5"/>
              </a:rPr>
              <a:t>https://doi.org/10.1542/PEDS.2019-1536/76929</a:t>
            </a:r>
            <a:endParaRPr sz="1200">
              <a:solidFill>
                <a:srgbClr val="000000"/>
              </a:solidFill>
              <a:latin typeface="Arial Narrow"/>
              <a:ea typeface="Arial Narrow"/>
              <a:cs typeface="Arial Narrow"/>
              <a:sym typeface="Arial Narrow"/>
            </a:endParaRPr>
          </a:p>
          <a:p>
            <a:pPr indent="-304800" lvl="0" marL="457200" rtl="0" algn="l">
              <a:lnSpc>
                <a:spcPct val="100000"/>
              </a:lnSpc>
              <a:spcBef>
                <a:spcPts val="0"/>
              </a:spcBef>
              <a:spcAft>
                <a:spcPts val="0"/>
              </a:spcAft>
              <a:buClr>
                <a:srgbClr val="000000"/>
              </a:buClr>
              <a:buSzPts val="1200"/>
              <a:buFont typeface="Arial Narrow"/>
              <a:buAutoNum type="arabicPeriod"/>
            </a:pPr>
            <a:r>
              <a:rPr lang="en-US" sz="1200">
                <a:solidFill>
                  <a:srgbClr val="000000"/>
                </a:solidFill>
                <a:latin typeface="Arial Narrow"/>
                <a:ea typeface="Arial Narrow"/>
                <a:cs typeface="Arial Narrow"/>
                <a:sym typeface="Arial Narrow"/>
              </a:rPr>
              <a:t>Marr, M., Horwitz, S. M., Gerson, R., Storfer-Isser, A., &amp; Havens, J. F. (2021). Friendly Faces: Characteristics of Children and Adolescents With Repeat Visits to a Specialized Child Psychiatric Emergency Program. </a:t>
            </a:r>
            <a:r>
              <a:rPr i="1" lang="en-US" sz="1200">
                <a:solidFill>
                  <a:srgbClr val="000000"/>
                </a:solidFill>
                <a:latin typeface="Arial Narrow"/>
                <a:ea typeface="Arial Narrow"/>
                <a:cs typeface="Arial Narrow"/>
                <a:sym typeface="Arial Narrow"/>
              </a:rPr>
              <a:t>Pediatric Emergency Care</a:t>
            </a:r>
            <a:r>
              <a:rPr lang="en-US" sz="1200">
                <a:solidFill>
                  <a:srgbClr val="000000"/>
                </a:solidFill>
                <a:latin typeface="Arial Narrow"/>
                <a:ea typeface="Arial Narrow"/>
                <a:cs typeface="Arial Narrow"/>
                <a:sym typeface="Arial Narrow"/>
              </a:rPr>
              <a:t>, </a:t>
            </a:r>
            <a:r>
              <a:rPr i="1" lang="en-US" sz="1200">
                <a:solidFill>
                  <a:srgbClr val="000000"/>
                </a:solidFill>
                <a:latin typeface="Arial Narrow"/>
                <a:ea typeface="Arial Narrow"/>
                <a:cs typeface="Arial Narrow"/>
                <a:sym typeface="Arial Narrow"/>
              </a:rPr>
              <a:t>37</a:t>
            </a:r>
            <a:r>
              <a:rPr lang="en-US" sz="1200">
                <a:solidFill>
                  <a:srgbClr val="000000"/>
                </a:solidFill>
                <a:latin typeface="Arial Narrow"/>
                <a:ea typeface="Arial Narrow"/>
                <a:cs typeface="Arial Narrow"/>
                <a:sym typeface="Arial Narrow"/>
              </a:rPr>
              <a:t>(1). </a:t>
            </a:r>
            <a:r>
              <a:rPr lang="en-US" sz="1200" u="sng">
                <a:solidFill>
                  <a:schemeClr val="hlink"/>
                </a:solidFill>
                <a:latin typeface="Arial Narrow"/>
                <a:ea typeface="Arial Narrow"/>
                <a:cs typeface="Arial Narrow"/>
                <a:sym typeface="Arial Narrow"/>
                <a:hlinkClick r:id="rId6"/>
              </a:rPr>
              <a:t>https://doi.org/10.1097/PEC.0000000000001428</a:t>
            </a:r>
            <a:endParaRPr sz="1200">
              <a:solidFill>
                <a:srgbClr val="000000"/>
              </a:solidFill>
              <a:latin typeface="Arial Narrow"/>
              <a:ea typeface="Arial Narrow"/>
              <a:cs typeface="Arial Narrow"/>
              <a:sym typeface="Arial Narrow"/>
            </a:endParaRPr>
          </a:p>
          <a:p>
            <a:pPr indent="-304800" lvl="0" marL="457200" rtl="0" algn="l">
              <a:lnSpc>
                <a:spcPct val="100000"/>
              </a:lnSpc>
              <a:spcBef>
                <a:spcPts val="0"/>
              </a:spcBef>
              <a:spcAft>
                <a:spcPts val="0"/>
              </a:spcAft>
              <a:buClr>
                <a:srgbClr val="000000"/>
              </a:buClr>
              <a:buSzPts val="1200"/>
              <a:buFont typeface="Arial Narrow"/>
              <a:buAutoNum type="arabicPeriod"/>
            </a:pPr>
            <a:r>
              <a:rPr lang="en-US" sz="1200">
                <a:solidFill>
                  <a:srgbClr val="000000"/>
                </a:solidFill>
                <a:latin typeface="Arial Narrow"/>
                <a:ea typeface="Arial Narrow"/>
                <a:cs typeface="Arial Narrow"/>
                <a:sym typeface="Arial Narrow"/>
              </a:rPr>
              <a:t>Lynch, S., Pines, J., Mutter, R., Teich, J. L., &amp; Hendry, P. (2019). Characterizing behavioral health-related emergency department utilization among children with Medicaid: Comparing high and low frequency utilizers. </a:t>
            </a:r>
            <a:r>
              <a:rPr i="1" lang="en-US" sz="1200">
                <a:solidFill>
                  <a:srgbClr val="000000"/>
                </a:solidFill>
                <a:latin typeface="Arial Narrow"/>
                <a:ea typeface="Arial Narrow"/>
                <a:cs typeface="Arial Narrow"/>
                <a:sym typeface="Arial Narrow"/>
              </a:rPr>
              <a:t>Https://Doi.Org/10.1080/00981389.2019.1653418</a:t>
            </a:r>
            <a:r>
              <a:rPr lang="en-US" sz="1200">
                <a:solidFill>
                  <a:srgbClr val="000000"/>
                </a:solidFill>
                <a:latin typeface="Arial Narrow"/>
                <a:ea typeface="Arial Narrow"/>
                <a:cs typeface="Arial Narrow"/>
                <a:sym typeface="Arial Narrow"/>
              </a:rPr>
              <a:t>, </a:t>
            </a:r>
            <a:r>
              <a:rPr i="1" lang="en-US" sz="1200">
                <a:solidFill>
                  <a:srgbClr val="000000"/>
                </a:solidFill>
                <a:latin typeface="Arial Narrow"/>
                <a:ea typeface="Arial Narrow"/>
                <a:cs typeface="Arial Narrow"/>
                <a:sym typeface="Arial Narrow"/>
              </a:rPr>
              <a:t>58</a:t>
            </a:r>
            <a:r>
              <a:rPr lang="en-US" sz="1200">
                <a:solidFill>
                  <a:srgbClr val="000000"/>
                </a:solidFill>
                <a:latin typeface="Arial Narrow"/>
                <a:ea typeface="Arial Narrow"/>
                <a:cs typeface="Arial Narrow"/>
                <a:sym typeface="Arial Narrow"/>
              </a:rPr>
              <a:t>(8), 807–824. </a:t>
            </a:r>
            <a:r>
              <a:rPr lang="en-US" sz="1200" u="sng">
                <a:solidFill>
                  <a:schemeClr val="hlink"/>
                </a:solidFill>
                <a:latin typeface="Arial Narrow"/>
                <a:ea typeface="Arial Narrow"/>
                <a:cs typeface="Arial Narrow"/>
                <a:sym typeface="Arial Narrow"/>
                <a:hlinkClick r:id="rId7"/>
              </a:rPr>
              <a:t>https://doi.org/10.1080/00981389.2019.1653418</a:t>
            </a:r>
            <a:endParaRPr sz="1200">
              <a:solidFill>
                <a:srgbClr val="000000"/>
              </a:solidFill>
              <a:latin typeface="Arial Narrow"/>
              <a:ea typeface="Arial Narrow"/>
              <a:cs typeface="Arial Narrow"/>
              <a:sym typeface="Arial Narrow"/>
            </a:endParaRPr>
          </a:p>
          <a:p>
            <a:pPr indent="-304800" lvl="0" marL="457200" rtl="0" algn="l">
              <a:lnSpc>
                <a:spcPct val="100000"/>
              </a:lnSpc>
              <a:spcBef>
                <a:spcPts val="0"/>
              </a:spcBef>
              <a:spcAft>
                <a:spcPts val="0"/>
              </a:spcAft>
              <a:buClr>
                <a:srgbClr val="000000"/>
              </a:buClr>
              <a:buSzPts val="1200"/>
              <a:buFont typeface="Arial Narrow"/>
              <a:buAutoNum type="arabicPeriod"/>
            </a:pPr>
            <a:r>
              <a:rPr lang="en-US" sz="1200">
                <a:latin typeface="Arial Narrow"/>
                <a:ea typeface="Arial Narrow"/>
                <a:cs typeface="Arial Narrow"/>
                <a:sym typeface="Arial Narrow"/>
              </a:rPr>
              <a:t>Valentine KD, Vo H, Fowler FJ, Brodney S, Barry MJ, Sepucha KR. Development and Evaluation of the Shared Decision Making Process Scale: A Short Patient-Reported Measure. Medical Decision Making. 2021;41(2):108-119. doi:10.1177/0272989X20977878</a:t>
            </a:r>
            <a:r>
              <a:rPr lang="en-US" sz="1200">
                <a:solidFill>
                  <a:srgbClr val="000000"/>
                </a:solidFill>
                <a:latin typeface="Arial Narrow"/>
                <a:ea typeface="Arial Narrow"/>
                <a:cs typeface="Arial Narrow"/>
                <a:sym typeface="Arial Narrow"/>
              </a:rPr>
              <a:t>Alegria, M., Nakash, O., Johnson, K., Ault-Brutus, A., Carson, N., Fillbrunn, M., Wang, Y., Cheng, A., Harris, T., Polo, A., Lincoln, A., Freeman, E., Bostdorf, B., Rosenbaum, M., Epelbaum, C., LaRoche, M., Okpokwasili-Johnson, E., Carrasco, M. J., &amp; Shrout, P. E. (2018). Effectiveness of the DECIDE interventions on shared decision making and perceived quality of care in behavioral health with multicultural patients a randomized clinical trial. </a:t>
            </a:r>
            <a:r>
              <a:rPr i="1" lang="en-US" sz="1200">
                <a:solidFill>
                  <a:srgbClr val="000000"/>
                </a:solidFill>
                <a:latin typeface="Arial Narrow"/>
                <a:ea typeface="Arial Narrow"/>
                <a:cs typeface="Arial Narrow"/>
                <a:sym typeface="Arial Narrow"/>
              </a:rPr>
              <a:t>JAMA Psychiatry</a:t>
            </a:r>
            <a:r>
              <a:rPr lang="en-US" sz="1200">
                <a:solidFill>
                  <a:srgbClr val="000000"/>
                </a:solidFill>
                <a:latin typeface="Arial Narrow"/>
                <a:ea typeface="Arial Narrow"/>
                <a:cs typeface="Arial Narrow"/>
                <a:sym typeface="Arial Narrow"/>
              </a:rPr>
              <a:t>, </a:t>
            </a:r>
            <a:r>
              <a:rPr i="1" lang="en-US" sz="1200">
                <a:solidFill>
                  <a:srgbClr val="000000"/>
                </a:solidFill>
                <a:latin typeface="Arial Narrow"/>
                <a:ea typeface="Arial Narrow"/>
                <a:cs typeface="Arial Narrow"/>
                <a:sym typeface="Arial Narrow"/>
              </a:rPr>
              <a:t>75</a:t>
            </a:r>
            <a:r>
              <a:rPr lang="en-US" sz="1200">
                <a:solidFill>
                  <a:srgbClr val="000000"/>
                </a:solidFill>
                <a:latin typeface="Arial Narrow"/>
                <a:ea typeface="Arial Narrow"/>
                <a:cs typeface="Arial Narrow"/>
                <a:sym typeface="Arial Narrow"/>
              </a:rPr>
              <a:t>(4). https://doi.org/10.1001/jamapsychiatry.2017.4585</a:t>
            </a:r>
            <a:endParaRPr sz="1200">
              <a:solidFill>
                <a:srgbClr val="000000"/>
              </a:solidFill>
              <a:latin typeface="Arial Narrow"/>
              <a:ea typeface="Arial Narrow"/>
              <a:cs typeface="Arial Narrow"/>
              <a:sym typeface="Arial Narrow"/>
            </a:endParaRPr>
          </a:p>
          <a:p>
            <a:pPr indent="-304800" lvl="0" marL="457200" rtl="0" algn="l">
              <a:lnSpc>
                <a:spcPct val="100000"/>
              </a:lnSpc>
              <a:spcBef>
                <a:spcPts val="0"/>
              </a:spcBef>
              <a:spcAft>
                <a:spcPts val="0"/>
              </a:spcAft>
              <a:buSzPts val="1200"/>
              <a:buFont typeface="Arial Narrow"/>
              <a:buAutoNum type="arabicPeriod"/>
            </a:pPr>
            <a:r>
              <a:rPr lang="en-US" sz="1200">
                <a:solidFill>
                  <a:srgbClr val="000000"/>
                </a:solidFill>
                <a:latin typeface="Arial Narrow"/>
                <a:ea typeface="Arial Narrow"/>
                <a:cs typeface="Arial Narrow"/>
                <a:sym typeface="Arial Narrow"/>
              </a:rPr>
              <a:t>Boland, L., Graham, I. D., Légaré, F., Lewis, K., Jull, J., Shephard, A., Lawson, M. L., Davis, A., Yameogo, A., &amp; Stacey, D. (2019). Barriers and facilitators of pediatric shared decision-making: a systematic review. </a:t>
            </a:r>
            <a:r>
              <a:rPr i="1" lang="en-US" sz="1200">
                <a:solidFill>
                  <a:srgbClr val="000000"/>
                </a:solidFill>
                <a:latin typeface="Arial Narrow"/>
                <a:ea typeface="Arial Narrow"/>
                <a:cs typeface="Arial Narrow"/>
                <a:sym typeface="Arial Narrow"/>
              </a:rPr>
              <a:t>Implementation Science : IS</a:t>
            </a:r>
            <a:r>
              <a:rPr lang="en-US" sz="1200">
                <a:solidFill>
                  <a:srgbClr val="000000"/>
                </a:solidFill>
                <a:latin typeface="Arial Narrow"/>
                <a:ea typeface="Arial Narrow"/>
                <a:cs typeface="Arial Narrow"/>
                <a:sym typeface="Arial Narrow"/>
              </a:rPr>
              <a:t>, </a:t>
            </a:r>
            <a:r>
              <a:rPr i="1" lang="en-US" sz="1200">
                <a:solidFill>
                  <a:srgbClr val="000000"/>
                </a:solidFill>
                <a:latin typeface="Arial Narrow"/>
                <a:ea typeface="Arial Narrow"/>
                <a:cs typeface="Arial Narrow"/>
                <a:sym typeface="Arial Narrow"/>
              </a:rPr>
              <a:t>14</a:t>
            </a:r>
            <a:r>
              <a:rPr lang="en-US" sz="1200">
                <a:solidFill>
                  <a:srgbClr val="000000"/>
                </a:solidFill>
                <a:latin typeface="Arial Narrow"/>
                <a:ea typeface="Arial Narrow"/>
                <a:cs typeface="Arial Narrow"/>
                <a:sym typeface="Arial Narrow"/>
              </a:rPr>
              <a:t>(1). </a:t>
            </a:r>
            <a:r>
              <a:rPr lang="en-US" sz="1200" u="sng">
                <a:solidFill>
                  <a:schemeClr val="hlink"/>
                </a:solidFill>
                <a:latin typeface="Arial Narrow"/>
                <a:ea typeface="Arial Narrow"/>
                <a:cs typeface="Arial Narrow"/>
                <a:sym typeface="Arial Narrow"/>
                <a:hlinkClick r:id="rId8"/>
              </a:rPr>
              <a:t>https://doi.org/10.1186/S13012-018-0851-5</a:t>
            </a:r>
            <a:endParaRPr sz="1200">
              <a:latin typeface="Arial Narrow"/>
              <a:ea typeface="Arial Narrow"/>
              <a:cs typeface="Arial Narrow"/>
              <a:sym typeface="Arial Narrow"/>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g17521ace8ca_0_8"/>
          <p:cNvSpPr txBox="1"/>
          <p:nvPr>
            <p:ph type="title"/>
          </p:nvPr>
        </p:nvSpPr>
        <p:spPr>
          <a:xfrm>
            <a:off x="831850" y="1709738"/>
            <a:ext cx="10515600" cy="28527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SzPts val="6000"/>
              <a:buNone/>
            </a:pPr>
            <a:r>
              <a:rPr lang="en-US"/>
              <a:t>Appendix Slides</a:t>
            </a:r>
            <a:endParaRPr/>
          </a:p>
          <a:p>
            <a:pPr indent="0" lvl="0" marL="0" rtl="0" algn="l">
              <a:lnSpc>
                <a:spcPct val="90000"/>
              </a:lnSpc>
              <a:spcBef>
                <a:spcPts val="0"/>
              </a:spcBef>
              <a:spcAft>
                <a:spcPts val="0"/>
              </a:spcAft>
              <a:buSzPts val="6000"/>
              <a:buNone/>
            </a:pPr>
            <a:r>
              <a:t/>
            </a:r>
            <a:endParaRPr/>
          </a:p>
        </p:txBody>
      </p:sp>
      <p:sp>
        <p:nvSpPr>
          <p:cNvPr id="225" name="Google Shape;225;g17521ace8ca_0_8"/>
          <p:cNvSpPr txBox="1"/>
          <p:nvPr>
            <p:ph idx="1" type="body"/>
          </p:nvPr>
        </p:nvSpPr>
        <p:spPr>
          <a:xfrm>
            <a:off x="831850" y="4589463"/>
            <a:ext cx="10515600" cy="1500300"/>
          </a:xfrm>
          <a:prstGeom prst="rect">
            <a:avLst/>
          </a:prstGeom>
          <a:noFill/>
          <a:ln>
            <a:noFill/>
          </a:ln>
        </p:spPr>
        <p:txBody>
          <a:bodyPr anchorCtr="0" anchor="t" bIns="45700" lIns="91425" spcFirstLastPara="1" rIns="91425" wrap="square" tIns="45700">
            <a:normAutofit/>
          </a:bodyPr>
          <a:lstStyle/>
          <a:p>
            <a:pPr indent="0" lvl="0" marL="0" rtl="0" algn="l">
              <a:lnSpc>
                <a:spcPct val="150000"/>
              </a:lnSpc>
              <a:spcBef>
                <a:spcPts val="1000"/>
              </a:spcBef>
              <a:spcAft>
                <a:spcPts val="0"/>
              </a:spcAft>
              <a:buSzPts val="2400"/>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g170b75b49ff_0_25"/>
          <p:cNvSpPr txBox="1"/>
          <p:nvPr>
            <p:ph type="title"/>
          </p:nvPr>
        </p:nvSpPr>
        <p:spPr>
          <a:xfrm>
            <a:off x="838200" y="261607"/>
            <a:ext cx="10515600" cy="13257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4000"/>
              <a:buNone/>
            </a:pPr>
            <a:r>
              <a:rPr lang="en-US" sz="3000">
                <a:highlight>
                  <a:schemeClr val="lt1"/>
                </a:highlight>
              </a:rPr>
              <a:t>A key component of the PES visit is discharge and/or navigation into appropriate and timely care</a:t>
            </a:r>
            <a:endParaRPr sz="3000"/>
          </a:p>
        </p:txBody>
      </p:sp>
      <p:sp>
        <p:nvSpPr>
          <p:cNvPr id="232" name="Google Shape;232;g170b75b49ff_0_25"/>
          <p:cNvSpPr txBox="1"/>
          <p:nvPr>
            <p:ph idx="1" type="body"/>
          </p:nvPr>
        </p:nvSpPr>
        <p:spPr>
          <a:xfrm>
            <a:off x="838200" y="1929143"/>
            <a:ext cx="10515600" cy="43512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SzPts val="2000"/>
              <a:buNone/>
            </a:pPr>
            <a:r>
              <a:rPr lang="en-US">
                <a:solidFill>
                  <a:schemeClr val="dk1"/>
                </a:solidFill>
                <a:highlight>
                  <a:schemeClr val="lt1"/>
                </a:highlight>
                <a:latin typeface="Calibri"/>
                <a:ea typeface="Calibri"/>
                <a:cs typeface="Calibri"/>
                <a:sym typeface="Calibri"/>
              </a:rPr>
              <a:t>A key component of the PES visit is discharge and/or navigation into appropriate and timely care</a:t>
            </a:r>
            <a:endParaRPr>
              <a:solidFill>
                <a:srgbClr val="000000"/>
              </a:solidFill>
              <a:latin typeface="Calibri"/>
              <a:ea typeface="Calibri"/>
              <a:cs typeface="Calibri"/>
              <a:sym typeface="Calibri"/>
            </a:endParaRPr>
          </a:p>
          <a:p>
            <a:pPr indent="-355600" lvl="0" marL="457200" rtl="0" algn="l">
              <a:lnSpc>
                <a:spcPct val="150000"/>
              </a:lnSpc>
              <a:spcBef>
                <a:spcPts val="0"/>
              </a:spcBef>
              <a:spcAft>
                <a:spcPts val="0"/>
              </a:spcAft>
              <a:buClr>
                <a:srgbClr val="000000"/>
              </a:buClr>
              <a:buSzPts val="2000"/>
              <a:buFont typeface="Calibri"/>
              <a:buChar char="•"/>
            </a:pPr>
            <a:r>
              <a:rPr lang="en-US">
                <a:solidFill>
                  <a:srgbClr val="000000"/>
                </a:solidFill>
                <a:latin typeface="Calibri"/>
                <a:ea typeface="Calibri"/>
                <a:cs typeface="Calibri"/>
                <a:sym typeface="Calibri"/>
              </a:rPr>
              <a:t>BUT: </a:t>
            </a:r>
            <a:endParaRPr>
              <a:solidFill>
                <a:srgbClr val="000000"/>
              </a:solidFill>
              <a:latin typeface="Calibri"/>
              <a:ea typeface="Calibri"/>
              <a:cs typeface="Calibri"/>
              <a:sym typeface="Calibri"/>
            </a:endParaRPr>
          </a:p>
          <a:p>
            <a:pPr indent="-355600" lvl="1" marL="914400" rtl="0" algn="l">
              <a:lnSpc>
                <a:spcPct val="150000"/>
              </a:lnSpc>
              <a:spcBef>
                <a:spcPts val="0"/>
              </a:spcBef>
              <a:spcAft>
                <a:spcPts val="0"/>
              </a:spcAft>
              <a:buClr>
                <a:srgbClr val="000000"/>
              </a:buClr>
              <a:buSzPts val="2000"/>
              <a:buFont typeface="Calibri"/>
              <a:buChar char="•"/>
            </a:pPr>
            <a:r>
              <a:rPr lang="en-US">
                <a:solidFill>
                  <a:srgbClr val="000000"/>
                </a:solidFill>
                <a:latin typeface="Calibri"/>
                <a:ea typeface="Calibri"/>
                <a:cs typeface="Calibri"/>
                <a:sym typeface="Calibri"/>
              </a:rPr>
              <a:t>Cultural, power, and knowledge differences affect a patient’s ability to assert their needs and a provider's ability to communicate clinical judgements (Dixon-Woods 2006; Alegria, 2012) </a:t>
            </a:r>
            <a:endParaRPr>
              <a:solidFill>
                <a:srgbClr val="000000"/>
              </a:solidFill>
              <a:latin typeface="Calibri"/>
              <a:ea typeface="Calibri"/>
              <a:cs typeface="Calibri"/>
              <a:sym typeface="Calibri"/>
            </a:endParaRPr>
          </a:p>
          <a:p>
            <a:pPr indent="-355600" lvl="1" marL="914400" rtl="0" algn="l">
              <a:lnSpc>
                <a:spcPct val="150000"/>
              </a:lnSpc>
              <a:spcBef>
                <a:spcPts val="0"/>
              </a:spcBef>
              <a:spcAft>
                <a:spcPts val="0"/>
              </a:spcAft>
              <a:buClr>
                <a:srgbClr val="000000"/>
              </a:buClr>
              <a:buSzPts val="2000"/>
              <a:buFont typeface="Calibri"/>
              <a:buChar char="•"/>
            </a:pPr>
            <a:r>
              <a:rPr lang="en-US">
                <a:solidFill>
                  <a:srgbClr val="000000"/>
                </a:solidFill>
                <a:latin typeface="Calibri"/>
                <a:ea typeface="Calibri"/>
                <a:cs typeface="Calibri"/>
                <a:sym typeface="Calibri"/>
              </a:rPr>
              <a:t>Growing research on decision making in ED settings suggests</a:t>
            </a:r>
            <a:endParaRPr>
              <a:solidFill>
                <a:srgbClr val="000000"/>
              </a:solidFill>
              <a:latin typeface="Calibri"/>
              <a:ea typeface="Calibri"/>
              <a:cs typeface="Calibri"/>
              <a:sym typeface="Calibri"/>
            </a:endParaRPr>
          </a:p>
          <a:p>
            <a:pPr indent="-355600" lvl="2" marL="1371600" rtl="0" algn="l">
              <a:lnSpc>
                <a:spcPct val="150000"/>
              </a:lnSpc>
              <a:spcBef>
                <a:spcPts val="0"/>
              </a:spcBef>
              <a:spcAft>
                <a:spcPts val="0"/>
              </a:spcAft>
              <a:buClr>
                <a:srgbClr val="000000"/>
              </a:buClr>
              <a:buSzPts val="2000"/>
              <a:buFont typeface="Calibri"/>
              <a:buChar char="•"/>
            </a:pPr>
            <a:r>
              <a:rPr lang="en-US">
                <a:solidFill>
                  <a:srgbClr val="000000"/>
                </a:solidFill>
                <a:latin typeface="Calibri"/>
                <a:ea typeface="Calibri"/>
                <a:cs typeface="Calibri"/>
                <a:sym typeface="Calibri"/>
              </a:rPr>
              <a:t>Patients are more likely to be satisfied with care when involved in decision</a:t>
            </a:r>
            <a:endParaRPr>
              <a:solidFill>
                <a:srgbClr val="000000"/>
              </a:solidFill>
              <a:latin typeface="Calibri"/>
              <a:ea typeface="Calibri"/>
              <a:cs typeface="Calibri"/>
              <a:sym typeface="Calibri"/>
            </a:endParaRPr>
          </a:p>
          <a:p>
            <a:pPr indent="-355600" lvl="2" marL="1371600" rtl="0" algn="l">
              <a:lnSpc>
                <a:spcPct val="150000"/>
              </a:lnSpc>
              <a:spcBef>
                <a:spcPts val="0"/>
              </a:spcBef>
              <a:spcAft>
                <a:spcPts val="0"/>
              </a:spcAft>
              <a:buClr>
                <a:srgbClr val="000000"/>
              </a:buClr>
              <a:buSzPts val="2000"/>
              <a:buFont typeface="Calibri"/>
              <a:buChar char="•"/>
            </a:pPr>
            <a:r>
              <a:rPr lang="en-US">
                <a:solidFill>
                  <a:srgbClr val="000000"/>
                </a:solidFill>
                <a:latin typeface="Calibri"/>
                <a:ea typeface="Calibri"/>
                <a:cs typeface="Calibri"/>
                <a:sym typeface="Calibri"/>
              </a:rPr>
              <a:t>Clinicians hesitant to involve patients in ED decision making</a:t>
            </a:r>
            <a:endParaRPr>
              <a:solidFill>
                <a:srgbClr val="000000"/>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g170b75b49ff_0_36"/>
          <p:cNvSpPr txBox="1"/>
          <p:nvPr>
            <p:ph type="title"/>
          </p:nvPr>
        </p:nvSpPr>
        <p:spPr>
          <a:xfrm>
            <a:off x="838200" y="261607"/>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accent2"/>
              </a:buClr>
              <a:buSzPts val="4000"/>
              <a:buFont typeface="Arial Black"/>
              <a:buNone/>
            </a:pPr>
            <a:r>
              <a:rPr lang="en-US"/>
              <a:t>Framing the relationship between Negotiations and Access</a:t>
            </a:r>
            <a:endParaRPr/>
          </a:p>
        </p:txBody>
      </p:sp>
      <p:pic>
        <p:nvPicPr>
          <p:cNvPr id="238" name="Google Shape;238;g170b75b49ff_0_36"/>
          <p:cNvPicPr preferRelativeResize="0"/>
          <p:nvPr/>
        </p:nvPicPr>
        <p:blipFill rotWithShape="1">
          <a:blip r:embed="rId3">
            <a:alphaModFix/>
          </a:blip>
          <a:srcRect b="0" l="0" r="0" t="0"/>
          <a:stretch/>
        </p:blipFill>
        <p:spPr>
          <a:xfrm>
            <a:off x="1095800" y="1917313"/>
            <a:ext cx="2002536" cy="3657600"/>
          </a:xfrm>
          <a:prstGeom prst="rect">
            <a:avLst/>
          </a:prstGeom>
          <a:noFill/>
          <a:ln>
            <a:noFill/>
          </a:ln>
        </p:spPr>
      </p:pic>
      <p:sp>
        <p:nvSpPr>
          <p:cNvPr id="239" name="Google Shape;239;g170b75b49ff_0_36"/>
          <p:cNvSpPr txBox="1"/>
          <p:nvPr/>
        </p:nvSpPr>
        <p:spPr>
          <a:xfrm>
            <a:off x="600850" y="5574925"/>
            <a:ext cx="26934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Narrow"/>
                <a:ea typeface="Arial Narrow"/>
                <a:cs typeface="Arial Narrow"/>
                <a:sym typeface="Arial Narrow"/>
              </a:rPr>
              <a:t>Source: Herrera, 2022. Variant on Candidacy Model (Dixon-Woods, et al, 2006) designed for US Healthcare System. </a:t>
            </a:r>
            <a:endParaRPr b="0" i="0" sz="1000" u="none" cap="none" strike="noStrike">
              <a:solidFill>
                <a:srgbClr val="000000"/>
              </a:solidFill>
              <a:latin typeface="Arial Narrow"/>
              <a:ea typeface="Arial Narrow"/>
              <a:cs typeface="Arial Narrow"/>
              <a:sym typeface="Arial Narrow"/>
            </a:endParaRPr>
          </a:p>
        </p:txBody>
      </p:sp>
      <p:sp>
        <p:nvSpPr>
          <p:cNvPr id="240" name="Google Shape;240;g170b75b49ff_0_36"/>
          <p:cNvSpPr txBox="1"/>
          <p:nvPr/>
        </p:nvSpPr>
        <p:spPr>
          <a:xfrm>
            <a:off x="4081650" y="1889225"/>
            <a:ext cx="7951800" cy="4186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Calibri"/>
                <a:ea typeface="Calibri"/>
                <a:cs typeface="Calibri"/>
                <a:sym typeface="Calibri"/>
              </a:rPr>
              <a:t>The </a:t>
            </a:r>
            <a:r>
              <a:rPr b="1" i="0" lang="en-US" sz="2000" u="none" cap="none" strike="noStrike">
                <a:solidFill>
                  <a:srgbClr val="000000"/>
                </a:solidFill>
                <a:latin typeface="Calibri"/>
                <a:ea typeface="Calibri"/>
                <a:cs typeface="Calibri"/>
                <a:sym typeface="Calibri"/>
              </a:rPr>
              <a:t>Candidacy Model is a theory of access</a:t>
            </a:r>
            <a:r>
              <a:rPr b="0" i="0" lang="en-US" sz="2000" u="none" cap="none" strike="noStrike">
                <a:solidFill>
                  <a:srgbClr val="000000"/>
                </a:solidFill>
                <a:latin typeface="Calibri"/>
                <a:ea typeface="Calibri"/>
                <a:cs typeface="Calibri"/>
                <a:sym typeface="Calibri"/>
              </a:rPr>
              <a:t>  (Dixon-Woods et al., 2006)</a:t>
            </a:r>
            <a:endParaRPr b="0" i="0" sz="2000" u="none" cap="none" strike="noStrike">
              <a:solidFill>
                <a:srgbClr val="000000"/>
              </a:solidFill>
              <a:latin typeface="Calibri"/>
              <a:ea typeface="Calibri"/>
              <a:cs typeface="Calibri"/>
              <a:sym typeface="Calibri"/>
            </a:endParaRPr>
          </a:p>
          <a:p>
            <a:pPr indent="-355600" lvl="0" marL="457200" marR="0" rtl="0" algn="l">
              <a:lnSpc>
                <a:spcPct val="100000"/>
              </a:lnSpc>
              <a:spcBef>
                <a:spcPts val="0"/>
              </a:spcBef>
              <a:spcAft>
                <a:spcPts val="0"/>
              </a:spcAft>
              <a:buClr>
                <a:srgbClr val="000000"/>
              </a:buClr>
              <a:buSzPts val="2000"/>
              <a:buFont typeface="Calibri"/>
              <a:buChar char="●"/>
            </a:pPr>
            <a:r>
              <a:rPr b="0" i="0" lang="en-US" sz="2000" u="none" cap="none" strike="noStrike">
                <a:solidFill>
                  <a:srgbClr val="000000"/>
                </a:solidFill>
                <a:latin typeface="Calibri"/>
                <a:ea typeface="Calibri"/>
                <a:cs typeface="Calibri"/>
                <a:sym typeface="Calibri"/>
              </a:rPr>
              <a:t>Care seeking is a </a:t>
            </a:r>
            <a:r>
              <a:rPr b="1" i="0" lang="en-US" sz="2000" u="none" cap="none" strike="noStrike">
                <a:solidFill>
                  <a:srgbClr val="000000"/>
                </a:solidFill>
                <a:latin typeface="Calibri"/>
                <a:ea typeface="Calibri"/>
                <a:cs typeface="Calibri"/>
                <a:sym typeface="Calibri"/>
              </a:rPr>
              <a:t>series of negotiations</a:t>
            </a:r>
            <a:endParaRPr b="1" i="0" sz="2000" u="none" cap="none" strike="noStrike">
              <a:solidFill>
                <a:srgbClr val="000000"/>
              </a:solidFill>
              <a:latin typeface="Calibri"/>
              <a:ea typeface="Calibri"/>
              <a:cs typeface="Calibri"/>
              <a:sym typeface="Calibri"/>
            </a:endParaRPr>
          </a:p>
          <a:p>
            <a:pPr indent="-355600" lvl="0" marL="457200" marR="0" rtl="0" algn="l">
              <a:lnSpc>
                <a:spcPct val="100000"/>
              </a:lnSpc>
              <a:spcBef>
                <a:spcPts val="0"/>
              </a:spcBef>
              <a:spcAft>
                <a:spcPts val="0"/>
              </a:spcAft>
              <a:buClr>
                <a:srgbClr val="000000"/>
              </a:buClr>
              <a:buSzPts val="2000"/>
              <a:buFont typeface="Calibri"/>
              <a:buChar char="●"/>
            </a:pPr>
            <a:r>
              <a:rPr b="0" i="0" lang="en-US" sz="2000" u="none" cap="none" strike="noStrike">
                <a:solidFill>
                  <a:srgbClr val="000000"/>
                </a:solidFill>
                <a:latin typeface="Calibri"/>
                <a:ea typeface="Calibri"/>
                <a:cs typeface="Calibri"/>
                <a:sym typeface="Calibri"/>
              </a:rPr>
              <a:t>Patients and care systems learn to work with each other (or not to work with each other). </a:t>
            </a:r>
            <a:endParaRPr b="0" i="0" sz="2000" u="none" cap="none" strike="noStrike">
              <a:solidFill>
                <a:srgbClr val="000000"/>
              </a:solidFill>
              <a:latin typeface="Calibri"/>
              <a:ea typeface="Calibri"/>
              <a:cs typeface="Calibri"/>
              <a:sym typeface="Calibri"/>
            </a:endParaRPr>
          </a:p>
          <a:p>
            <a:pPr indent="-355600" lvl="0" marL="457200" marR="0" rtl="0" algn="l">
              <a:lnSpc>
                <a:spcPct val="100000"/>
              </a:lnSpc>
              <a:spcBef>
                <a:spcPts val="0"/>
              </a:spcBef>
              <a:spcAft>
                <a:spcPts val="0"/>
              </a:spcAft>
              <a:buClr>
                <a:srgbClr val="000000"/>
              </a:buClr>
              <a:buSzPts val="2000"/>
              <a:buFont typeface="Calibri"/>
              <a:buChar char="●"/>
            </a:pPr>
            <a:r>
              <a:rPr b="0" i="0" lang="en-US" sz="2000" u="none" cap="none" strike="noStrike">
                <a:solidFill>
                  <a:srgbClr val="000000"/>
                </a:solidFill>
                <a:latin typeface="Calibri"/>
                <a:ea typeface="Calibri"/>
                <a:cs typeface="Calibri"/>
                <a:sym typeface="Calibri"/>
              </a:rPr>
              <a:t>Negotiation failures can frustrate patients, lead to delays in care, restart in care seeking, stopping care seeking until a crisis occurs</a:t>
            </a:r>
            <a:endParaRPr b="0" i="0" sz="2000" u="none" cap="none" strike="noStrike">
              <a:solidFill>
                <a:srgbClr val="000000"/>
              </a:solidFill>
              <a:latin typeface="Calibri"/>
              <a:ea typeface="Calibri"/>
              <a:cs typeface="Calibri"/>
              <a:sym typeface="Calibri"/>
            </a:endParaRPr>
          </a:p>
          <a:p>
            <a:pPr indent="45720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Calibri"/>
                <a:ea typeface="Calibri"/>
                <a:cs typeface="Calibri"/>
                <a:sym typeface="Calibri"/>
              </a:rPr>
              <a:t>Helped guide our questions about</a:t>
            </a:r>
            <a:endParaRPr b="0" i="0" sz="2000" u="none" cap="none" strike="noStrike">
              <a:solidFill>
                <a:srgbClr val="000000"/>
              </a:solidFill>
              <a:latin typeface="Calibri"/>
              <a:ea typeface="Calibri"/>
              <a:cs typeface="Calibri"/>
              <a:sym typeface="Calibri"/>
            </a:endParaRPr>
          </a:p>
          <a:p>
            <a:pPr indent="-355600" lvl="0" marL="457200" marR="0" rtl="0" algn="l">
              <a:lnSpc>
                <a:spcPct val="100000"/>
              </a:lnSpc>
              <a:spcBef>
                <a:spcPts val="0"/>
              </a:spcBef>
              <a:spcAft>
                <a:spcPts val="0"/>
              </a:spcAft>
              <a:buClr>
                <a:srgbClr val="000000"/>
              </a:buClr>
              <a:buSzPts val="2000"/>
              <a:buFont typeface="Calibri"/>
              <a:buChar char="●"/>
            </a:pPr>
            <a:r>
              <a:rPr b="0" i="0" lang="en-US" sz="2000" u="none" cap="none" strike="noStrike">
                <a:solidFill>
                  <a:srgbClr val="000000"/>
                </a:solidFill>
                <a:latin typeface="Calibri"/>
                <a:ea typeface="Calibri"/>
                <a:cs typeface="Calibri"/>
                <a:sym typeface="Calibri"/>
              </a:rPr>
              <a:t>Ability of youth and guardians to assert symptoms, care needs, and care preferences</a:t>
            </a:r>
            <a:endParaRPr b="0" i="0" sz="2000" u="none" cap="none" strike="noStrike">
              <a:solidFill>
                <a:srgbClr val="000000"/>
              </a:solidFill>
              <a:latin typeface="Calibri"/>
              <a:ea typeface="Calibri"/>
              <a:cs typeface="Calibri"/>
              <a:sym typeface="Calibri"/>
            </a:endParaRPr>
          </a:p>
          <a:p>
            <a:pPr indent="-355600" lvl="0" marL="457200" marR="0" rtl="0" algn="l">
              <a:lnSpc>
                <a:spcPct val="100000"/>
              </a:lnSpc>
              <a:spcBef>
                <a:spcPts val="0"/>
              </a:spcBef>
              <a:spcAft>
                <a:spcPts val="0"/>
              </a:spcAft>
              <a:buClr>
                <a:srgbClr val="000000"/>
              </a:buClr>
              <a:buSzPts val="2000"/>
              <a:buFont typeface="Calibri"/>
              <a:buChar char="●"/>
            </a:pPr>
            <a:r>
              <a:rPr b="0" i="0" lang="en-US" sz="2000" u="none" cap="none" strike="noStrike">
                <a:solidFill>
                  <a:srgbClr val="000000"/>
                </a:solidFill>
                <a:latin typeface="Calibri"/>
                <a:ea typeface="Calibri"/>
                <a:cs typeface="Calibri"/>
                <a:sym typeface="Calibri"/>
              </a:rPr>
              <a:t>Ability of clinicians to respond to assertions</a:t>
            </a:r>
            <a:endParaRPr b="0" i="0" sz="2000" u="none" cap="none" strike="noStrike">
              <a:solidFill>
                <a:srgbClr val="000000"/>
              </a:solidFill>
              <a:latin typeface="Calibri"/>
              <a:ea typeface="Calibri"/>
              <a:cs typeface="Calibri"/>
              <a:sym typeface="Calibri"/>
            </a:endParaRPr>
          </a:p>
          <a:p>
            <a:pPr indent="-355600" lvl="0" marL="457200" marR="0" rtl="0" algn="l">
              <a:lnSpc>
                <a:spcPct val="100000"/>
              </a:lnSpc>
              <a:spcBef>
                <a:spcPts val="0"/>
              </a:spcBef>
              <a:spcAft>
                <a:spcPts val="0"/>
              </a:spcAft>
              <a:buClr>
                <a:srgbClr val="000000"/>
              </a:buClr>
              <a:buSzPts val="2000"/>
              <a:buFont typeface="Calibri"/>
              <a:buChar char="●"/>
            </a:pPr>
            <a:r>
              <a:rPr b="0" i="0" lang="en-US" sz="2000" u="none" cap="none" strike="noStrike">
                <a:solidFill>
                  <a:srgbClr val="000000"/>
                </a:solidFill>
                <a:latin typeface="Calibri"/>
                <a:ea typeface="Calibri"/>
                <a:cs typeface="Calibri"/>
                <a:sym typeface="Calibri"/>
              </a:rPr>
              <a:t>Participant perspectives on discharge decision</a:t>
            </a:r>
            <a:endParaRPr b="0" i="0" sz="2000" u="none" cap="none" strike="noStrike">
              <a:solidFill>
                <a:srgbClr val="000000"/>
              </a:solidFill>
              <a:latin typeface="Calibri"/>
              <a:ea typeface="Calibri"/>
              <a:cs typeface="Calibri"/>
              <a:sym typeface="Calibri"/>
            </a:endParaRPr>
          </a:p>
          <a:p>
            <a:pPr indent="-355600" lvl="0" marL="457200" marR="0" rtl="0" algn="l">
              <a:lnSpc>
                <a:spcPct val="100000"/>
              </a:lnSpc>
              <a:spcBef>
                <a:spcPts val="0"/>
              </a:spcBef>
              <a:spcAft>
                <a:spcPts val="0"/>
              </a:spcAft>
              <a:buClr>
                <a:srgbClr val="000000"/>
              </a:buClr>
              <a:buSzPts val="2000"/>
              <a:buFont typeface="Calibri"/>
              <a:buChar char="●"/>
            </a:pPr>
            <a:r>
              <a:rPr b="0" i="0" lang="en-US" sz="2000" u="none" cap="none" strike="noStrike">
                <a:solidFill>
                  <a:srgbClr val="000000"/>
                </a:solidFill>
                <a:latin typeface="Calibri"/>
                <a:ea typeface="Calibri"/>
                <a:cs typeface="Calibri"/>
                <a:sym typeface="Calibri"/>
              </a:rPr>
              <a:t>How discharge decisions influenced future care</a:t>
            </a:r>
            <a:endParaRPr b="0" i="0" sz="2000" u="none" cap="none" strike="noStrike">
              <a:solidFill>
                <a:srgbClr val="000000"/>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g17521ace8ca_0_46"/>
          <p:cNvSpPr txBox="1"/>
          <p:nvPr>
            <p:ph type="title"/>
          </p:nvPr>
        </p:nvSpPr>
        <p:spPr>
          <a:xfrm>
            <a:off x="838200" y="261607"/>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4000"/>
              <a:buNone/>
            </a:pPr>
            <a:r>
              <a:rPr lang="en-US"/>
              <a:t>SDM was fraught with problems of activation and power </a:t>
            </a:r>
            <a:endParaRPr/>
          </a:p>
        </p:txBody>
      </p:sp>
      <p:sp>
        <p:nvSpPr>
          <p:cNvPr id="247" name="Google Shape;247;g17521ace8ca_0_46"/>
          <p:cNvSpPr txBox="1"/>
          <p:nvPr>
            <p:ph idx="1" type="body"/>
          </p:nvPr>
        </p:nvSpPr>
        <p:spPr>
          <a:xfrm>
            <a:off x="838200" y="1929143"/>
            <a:ext cx="10515600" cy="4351200"/>
          </a:xfrm>
          <a:prstGeom prst="rect">
            <a:avLst/>
          </a:prstGeom>
          <a:noFill/>
          <a:ln>
            <a:noFill/>
          </a:ln>
        </p:spPr>
        <p:txBody>
          <a:bodyPr anchorCtr="0" anchor="t" bIns="45700" lIns="91425" spcFirstLastPara="1" rIns="91425" wrap="square" tIns="45700">
            <a:normAutofit fontScale="85000" lnSpcReduction="20000"/>
          </a:bodyPr>
          <a:lstStyle/>
          <a:p>
            <a:pPr indent="-457231" lvl="0" marL="457200" rtl="0" algn="l">
              <a:lnSpc>
                <a:spcPct val="115000"/>
              </a:lnSpc>
              <a:spcBef>
                <a:spcPts val="1000"/>
              </a:spcBef>
              <a:spcAft>
                <a:spcPts val="0"/>
              </a:spcAft>
              <a:buClr>
                <a:schemeClr val="accent2"/>
              </a:buClr>
              <a:buSzPct val="100000"/>
              <a:buFont typeface="Arial Narrow"/>
              <a:buChar char="•"/>
            </a:pPr>
            <a:r>
              <a:rPr lang="en-US" sz="4250">
                <a:solidFill>
                  <a:schemeClr val="accent2"/>
                </a:solidFill>
                <a:latin typeface="Arial Narrow"/>
                <a:ea typeface="Arial Narrow"/>
                <a:cs typeface="Arial Narrow"/>
                <a:sym typeface="Arial Narrow"/>
              </a:rPr>
              <a:t>Activation was </a:t>
            </a:r>
            <a:endParaRPr sz="4250">
              <a:solidFill>
                <a:schemeClr val="accent2"/>
              </a:solidFill>
              <a:latin typeface="Arial Narrow"/>
              <a:ea typeface="Arial Narrow"/>
              <a:cs typeface="Arial Narrow"/>
              <a:sym typeface="Arial Narrow"/>
            </a:endParaRPr>
          </a:p>
          <a:p>
            <a:pPr indent="-458024" lvl="1" marL="914400" rtl="0" algn="l">
              <a:lnSpc>
                <a:spcPct val="115000"/>
              </a:lnSpc>
              <a:spcBef>
                <a:spcPts val="0"/>
              </a:spcBef>
              <a:spcAft>
                <a:spcPts val="0"/>
              </a:spcAft>
              <a:buClr>
                <a:schemeClr val="dk1"/>
              </a:buClr>
              <a:buSzPct val="100000"/>
              <a:buFont typeface="Arial Narrow"/>
              <a:buChar char="•"/>
            </a:pPr>
            <a:r>
              <a:rPr lang="en-US" sz="4250">
                <a:solidFill>
                  <a:schemeClr val="dk1"/>
                </a:solidFill>
                <a:latin typeface="Arial Narrow"/>
                <a:ea typeface="Arial Narrow"/>
                <a:cs typeface="Arial Narrow"/>
                <a:sym typeface="Arial Narrow"/>
              </a:rPr>
              <a:t>YOC and Guardians knowledge, and skills , and confidence in clinical management </a:t>
            </a:r>
            <a:endParaRPr sz="4250">
              <a:solidFill>
                <a:schemeClr val="dk1"/>
              </a:solidFill>
              <a:latin typeface="Arial Narrow"/>
              <a:ea typeface="Arial Narrow"/>
              <a:cs typeface="Arial Narrow"/>
              <a:sym typeface="Arial Narrow"/>
            </a:endParaRPr>
          </a:p>
          <a:p>
            <a:pPr indent="-458024" lvl="1" marL="914400" rtl="0" algn="l">
              <a:lnSpc>
                <a:spcPct val="115000"/>
              </a:lnSpc>
              <a:spcBef>
                <a:spcPts val="0"/>
              </a:spcBef>
              <a:spcAft>
                <a:spcPts val="0"/>
              </a:spcAft>
              <a:buClr>
                <a:schemeClr val="dk1"/>
              </a:buClr>
              <a:buSzPct val="100000"/>
              <a:buFont typeface="Arial Narrow"/>
              <a:buChar char="•"/>
            </a:pPr>
            <a:r>
              <a:rPr lang="en-US" sz="4250">
                <a:solidFill>
                  <a:schemeClr val="dk1"/>
                </a:solidFill>
                <a:latin typeface="Arial Narrow"/>
                <a:ea typeface="Arial Narrow"/>
                <a:cs typeface="Arial Narrow"/>
                <a:sym typeface="Arial Narrow"/>
              </a:rPr>
              <a:t>Considered to be a requirement for successful SDM</a:t>
            </a:r>
            <a:endParaRPr sz="4250">
              <a:solidFill>
                <a:schemeClr val="dk1"/>
              </a:solidFill>
              <a:latin typeface="Arial Narrow"/>
              <a:ea typeface="Arial Narrow"/>
              <a:cs typeface="Arial Narrow"/>
              <a:sym typeface="Arial Narrow"/>
            </a:endParaRPr>
          </a:p>
          <a:p>
            <a:pPr indent="-457200" lvl="0" marL="457200" rtl="0" algn="l">
              <a:lnSpc>
                <a:spcPct val="115000"/>
              </a:lnSpc>
              <a:spcBef>
                <a:spcPts val="0"/>
              </a:spcBef>
              <a:spcAft>
                <a:spcPts val="0"/>
              </a:spcAft>
              <a:buClr>
                <a:schemeClr val="accent2"/>
              </a:buClr>
              <a:buSzPct val="100000"/>
              <a:buFont typeface="Arial Narrow"/>
              <a:buChar char="•"/>
            </a:pPr>
            <a:r>
              <a:rPr lang="en-US" sz="4700">
                <a:solidFill>
                  <a:schemeClr val="accent2"/>
                </a:solidFill>
                <a:latin typeface="Arial Narrow"/>
                <a:ea typeface="Arial Narrow"/>
                <a:cs typeface="Arial Narrow"/>
                <a:sym typeface="Arial Narrow"/>
              </a:rPr>
              <a:t>Power</a:t>
            </a:r>
            <a:endParaRPr sz="4700">
              <a:solidFill>
                <a:schemeClr val="accent2"/>
              </a:solidFill>
              <a:latin typeface="Arial Narrow"/>
              <a:ea typeface="Arial Narrow"/>
              <a:cs typeface="Arial Narrow"/>
              <a:sym typeface="Arial Narrow"/>
            </a:endParaRPr>
          </a:p>
          <a:p>
            <a:pPr indent="-482282" lvl="1" marL="914400" rtl="0" algn="l">
              <a:lnSpc>
                <a:spcPct val="115000"/>
              </a:lnSpc>
              <a:spcBef>
                <a:spcPts val="0"/>
              </a:spcBef>
              <a:spcAft>
                <a:spcPts val="0"/>
              </a:spcAft>
              <a:buSzPct val="100000"/>
              <a:buFont typeface="Arial Narrow"/>
              <a:buChar char="•"/>
            </a:pPr>
            <a:r>
              <a:rPr lang="en-US" sz="4700">
                <a:latin typeface="Arial Narrow"/>
                <a:ea typeface="Arial Narrow"/>
                <a:cs typeface="Arial Narrow"/>
                <a:sym typeface="Arial Narrow"/>
              </a:rPr>
              <a:t>Extent to which individual preferences influence decision </a:t>
            </a:r>
            <a:r>
              <a:rPr b="1" lang="en-US" sz="4700">
                <a:solidFill>
                  <a:schemeClr val="accent2"/>
                </a:solidFill>
                <a:latin typeface="Arial Narrow"/>
                <a:ea typeface="Arial Narrow"/>
                <a:cs typeface="Arial Narrow"/>
                <a:sym typeface="Arial Narrow"/>
              </a:rPr>
              <a:t> </a:t>
            </a:r>
            <a:endParaRPr b="1" sz="4700">
              <a:solidFill>
                <a:schemeClr val="accent2"/>
              </a:solidFill>
              <a:latin typeface="Arial Narrow"/>
              <a:ea typeface="Arial Narrow"/>
              <a:cs typeface="Arial Narrow"/>
              <a:sym typeface="Arial Narrow"/>
            </a:endParaRPr>
          </a:p>
          <a:p>
            <a:pPr indent="0" lvl="0" marL="0" rtl="0" algn="l">
              <a:lnSpc>
                <a:spcPct val="150000"/>
              </a:lnSpc>
              <a:spcBef>
                <a:spcPts val="1000"/>
              </a:spcBef>
              <a:spcAft>
                <a:spcPts val="0"/>
              </a:spcAft>
              <a:buSzPct val="117647"/>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g1798596ffde_2_42"/>
          <p:cNvSpPr txBox="1"/>
          <p:nvPr>
            <p:ph type="title"/>
          </p:nvPr>
        </p:nvSpPr>
        <p:spPr>
          <a:xfrm>
            <a:off x="838200" y="261607"/>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4000"/>
              <a:buNone/>
            </a:pPr>
            <a:r>
              <a:rPr lang="en-US" sz="3000"/>
              <a:t>Shared decision making in PES</a:t>
            </a:r>
            <a:endParaRPr sz="3000"/>
          </a:p>
        </p:txBody>
      </p:sp>
      <p:sp>
        <p:nvSpPr>
          <p:cNvPr id="254" name="Google Shape;254;g1798596ffde_2_42"/>
          <p:cNvSpPr txBox="1"/>
          <p:nvPr>
            <p:ph idx="1" type="body"/>
          </p:nvPr>
        </p:nvSpPr>
        <p:spPr>
          <a:xfrm>
            <a:off x="4069875" y="1929150"/>
            <a:ext cx="7284000" cy="4351200"/>
          </a:xfrm>
          <a:prstGeom prst="rect">
            <a:avLst/>
          </a:prstGeom>
          <a:noFill/>
          <a:ln cap="flat" cmpd="sng" w="9525">
            <a:solidFill>
              <a:schemeClr val="accent2"/>
            </a:solidFill>
            <a:prstDash val="solid"/>
            <a:round/>
            <a:headEnd len="sm" w="sm" type="none"/>
            <a:tailEnd len="sm" w="sm" type="none"/>
          </a:ln>
        </p:spPr>
        <p:txBody>
          <a:bodyPr anchorCtr="0" anchor="t" bIns="45700" lIns="91425" spcFirstLastPara="1" rIns="91425" wrap="square" tIns="45700">
            <a:noAutofit/>
          </a:bodyPr>
          <a:lstStyle/>
          <a:p>
            <a:pPr indent="-361950" lvl="0" marL="457200" rtl="0" algn="l">
              <a:lnSpc>
                <a:spcPct val="115000"/>
              </a:lnSpc>
              <a:spcBef>
                <a:spcPts val="1200"/>
              </a:spcBef>
              <a:spcAft>
                <a:spcPts val="0"/>
              </a:spcAft>
              <a:buClr>
                <a:srgbClr val="000000"/>
              </a:buClr>
              <a:buSzPts val="2100"/>
              <a:buFont typeface="Calibri"/>
              <a:buChar char="•"/>
            </a:pPr>
            <a:r>
              <a:rPr lang="en-US" sz="2100">
                <a:solidFill>
                  <a:srgbClr val="000000"/>
                </a:solidFill>
                <a:latin typeface="Calibri"/>
                <a:ea typeface="Calibri"/>
                <a:cs typeface="Calibri"/>
                <a:sym typeface="Calibri"/>
              </a:rPr>
              <a:t>SDM changes the traditional, clinician-led process of diagnosis and treatment into a </a:t>
            </a:r>
            <a:r>
              <a:rPr b="1" lang="en-US" sz="2100">
                <a:solidFill>
                  <a:srgbClr val="000000"/>
                </a:solidFill>
                <a:latin typeface="Calibri"/>
                <a:ea typeface="Calibri"/>
                <a:cs typeface="Calibri"/>
                <a:sym typeface="Calibri"/>
              </a:rPr>
              <a:t>power</a:t>
            </a:r>
            <a:r>
              <a:rPr lang="en-US" sz="2100">
                <a:solidFill>
                  <a:srgbClr val="000000"/>
                </a:solidFill>
                <a:latin typeface="Calibri"/>
                <a:ea typeface="Calibri"/>
                <a:cs typeface="Calibri"/>
                <a:sym typeface="Calibri"/>
              </a:rPr>
              <a:t> sharing collaboration </a:t>
            </a:r>
            <a:endParaRPr sz="2100">
              <a:solidFill>
                <a:srgbClr val="000000"/>
              </a:solidFill>
              <a:latin typeface="Calibri"/>
              <a:ea typeface="Calibri"/>
              <a:cs typeface="Calibri"/>
              <a:sym typeface="Calibri"/>
            </a:endParaRPr>
          </a:p>
          <a:p>
            <a:pPr indent="-361950" lvl="0" marL="457200" rtl="0" algn="l">
              <a:lnSpc>
                <a:spcPct val="115000"/>
              </a:lnSpc>
              <a:spcBef>
                <a:spcPts val="0"/>
              </a:spcBef>
              <a:spcAft>
                <a:spcPts val="0"/>
              </a:spcAft>
              <a:buClr>
                <a:srgbClr val="000000"/>
              </a:buClr>
              <a:buSzPts val="2100"/>
              <a:buFont typeface="Calibri"/>
              <a:buChar char="•"/>
            </a:pPr>
            <a:r>
              <a:rPr lang="en-US" sz="2100">
                <a:solidFill>
                  <a:srgbClr val="000000"/>
                </a:solidFill>
                <a:latin typeface="Calibri"/>
                <a:ea typeface="Calibri"/>
                <a:cs typeface="Calibri"/>
                <a:sym typeface="Calibri"/>
              </a:rPr>
              <a:t>For power sharing to be successful, patients or their guardians must </a:t>
            </a:r>
            <a:endParaRPr sz="2100">
              <a:solidFill>
                <a:srgbClr val="000000"/>
              </a:solidFill>
              <a:latin typeface="Calibri"/>
              <a:ea typeface="Calibri"/>
              <a:cs typeface="Calibri"/>
              <a:sym typeface="Calibri"/>
            </a:endParaRPr>
          </a:p>
          <a:p>
            <a:pPr indent="-361950" lvl="1" marL="914400" rtl="0" algn="l">
              <a:lnSpc>
                <a:spcPct val="115000"/>
              </a:lnSpc>
              <a:spcBef>
                <a:spcPts val="0"/>
              </a:spcBef>
              <a:spcAft>
                <a:spcPts val="0"/>
              </a:spcAft>
              <a:buClr>
                <a:srgbClr val="000000"/>
              </a:buClr>
              <a:buSzPts val="2100"/>
              <a:buFont typeface="Calibri"/>
              <a:buChar char="•"/>
            </a:pPr>
            <a:r>
              <a:rPr lang="en-US" sz="2100">
                <a:solidFill>
                  <a:srgbClr val="000000"/>
                </a:solidFill>
                <a:latin typeface="Calibri"/>
                <a:ea typeface="Calibri"/>
                <a:cs typeface="Calibri"/>
                <a:sym typeface="Calibri"/>
              </a:rPr>
              <a:t>be </a:t>
            </a:r>
            <a:r>
              <a:rPr b="1" lang="en-US" sz="2100">
                <a:solidFill>
                  <a:srgbClr val="000000"/>
                </a:solidFill>
                <a:latin typeface="Calibri"/>
                <a:ea typeface="Calibri"/>
                <a:cs typeface="Calibri"/>
                <a:sym typeface="Calibri"/>
              </a:rPr>
              <a:t>activated</a:t>
            </a:r>
            <a:r>
              <a:rPr lang="en-US" sz="2100">
                <a:solidFill>
                  <a:srgbClr val="000000"/>
                </a:solidFill>
                <a:latin typeface="Calibri"/>
                <a:ea typeface="Calibri"/>
                <a:cs typeface="Calibri"/>
                <a:sym typeface="Calibri"/>
              </a:rPr>
              <a:t>: have confidence in their knowledge about treatments and diagnoses and engage in the decision making process</a:t>
            </a:r>
            <a:endParaRPr sz="2100">
              <a:solidFill>
                <a:srgbClr val="000000"/>
              </a:solidFill>
              <a:latin typeface="Calibri"/>
              <a:ea typeface="Calibri"/>
              <a:cs typeface="Calibri"/>
              <a:sym typeface="Calibri"/>
            </a:endParaRPr>
          </a:p>
          <a:p>
            <a:pPr indent="-361950" lvl="1" marL="914400" rtl="0" algn="l">
              <a:lnSpc>
                <a:spcPct val="115000"/>
              </a:lnSpc>
              <a:spcBef>
                <a:spcPts val="0"/>
              </a:spcBef>
              <a:spcAft>
                <a:spcPts val="0"/>
              </a:spcAft>
              <a:buClr>
                <a:srgbClr val="000000"/>
              </a:buClr>
              <a:buSzPts val="2100"/>
              <a:buFont typeface="Calibri"/>
              <a:buChar char="•"/>
            </a:pPr>
            <a:r>
              <a:rPr lang="en-US" sz="2100">
                <a:solidFill>
                  <a:srgbClr val="000000"/>
                </a:solidFill>
                <a:latin typeface="Calibri"/>
                <a:ea typeface="Calibri"/>
                <a:cs typeface="Calibri"/>
                <a:sym typeface="Calibri"/>
              </a:rPr>
              <a:t>have </a:t>
            </a:r>
            <a:r>
              <a:rPr b="1" lang="en-US" sz="2100">
                <a:solidFill>
                  <a:srgbClr val="000000"/>
                </a:solidFill>
                <a:latin typeface="Calibri"/>
                <a:ea typeface="Calibri"/>
                <a:cs typeface="Calibri"/>
                <a:sym typeface="Calibri"/>
              </a:rPr>
              <a:t>power: </a:t>
            </a:r>
            <a:r>
              <a:rPr lang="en-US" sz="2100">
                <a:solidFill>
                  <a:srgbClr val="000000"/>
                </a:solidFill>
                <a:latin typeface="Calibri"/>
                <a:ea typeface="Calibri"/>
                <a:cs typeface="Calibri"/>
                <a:sym typeface="Calibri"/>
              </a:rPr>
              <a:t>influence over care decisions based on preference</a:t>
            </a:r>
            <a:endParaRPr sz="2100">
              <a:solidFill>
                <a:srgbClr val="000000"/>
              </a:solidFill>
              <a:latin typeface="Calibri"/>
              <a:ea typeface="Calibri"/>
              <a:cs typeface="Calibri"/>
              <a:sym typeface="Calibri"/>
            </a:endParaRPr>
          </a:p>
          <a:p>
            <a:pPr indent="-361950" lvl="0" marL="457200" rtl="0" algn="l">
              <a:lnSpc>
                <a:spcPct val="150000"/>
              </a:lnSpc>
              <a:spcBef>
                <a:spcPts val="0"/>
              </a:spcBef>
              <a:spcAft>
                <a:spcPts val="0"/>
              </a:spcAft>
              <a:buClr>
                <a:schemeClr val="accent2"/>
              </a:buClr>
              <a:buSzPts val="2100"/>
              <a:buFont typeface="Calibri"/>
              <a:buChar char="•"/>
            </a:pPr>
            <a:r>
              <a:rPr lang="en-US" sz="2100">
                <a:solidFill>
                  <a:schemeClr val="accent2"/>
                </a:solidFill>
                <a:latin typeface="Calibri"/>
                <a:ea typeface="Calibri"/>
                <a:cs typeface="Calibri"/>
                <a:sym typeface="Calibri"/>
              </a:rPr>
              <a:t>Very little research on SDM in emergency department settings</a:t>
            </a:r>
            <a:endParaRPr sz="2100">
              <a:latin typeface="Calibri"/>
              <a:ea typeface="Calibri"/>
              <a:cs typeface="Calibri"/>
              <a:sym typeface="Calibri"/>
            </a:endParaRPr>
          </a:p>
        </p:txBody>
      </p:sp>
      <p:sp>
        <p:nvSpPr>
          <p:cNvPr id="255" name="Google Shape;255;g1798596ffde_2_42"/>
          <p:cNvSpPr txBox="1"/>
          <p:nvPr/>
        </p:nvSpPr>
        <p:spPr>
          <a:xfrm>
            <a:off x="634250" y="1857450"/>
            <a:ext cx="3224100" cy="4494600"/>
          </a:xfrm>
          <a:prstGeom prst="rect">
            <a:avLst/>
          </a:prstGeom>
          <a:solidFill>
            <a:schemeClr val="lt2"/>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accent2"/>
                </a:solidFill>
                <a:latin typeface="Arial Narrow"/>
                <a:ea typeface="Arial Narrow"/>
                <a:cs typeface="Arial Narrow"/>
                <a:sym typeface="Arial Narrow"/>
              </a:rPr>
              <a:t>“The clinician brings their professional knowledge and clinical experience, whilst the patient brings a lived experience of their illness and what would fit with their lifestyle. Through joint communication, understanding and deliberation, both parties should arrive at an option for care and treatment which they deem acceptable.” (Hayes, 2021). </a:t>
            </a:r>
            <a:endParaRPr b="1" i="0" sz="2000" u="none" cap="none" strike="noStrike">
              <a:solidFill>
                <a:schemeClr val="accent2"/>
              </a:solidFill>
              <a:latin typeface="Arial Narrow"/>
              <a:ea typeface="Arial Narrow"/>
              <a:cs typeface="Arial Narrow"/>
              <a:sym typeface="Arial Narrow"/>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2020 BUSPH Rebrand">
      <a:dk1>
        <a:srgbClr val="141518"/>
      </a:dk1>
      <a:lt1>
        <a:srgbClr val="FFFFFF"/>
      </a:lt1>
      <a:dk2>
        <a:srgbClr val="3C3E40"/>
      </a:dk2>
      <a:lt2>
        <a:srgbClr val="EFEFEF"/>
      </a:lt2>
      <a:accent1>
        <a:srgbClr val="27104E"/>
      </a:accent1>
      <a:accent2>
        <a:srgbClr val="64379F"/>
      </a:accent2>
      <a:accent3>
        <a:srgbClr val="9854CB"/>
      </a:accent3>
      <a:accent4>
        <a:srgbClr val="DDACF5"/>
      </a:accent4>
      <a:accent5>
        <a:srgbClr val="75E8E7"/>
      </a:accent5>
      <a:accent6>
        <a:srgbClr val="D6D6D6"/>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2020-01-06T12:59:11Z</dcterms:created>
  <dc:creator>Shea, Elissa</dc:creator>
</cp:coreProperties>
</file>